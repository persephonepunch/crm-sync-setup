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8"/>
    <p:sldId id="269"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28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2004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4400"/>
            <a:ext cx="10515600" cy="320040"/>
          </a:xfrm>
          <a:prstGeom prst="rect">
            <a:avLst/>
          </a:prstGeom>
          <a:noFill/>
        </p:spPr>
        <p:txBody>
          <a:bodyPr wrap="square">
            <a:spAutoFit/>
          </a:bodyPr>
          <a:lstStyle/>
          <a:p>
            <a:pPr>
              <a:defRPr sz="4400" b="1">
                <a:solidFill>
                  <a:srgbClr val="FFFFFF"/>
                </a:solidFill>
              </a:defRPr>
            </a:pPr>
            <a:r>
              <a:rPr>
                <a:latin typeface="Arial"/>
              </a:rPr>
              <a:t>CRM Sync</a:t>
            </a:r>
          </a:p>
        </p:txBody>
      </p:sp>
      <p:sp>
        <p:nvSpPr>
          <p:cNvPr id="4" name="TextBox 3"/>
          <p:cNvSpPr txBox="1"/>
          <p:nvPr/>
        </p:nvSpPr>
        <p:spPr>
          <a:xfrm>
            <a:off x="731520" y="1828800"/>
            <a:ext cx="10515600" cy="320040"/>
          </a:xfrm>
          <a:prstGeom prst="rect">
            <a:avLst/>
          </a:prstGeom>
          <a:noFill/>
        </p:spPr>
        <p:txBody>
          <a:bodyPr wrap="square">
            <a:spAutoFit/>
          </a:bodyPr>
          <a:lstStyle/>
          <a:p>
            <a:pPr>
              <a:defRPr sz="2400" b="0">
                <a:solidFill>
                  <a:srgbClr val="FFFFFF"/>
                </a:solidFill>
              </a:defRPr>
            </a:pPr>
            <a:r>
              <a:rPr>
                <a:latin typeface="Arial"/>
              </a:rPr>
              <a:t>Authentication &amp; Security Pipelines</a:t>
            </a:r>
          </a:p>
        </p:txBody>
      </p:sp>
      <p:sp>
        <p:nvSpPr>
          <p:cNvPr id="5" name="TextBox 4"/>
          <p:cNvSpPr txBox="1"/>
          <p:nvPr/>
        </p:nvSpPr>
        <p:spPr>
          <a:xfrm>
            <a:off x="731520" y="3840480"/>
            <a:ext cx="10515600" cy="320040"/>
          </a:xfrm>
          <a:prstGeom prst="rect">
            <a:avLst/>
          </a:prstGeom>
          <a:noFill/>
        </p:spPr>
        <p:txBody>
          <a:bodyPr wrap="square">
            <a:spAutoFit/>
          </a:bodyPr>
          <a:lstStyle/>
          <a:p>
            <a:pPr>
              <a:defRPr sz="1600" b="0">
                <a:solidFill>
                  <a:srgbClr val="333333"/>
                </a:solidFill>
              </a:defRPr>
            </a:pPr>
            <a:r>
              <a:rPr>
                <a:latin typeface="Arial"/>
              </a:rPr>
              <a:t>How user identity, login, and data protection work across all connected services</a:t>
            </a:r>
          </a:p>
        </p:txBody>
      </p:sp>
      <p:sp>
        <p:nvSpPr>
          <p:cNvPr id="6" name="TextBox 5"/>
          <p:cNvSpPr txBox="1"/>
          <p:nvPr/>
        </p:nvSpPr>
        <p:spPr>
          <a:xfrm>
            <a:off x="731520" y="4389120"/>
            <a:ext cx="10515600" cy="320040"/>
          </a:xfrm>
          <a:prstGeom prst="rect">
            <a:avLst/>
          </a:prstGeom>
          <a:noFill/>
        </p:spPr>
        <p:txBody>
          <a:bodyPr wrap="square">
            <a:spAutoFit/>
          </a:bodyPr>
          <a:lstStyle/>
          <a:p>
            <a:pPr>
              <a:defRPr sz="1300" b="0">
                <a:solidFill>
                  <a:srgbClr val="666666"/>
                </a:solidFill>
              </a:defRPr>
            </a:pPr>
            <a:r>
              <a:rPr>
                <a:latin typeface="Arial"/>
              </a:rPr>
              <a:t>Audience: Business stakeholders, compliance officers, and operations teams</a:t>
            </a:r>
          </a:p>
        </p:txBody>
      </p:sp>
      <p:sp>
        <p:nvSpPr>
          <p:cNvPr id="7" name="TextBox 6"/>
          <p:cNvSpPr txBox="1"/>
          <p:nvPr/>
        </p:nvSpPr>
        <p:spPr>
          <a:xfrm>
            <a:off x="731520" y="4937760"/>
            <a:ext cx="10515600" cy="276999"/>
          </a:xfrm>
          <a:prstGeom prst="rect">
            <a:avLst/>
          </a:prstGeom>
          <a:noFill/>
        </p:spPr>
        <p:txBody>
          <a:bodyPr wrap="square">
            <a:spAutoFit/>
          </a:bodyPr>
          <a:lstStyle/>
          <a:p>
            <a:pPr>
              <a:defRPr sz="1200" b="0">
                <a:solidFill>
                  <a:srgbClr val="666666"/>
                </a:solidFill>
              </a:defRPr>
            </a:pPr>
            <a:r>
              <a:rPr dirty="0">
                <a:latin typeface="Arial"/>
              </a:rPr>
              <a:t>Date: May 19, 2026   |   Classification: </a:t>
            </a:r>
            <a:r>
              <a:rPr lang="en-US" dirty="0">
                <a:latin typeface="Arial"/>
              </a:rPr>
              <a:t>Reference</a:t>
            </a:r>
            <a:endParaRPr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How Authentication Works</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defRPr>
            </a:pPr>
            <a:r>
              <a:rPr>
                <a:latin typeface="Arial"/>
              </a:rPr>
              <a:t>Users can sign in four different ways. All four methods end up in the same place — your customer database — and automatically update all connected services in real time.</a:t>
            </a:r>
          </a:p>
        </p:txBody>
      </p:sp>
      <p:sp>
        <p:nvSpPr>
          <p:cNvPr id="5" name="Rectangle 4"/>
          <p:cNvSpPr/>
          <p:nvPr/>
        </p:nvSpPr>
        <p:spPr>
          <a:xfrm>
            <a:off x="548640" y="1828800"/>
            <a:ext cx="457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01952"/>
            <a:ext cx="274320" cy="320040"/>
          </a:xfrm>
          <a:prstGeom prst="rect">
            <a:avLst/>
          </a:prstGeom>
          <a:noFill/>
        </p:spPr>
        <p:txBody>
          <a:bodyPr wrap="square">
            <a:spAutoFit/>
          </a:bodyPr>
          <a:lstStyle/>
          <a:p>
            <a:pPr>
              <a:defRPr sz="1100" b="1">
                <a:solidFill>
                  <a:srgbClr val="FFFFFF"/>
                </a:solidFill>
              </a:defRPr>
            </a:pPr>
            <a:r>
              <a:rPr>
                <a:latin typeface="Arial"/>
              </a:rPr>
              <a:t>#</a:t>
            </a:r>
          </a:p>
        </p:txBody>
      </p:sp>
      <p:sp>
        <p:nvSpPr>
          <p:cNvPr id="7" name="Rectangle 6"/>
          <p:cNvSpPr/>
          <p:nvPr/>
        </p:nvSpPr>
        <p:spPr>
          <a:xfrm>
            <a:off x="1005840" y="1828800"/>
            <a:ext cx="201168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901952"/>
            <a:ext cx="1828800" cy="320040"/>
          </a:xfrm>
          <a:prstGeom prst="rect">
            <a:avLst/>
          </a:prstGeom>
          <a:noFill/>
        </p:spPr>
        <p:txBody>
          <a:bodyPr wrap="square">
            <a:spAutoFit/>
          </a:bodyPr>
          <a:lstStyle/>
          <a:p>
            <a:pPr>
              <a:defRPr sz="1100" b="1">
                <a:solidFill>
                  <a:srgbClr val="FFFFFF"/>
                </a:solidFill>
              </a:defRPr>
            </a:pPr>
            <a:r>
              <a:rPr>
                <a:latin typeface="Arial"/>
              </a:rPr>
              <a:t>Sign-In Method</a:t>
            </a:r>
          </a:p>
        </p:txBody>
      </p:sp>
      <p:sp>
        <p:nvSpPr>
          <p:cNvPr id="9" name="Rectangle 8"/>
          <p:cNvSpPr/>
          <p:nvPr/>
        </p:nvSpPr>
        <p:spPr>
          <a:xfrm>
            <a:off x="3017520" y="1828800"/>
            <a:ext cx="36576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08960" y="1901952"/>
            <a:ext cx="3474720" cy="320040"/>
          </a:xfrm>
          <a:prstGeom prst="rect">
            <a:avLst/>
          </a:prstGeom>
          <a:noFill/>
        </p:spPr>
        <p:txBody>
          <a:bodyPr wrap="square">
            <a:spAutoFit/>
          </a:bodyPr>
          <a:lstStyle/>
          <a:p>
            <a:pPr>
              <a:defRPr sz="1100" b="1">
                <a:solidFill>
                  <a:srgbClr val="FFFFFF"/>
                </a:solidFill>
              </a:defRPr>
            </a:pPr>
            <a:r>
              <a:rPr>
                <a:latin typeface="Arial"/>
              </a:rPr>
              <a:t>What Happens</a:t>
            </a:r>
          </a:p>
        </p:txBody>
      </p:sp>
      <p:sp>
        <p:nvSpPr>
          <p:cNvPr id="11" name="Rectangle 10"/>
          <p:cNvSpPr/>
          <p:nvPr/>
        </p:nvSpPr>
        <p:spPr>
          <a:xfrm>
            <a:off x="6675120" y="1828800"/>
            <a:ext cx="2286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0" y="1901952"/>
            <a:ext cx="2103120" cy="320040"/>
          </a:xfrm>
          <a:prstGeom prst="rect">
            <a:avLst/>
          </a:prstGeom>
          <a:noFill/>
        </p:spPr>
        <p:txBody>
          <a:bodyPr wrap="square">
            <a:spAutoFit/>
          </a:bodyPr>
          <a:lstStyle/>
          <a:p>
            <a:pPr>
              <a:defRPr sz="1100" b="1">
                <a:solidFill>
                  <a:srgbClr val="FFFFFF"/>
                </a:solidFill>
              </a:defRPr>
            </a:pPr>
            <a:r>
              <a:rPr>
                <a:latin typeface="Arial"/>
              </a:rPr>
              <a:t>Who Uses It</a:t>
            </a:r>
          </a:p>
        </p:txBody>
      </p:sp>
      <p:sp>
        <p:nvSpPr>
          <p:cNvPr id="13" name="Rectangle 12"/>
          <p:cNvSpPr/>
          <p:nvPr/>
        </p:nvSpPr>
        <p:spPr>
          <a:xfrm>
            <a:off x="8961120" y="1828800"/>
            <a:ext cx="2743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52560" y="1901952"/>
            <a:ext cx="2560320" cy="320040"/>
          </a:xfrm>
          <a:prstGeom prst="rect">
            <a:avLst/>
          </a:prstGeom>
          <a:noFill/>
        </p:spPr>
        <p:txBody>
          <a:bodyPr wrap="square">
            <a:spAutoFit/>
          </a:bodyPr>
          <a:lstStyle/>
          <a:p>
            <a:pPr>
              <a:defRPr sz="1100" b="1">
                <a:solidFill>
                  <a:srgbClr val="FFFFFF"/>
                </a:solidFill>
              </a:defRPr>
            </a:pPr>
            <a:r>
              <a:rPr>
                <a:latin typeface="Arial"/>
              </a:rPr>
              <a:t>Security Protection</a:t>
            </a:r>
          </a:p>
        </p:txBody>
      </p:sp>
      <p:sp>
        <p:nvSpPr>
          <p:cNvPr id="15" name="Rectangle 14"/>
          <p:cNvSpPr/>
          <p:nvPr/>
        </p:nvSpPr>
        <p:spPr>
          <a:xfrm>
            <a:off x="548640" y="2286000"/>
            <a:ext cx="4572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331720"/>
            <a:ext cx="274320" cy="914400"/>
          </a:xfrm>
          <a:prstGeom prst="rect">
            <a:avLst/>
          </a:prstGeom>
          <a:noFill/>
        </p:spPr>
        <p:txBody>
          <a:bodyPr wrap="square">
            <a:spAutoFit/>
          </a:bodyPr>
          <a:lstStyle/>
          <a:p>
            <a:pPr>
              <a:defRPr sz="1000">
                <a:solidFill>
                  <a:srgbClr val="333333"/>
                </a:solidFill>
              </a:defRPr>
            </a:pPr>
            <a:r>
              <a:rPr>
                <a:latin typeface="Arial"/>
              </a:rPr>
              <a:t>1</a:t>
            </a:r>
          </a:p>
        </p:txBody>
      </p:sp>
      <p:sp>
        <p:nvSpPr>
          <p:cNvPr id="17" name="Rectangle 16"/>
          <p:cNvSpPr/>
          <p:nvPr/>
        </p:nvSpPr>
        <p:spPr>
          <a:xfrm>
            <a:off x="1005840" y="2286000"/>
            <a:ext cx="201168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2331720"/>
            <a:ext cx="1828800" cy="914400"/>
          </a:xfrm>
          <a:prstGeom prst="rect">
            <a:avLst/>
          </a:prstGeom>
          <a:noFill/>
        </p:spPr>
        <p:txBody>
          <a:bodyPr wrap="square">
            <a:spAutoFit/>
          </a:bodyPr>
          <a:lstStyle/>
          <a:p>
            <a:pPr>
              <a:defRPr sz="1000">
                <a:solidFill>
                  <a:srgbClr val="333333"/>
                </a:solidFill>
              </a:defRPr>
            </a:pPr>
            <a:r>
              <a:rPr>
                <a:latin typeface="Arial"/>
              </a:rPr>
              <a:t>Email &amp; Password</a:t>
            </a:r>
          </a:p>
        </p:txBody>
      </p:sp>
      <p:sp>
        <p:nvSpPr>
          <p:cNvPr id="19" name="Rectangle 18"/>
          <p:cNvSpPr/>
          <p:nvPr/>
        </p:nvSpPr>
        <p:spPr>
          <a:xfrm>
            <a:off x="3017520" y="2286000"/>
            <a:ext cx="36576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108960" y="2331720"/>
            <a:ext cx="3474720" cy="914400"/>
          </a:xfrm>
          <a:prstGeom prst="rect">
            <a:avLst/>
          </a:prstGeom>
          <a:noFill/>
        </p:spPr>
        <p:txBody>
          <a:bodyPr wrap="square">
            <a:spAutoFit/>
          </a:bodyPr>
          <a:lstStyle/>
          <a:p>
            <a:pPr>
              <a:defRPr sz="1000">
                <a:solidFill>
                  <a:srgbClr val="333333"/>
                </a:solidFill>
              </a:defRPr>
            </a:pPr>
            <a:r>
              <a:rPr>
                <a:latin typeface="Arial"/>
              </a:rPr>
              <a:t>User creates an account with email and password. Password is encrypted and stored in the database. A session token is issued.</a:t>
            </a:r>
          </a:p>
        </p:txBody>
      </p:sp>
      <p:sp>
        <p:nvSpPr>
          <p:cNvPr id="21" name="Rectangle 20"/>
          <p:cNvSpPr/>
          <p:nvPr/>
        </p:nvSpPr>
        <p:spPr>
          <a:xfrm>
            <a:off x="6675120" y="2286000"/>
            <a:ext cx="22860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60" y="2331720"/>
            <a:ext cx="2103120" cy="914400"/>
          </a:xfrm>
          <a:prstGeom prst="rect">
            <a:avLst/>
          </a:prstGeom>
          <a:noFill/>
        </p:spPr>
        <p:txBody>
          <a:bodyPr wrap="square">
            <a:spAutoFit/>
          </a:bodyPr>
          <a:lstStyle/>
          <a:p>
            <a:pPr>
              <a:defRPr sz="1000">
                <a:solidFill>
                  <a:srgbClr val="333333"/>
                </a:solidFill>
              </a:defRPr>
            </a:pPr>
            <a:r>
              <a:rPr>
                <a:latin typeface="Arial"/>
              </a:rPr>
              <a:t>New customers signing up on your website</a:t>
            </a:r>
          </a:p>
        </p:txBody>
      </p:sp>
      <p:sp>
        <p:nvSpPr>
          <p:cNvPr id="23" name="Rectangle 22"/>
          <p:cNvSpPr/>
          <p:nvPr/>
        </p:nvSpPr>
        <p:spPr>
          <a:xfrm>
            <a:off x="8961120" y="2286000"/>
            <a:ext cx="27432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52560" y="2331720"/>
            <a:ext cx="2560320" cy="914400"/>
          </a:xfrm>
          <a:prstGeom prst="rect">
            <a:avLst/>
          </a:prstGeom>
          <a:noFill/>
        </p:spPr>
        <p:txBody>
          <a:bodyPr wrap="square">
            <a:spAutoFit/>
          </a:bodyPr>
          <a:lstStyle/>
          <a:p>
            <a:pPr>
              <a:defRPr sz="1000">
                <a:solidFill>
                  <a:srgbClr val="333333"/>
                </a:solidFill>
              </a:defRPr>
            </a:pPr>
            <a:r>
              <a:rPr>
                <a:latin typeface="Arial"/>
              </a:rPr>
              <a:t>Password encrypted with 100,000 rounds of PBKDF2. Never stored in plain text.</a:t>
            </a:r>
          </a:p>
        </p:txBody>
      </p:sp>
      <p:sp>
        <p:nvSpPr>
          <p:cNvPr id="25" name="Rectangle 24"/>
          <p:cNvSpPr/>
          <p:nvPr/>
        </p:nvSpPr>
        <p:spPr>
          <a:xfrm>
            <a:off x="548640" y="3291840"/>
            <a:ext cx="4572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337560"/>
            <a:ext cx="274320" cy="914400"/>
          </a:xfrm>
          <a:prstGeom prst="rect">
            <a:avLst/>
          </a:prstGeom>
          <a:noFill/>
        </p:spPr>
        <p:txBody>
          <a:bodyPr wrap="square">
            <a:spAutoFit/>
          </a:bodyPr>
          <a:lstStyle/>
          <a:p>
            <a:pPr>
              <a:defRPr sz="1000">
                <a:solidFill>
                  <a:srgbClr val="333333"/>
                </a:solidFill>
              </a:defRPr>
            </a:pPr>
            <a:r>
              <a:rPr>
                <a:latin typeface="Arial"/>
              </a:rPr>
              <a:t>2</a:t>
            </a:r>
          </a:p>
        </p:txBody>
      </p:sp>
      <p:sp>
        <p:nvSpPr>
          <p:cNvPr id="27" name="Rectangle 26"/>
          <p:cNvSpPr/>
          <p:nvPr/>
        </p:nvSpPr>
        <p:spPr>
          <a:xfrm>
            <a:off x="1005840" y="3291840"/>
            <a:ext cx="201168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97280" y="3337560"/>
            <a:ext cx="1828800" cy="914400"/>
          </a:xfrm>
          <a:prstGeom prst="rect">
            <a:avLst/>
          </a:prstGeom>
          <a:noFill/>
        </p:spPr>
        <p:txBody>
          <a:bodyPr wrap="square">
            <a:spAutoFit/>
          </a:bodyPr>
          <a:lstStyle/>
          <a:p>
            <a:pPr>
              <a:defRPr sz="1000">
                <a:solidFill>
                  <a:srgbClr val="333333"/>
                </a:solidFill>
              </a:defRPr>
            </a:pPr>
            <a:r>
              <a:rPr>
                <a:latin typeface="Arial"/>
              </a:rPr>
              <a:t>Sign in with Google</a:t>
            </a:r>
          </a:p>
        </p:txBody>
      </p:sp>
      <p:sp>
        <p:nvSpPr>
          <p:cNvPr id="29" name="Rectangle 28"/>
          <p:cNvSpPr/>
          <p:nvPr/>
        </p:nvSpPr>
        <p:spPr>
          <a:xfrm>
            <a:off x="3017520" y="3291840"/>
            <a:ext cx="36576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108960" y="3337560"/>
            <a:ext cx="3474720" cy="914400"/>
          </a:xfrm>
          <a:prstGeom prst="rect">
            <a:avLst/>
          </a:prstGeom>
          <a:noFill/>
        </p:spPr>
        <p:txBody>
          <a:bodyPr wrap="square">
            <a:spAutoFit/>
          </a:bodyPr>
          <a:lstStyle/>
          <a:p>
            <a:pPr>
              <a:defRPr sz="1000">
                <a:solidFill>
                  <a:srgbClr val="333333"/>
                </a:solidFill>
              </a:defRPr>
            </a:pPr>
            <a:r>
              <a:rPr>
                <a:latin typeface="Arial"/>
              </a:rPr>
              <a:t>User clicks 'Sign in with Google' and is redirected to Google. Google verifies their identity and sends back a signed ID card. No Google password touches your system.</a:t>
            </a:r>
          </a:p>
        </p:txBody>
      </p:sp>
      <p:sp>
        <p:nvSpPr>
          <p:cNvPr id="31" name="Rectangle 30"/>
          <p:cNvSpPr/>
          <p:nvPr/>
        </p:nvSpPr>
        <p:spPr>
          <a:xfrm>
            <a:off x="6675120" y="3291840"/>
            <a:ext cx="22860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66560" y="3337560"/>
            <a:ext cx="2103120" cy="914400"/>
          </a:xfrm>
          <a:prstGeom prst="rect">
            <a:avLst/>
          </a:prstGeom>
          <a:noFill/>
        </p:spPr>
        <p:txBody>
          <a:bodyPr wrap="square">
            <a:spAutoFit/>
          </a:bodyPr>
          <a:lstStyle/>
          <a:p>
            <a:pPr>
              <a:defRPr sz="1000">
                <a:solidFill>
                  <a:srgbClr val="333333"/>
                </a:solidFill>
              </a:defRPr>
            </a:pPr>
            <a:r>
              <a:rPr>
                <a:latin typeface="Arial"/>
              </a:rPr>
              <a:t>Customers who prefer using their Google account</a:t>
            </a:r>
          </a:p>
        </p:txBody>
      </p:sp>
      <p:sp>
        <p:nvSpPr>
          <p:cNvPr id="33" name="Rectangle 32"/>
          <p:cNvSpPr/>
          <p:nvPr/>
        </p:nvSpPr>
        <p:spPr>
          <a:xfrm>
            <a:off x="8961120" y="3291840"/>
            <a:ext cx="27432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52560" y="3337560"/>
            <a:ext cx="2560320" cy="914400"/>
          </a:xfrm>
          <a:prstGeom prst="rect">
            <a:avLst/>
          </a:prstGeom>
          <a:noFill/>
        </p:spPr>
        <p:txBody>
          <a:bodyPr wrap="square">
            <a:spAutoFit/>
          </a:bodyPr>
          <a:lstStyle/>
          <a:p>
            <a:pPr>
              <a:defRPr sz="1000">
                <a:solidFill>
                  <a:srgbClr val="333333"/>
                </a:solidFill>
              </a:defRPr>
            </a:pPr>
            <a:r>
              <a:rPr>
                <a:latin typeface="Arial"/>
              </a:rPr>
              <a:t>Google handles password verification. Anti-forgery token prevents hijacking.</a:t>
            </a:r>
          </a:p>
        </p:txBody>
      </p:sp>
      <p:sp>
        <p:nvSpPr>
          <p:cNvPr id="35" name="Rectangle 34"/>
          <p:cNvSpPr/>
          <p:nvPr/>
        </p:nvSpPr>
        <p:spPr>
          <a:xfrm>
            <a:off x="548640" y="4297680"/>
            <a:ext cx="4572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343400"/>
            <a:ext cx="274320" cy="914400"/>
          </a:xfrm>
          <a:prstGeom prst="rect">
            <a:avLst/>
          </a:prstGeom>
          <a:noFill/>
        </p:spPr>
        <p:txBody>
          <a:bodyPr wrap="square">
            <a:spAutoFit/>
          </a:bodyPr>
          <a:lstStyle/>
          <a:p>
            <a:pPr>
              <a:defRPr sz="1000">
                <a:solidFill>
                  <a:srgbClr val="333333"/>
                </a:solidFill>
              </a:defRPr>
            </a:pPr>
            <a:r>
              <a:rPr>
                <a:latin typeface="Arial"/>
              </a:rPr>
              <a:t>3</a:t>
            </a:r>
          </a:p>
        </p:txBody>
      </p:sp>
      <p:sp>
        <p:nvSpPr>
          <p:cNvPr id="37" name="Rectangle 36"/>
          <p:cNvSpPr/>
          <p:nvPr/>
        </p:nvSpPr>
        <p:spPr>
          <a:xfrm>
            <a:off x="1005840" y="4297680"/>
            <a:ext cx="201168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97280" y="4343400"/>
            <a:ext cx="1828800" cy="914400"/>
          </a:xfrm>
          <a:prstGeom prst="rect">
            <a:avLst/>
          </a:prstGeom>
          <a:noFill/>
        </p:spPr>
        <p:txBody>
          <a:bodyPr wrap="square">
            <a:spAutoFit/>
          </a:bodyPr>
          <a:lstStyle/>
          <a:p>
            <a:pPr>
              <a:defRPr sz="1000">
                <a:solidFill>
                  <a:srgbClr val="333333"/>
                </a:solidFill>
              </a:defRPr>
            </a:pPr>
            <a:r>
              <a:rPr>
                <a:latin typeface="Arial"/>
              </a:rPr>
              <a:t>Sign in with Shopify</a:t>
            </a:r>
          </a:p>
        </p:txBody>
      </p:sp>
      <p:sp>
        <p:nvSpPr>
          <p:cNvPr id="39" name="Rectangle 38"/>
          <p:cNvSpPr/>
          <p:nvPr/>
        </p:nvSpPr>
        <p:spPr>
          <a:xfrm>
            <a:off x="3017520" y="4297680"/>
            <a:ext cx="36576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108960" y="4343400"/>
            <a:ext cx="3474720" cy="914400"/>
          </a:xfrm>
          <a:prstGeom prst="rect">
            <a:avLst/>
          </a:prstGeom>
          <a:noFill/>
        </p:spPr>
        <p:txBody>
          <a:bodyPr wrap="square">
            <a:spAutoFit/>
          </a:bodyPr>
          <a:lstStyle/>
          <a:p>
            <a:pPr>
              <a:defRPr sz="1000">
                <a:solidFill>
                  <a:srgbClr val="333333"/>
                </a:solidFill>
              </a:defRPr>
            </a:pPr>
            <a:r>
              <a:rPr>
                <a:latin typeface="Arial"/>
              </a:rPr>
              <a:t>User clicks 'Sign in with Shopify' and is redirected to Shopify. Shopify verifies their identity using a fresh one-time secret (PKCE) for extra security.</a:t>
            </a:r>
          </a:p>
        </p:txBody>
      </p:sp>
      <p:sp>
        <p:nvSpPr>
          <p:cNvPr id="41" name="Rectangle 40"/>
          <p:cNvSpPr/>
          <p:nvPr/>
        </p:nvSpPr>
        <p:spPr>
          <a:xfrm>
            <a:off x="6675120" y="4297680"/>
            <a:ext cx="22860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66560" y="4343400"/>
            <a:ext cx="2103120" cy="914400"/>
          </a:xfrm>
          <a:prstGeom prst="rect">
            <a:avLst/>
          </a:prstGeom>
          <a:noFill/>
        </p:spPr>
        <p:txBody>
          <a:bodyPr wrap="square">
            <a:spAutoFit/>
          </a:bodyPr>
          <a:lstStyle/>
          <a:p>
            <a:pPr>
              <a:defRPr sz="1000">
                <a:solidFill>
                  <a:srgbClr val="333333"/>
                </a:solidFill>
              </a:defRPr>
            </a:pPr>
            <a:r>
              <a:rPr>
                <a:latin typeface="Arial"/>
              </a:rPr>
              <a:t>Customers who already have a Shopify account</a:t>
            </a:r>
          </a:p>
        </p:txBody>
      </p:sp>
      <p:sp>
        <p:nvSpPr>
          <p:cNvPr id="43" name="Rectangle 42"/>
          <p:cNvSpPr/>
          <p:nvPr/>
        </p:nvSpPr>
        <p:spPr>
          <a:xfrm>
            <a:off x="8961120" y="4297680"/>
            <a:ext cx="27432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052560" y="4343400"/>
            <a:ext cx="2560320" cy="914400"/>
          </a:xfrm>
          <a:prstGeom prst="rect">
            <a:avLst/>
          </a:prstGeom>
          <a:noFill/>
        </p:spPr>
        <p:txBody>
          <a:bodyPr wrap="square">
            <a:spAutoFit/>
          </a:bodyPr>
          <a:lstStyle/>
          <a:p>
            <a:pPr>
              <a:defRPr sz="1000">
                <a:solidFill>
                  <a:srgbClr val="333333"/>
                </a:solidFill>
              </a:defRPr>
            </a:pPr>
            <a:r>
              <a:rPr>
                <a:latin typeface="Arial"/>
              </a:rPr>
              <a:t>PKCE creates a unique secret per login that's never sent over the network.</a:t>
            </a:r>
          </a:p>
        </p:txBody>
      </p:sp>
      <p:sp>
        <p:nvSpPr>
          <p:cNvPr id="45" name="Rectangle 44"/>
          <p:cNvSpPr/>
          <p:nvPr/>
        </p:nvSpPr>
        <p:spPr>
          <a:xfrm>
            <a:off x="548640" y="5303520"/>
            <a:ext cx="4572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5349240"/>
            <a:ext cx="274320" cy="914400"/>
          </a:xfrm>
          <a:prstGeom prst="rect">
            <a:avLst/>
          </a:prstGeom>
          <a:noFill/>
        </p:spPr>
        <p:txBody>
          <a:bodyPr wrap="square">
            <a:spAutoFit/>
          </a:bodyPr>
          <a:lstStyle/>
          <a:p>
            <a:pPr>
              <a:defRPr sz="1000">
                <a:solidFill>
                  <a:srgbClr val="333333"/>
                </a:solidFill>
              </a:defRPr>
            </a:pPr>
            <a:r>
              <a:rPr>
                <a:latin typeface="Arial"/>
              </a:rPr>
              <a:t>4</a:t>
            </a:r>
          </a:p>
        </p:txBody>
      </p:sp>
      <p:sp>
        <p:nvSpPr>
          <p:cNvPr id="47" name="Rectangle 46"/>
          <p:cNvSpPr/>
          <p:nvPr/>
        </p:nvSpPr>
        <p:spPr>
          <a:xfrm>
            <a:off x="1005840" y="5303520"/>
            <a:ext cx="201168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97280" y="5349240"/>
            <a:ext cx="1828800" cy="914400"/>
          </a:xfrm>
          <a:prstGeom prst="rect">
            <a:avLst/>
          </a:prstGeom>
          <a:noFill/>
        </p:spPr>
        <p:txBody>
          <a:bodyPr wrap="square">
            <a:spAutoFit/>
          </a:bodyPr>
          <a:lstStyle/>
          <a:p>
            <a:pPr>
              <a:defRPr sz="1000">
                <a:solidFill>
                  <a:srgbClr val="333333"/>
                </a:solidFill>
              </a:defRPr>
            </a:pPr>
            <a:r>
              <a:rPr>
                <a:latin typeface="Arial"/>
              </a:rPr>
              <a:t>Admin API Access</a:t>
            </a:r>
          </a:p>
        </p:txBody>
      </p:sp>
      <p:sp>
        <p:nvSpPr>
          <p:cNvPr id="49" name="Rectangle 48"/>
          <p:cNvSpPr/>
          <p:nvPr/>
        </p:nvSpPr>
        <p:spPr>
          <a:xfrm>
            <a:off x="3017520" y="5303520"/>
            <a:ext cx="36576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108960" y="5349240"/>
            <a:ext cx="3474720" cy="914400"/>
          </a:xfrm>
          <a:prstGeom prst="rect">
            <a:avLst/>
          </a:prstGeom>
          <a:noFill/>
        </p:spPr>
        <p:txBody>
          <a:bodyPr wrap="square">
            <a:spAutoFit/>
          </a:bodyPr>
          <a:lstStyle/>
          <a:p>
            <a:pPr>
              <a:defRPr sz="1000">
                <a:solidFill>
                  <a:srgbClr val="333333"/>
                </a:solidFill>
              </a:defRPr>
            </a:pPr>
            <a:r>
              <a:rPr>
                <a:latin typeface="Arial"/>
              </a:rPr>
              <a:t>System-to-system calls using a secret key in the request header. Used for configuration, syncing, and management — not for customer logins.</a:t>
            </a:r>
          </a:p>
        </p:txBody>
      </p:sp>
      <p:sp>
        <p:nvSpPr>
          <p:cNvPr id="51" name="Rectangle 50"/>
          <p:cNvSpPr/>
          <p:nvPr/>
        </p:nvSpPr>
        <p:spPr>
          <a:xfrm>
            <a:off x="6675120" y="5303520"/>
            <a:ext cx="22860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766560" y="5349240"/>
            <a:ext cx="2103120" cy="914400"/>
          </a:xfrm>
          <a:prstGeom prst="rect">
            <a:avLst/>
          </a:prstGeom>
          <a:noFill/>
        </p:spPr>
        <p:txBody>
          <a:bodyPr wrap="square">
            <a:spAutoFit/>
          </a:bodyPr>
          <a:lstStyle/>
          <a:p>
            <a:pPr>
              <a:defRPr sz="1000">
                <a:solidFill>
                  <a:srgbClr val="333333"/>
                </a:solidFill>
              </a:defRPr>
            </a:pPr>
            <a:r>
              <a:rPr>
                <a:latin typeface="Arial"/>
              </a:rPr>
              <a:t>Your team, the Webflow extension, automated sync jobs</a:t>
            </a:r>
          </a:p>
        </p:txBody>
      </p:sp>
      <p:sp>
        <p:nvSpPr>
          <p:cNvPr id="53" name="Rectangle 52"/>
          <p:cNvSpPr/>
          <p:nvPr/>
        </p:nvSpPr>
        <p:spPr>
          <a:xfrm>
            <a:off x="8961120" y="5303520"/>
            <a:ext cx="27432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052560" y="5349240"/>
            <a:ext cx="2560320" cy="914400"/>
          </a:xfrm>
          <a:prstGeom prst="rect">
            <a:avLst/>
          </a:prstGeom>
          <a:noFill/>
        </p:spPr>
        <p:txBody>
          <a:bodyPr wrap="square">
            <a:spAutoFit/>
          </a:bodyPr>
          <a:lstStyle/>
          <a:p>
            <a:pPr>
              <a:defRPr sz="1000">
                <a:solidFill>
                  <a:srgbClr val="333333"/>
                </a:solidFill>
              </a:defRPr>
            </a:pPr>
            <a:r>
              <a:rPr>
                <a:latin typeface="Arial"/>
              </a:rPr>
              <a:t>Per-store admin keys checked first, platform key as fallback. No session cookies.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What Happens After Login</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defRPr>
            </a:pPr>
            <a:r>
              <a:rPr>
                <a:latin typeface="Arial"/>
              </a:rPr>
              <a:t>Every time a user signs in or signs up — by any method — the system immediately updates all connected services. There is no delay or batch processing.</a:t>
            </a:r>
          </a:p>
        </p:txBody>
      </p:sp>
      <p:sp>
        <p:nvSpPr>
          <p:cNvPr id="5" name="Rectangle 4"/>
          <p:cNvSpPr/>
          <p:nvPr/>
        </p:nvSpPr>
        <p:spPr>
          <a:xfrm>
            <a:off x="548640" y="1828800"/>
            <a:ext cx="54864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01952"/>
            <a:ext cx="365759" cy="320040"/>
          </a:xfrm>
          <a:prstGeom prst="rect">
            <a:avLst/>
          </a:prstGeom>
          <a:noFill/>
        </p:spPr>
        <p:txBody>
          <a:bodyPr wrap="square">
            <a:spAutoFit/>
          </a:bodyPr>
          <a:lstStyle/>
          <a:p>
            <a:pPr>
              <a:defRPr sz="1100" b="1">
                <a:solidFill>
                  <a:srgbClr val="FFFFFF"/>
                </a:solidFill>
              </a:defRPr>
            </a:pPr>
            <a:r>
              <a:rPr>
                <a:latin typeface="Arial"/>
              </a:rPr>
              <a:t>Step</a:t>
            </a:r>
          </a:p>
        </p:txBody>
      </p:sp>
      <p:sp>
        <p:nvSpPr>
          <p:cNvPr id="7" name="Rectangle 6"/>
          <p:cNvSpPr/>
          <p:nvPr/>
        </p:nvSpPr>
        <p:spPr>
          <a:xfrm>
            <a:off x="1097280" y="1828800"/>
            <a:ext cx="201168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1901952"/>
            <a:ext cx="1828800" cy="320040"/>
          </a:xfrm>
          <a:prstGeom prst="rect">
            <a:avLst/>
          </a:prstGeom>
          <a:noFill/>
        </p:spPr>
        <p:txBody>
          <a:bodyPr wrap="square">
            <a:spAutoFit/>
          </a:bodyPr>
          <a:lstStyle/>
          <a:p>
            <a:pPr>
              <a:defRPr sz="1100" b="1">
                <a:solidFill>
                  <a:srgbClr val="FFFFFF"/>
                </a:solidFill>
              </a:defRPr>
            </a:pPr>
            <a:r>
              <a:rPr>
                <a:latin typeface="Arial"/>
              </a:rPr>
              <a:t>Service Updated</a:t>
            </a:r>
          </a:p>
        </p:txBody>
      </p:sp>
      <p:sp>
        <p:nvSpPr>
          <p:cNvPr id="9" name="Rectangle 8"/>
          <p:cNvSpPr/>
          <p:nvPr/>
        </p:nvSpPr>
        <p:spPr>
          <a:xfrm>
            <a:off x="3108960" y="1828800"/>
            <a:ext cx="41148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0" y="1901952"/>
            <a:ext cx="3931920" cy="320040"/>
          </a:xfrm>
          <a:prstGeom prst="rect">
            <a:avLst/>
          </a:prstGeom>
          <a:noFill/>
        </p:spPr>
        <p:txBody>
          <a:bodyPr wrap="square">
            <a:spAutoFit/>
          </a:bodyPr>
          <a:lstStyle/>
          <a:p>
            <a:pPr>
              <a:defRPr sz="1100" b="1">
                <a:solidFill>
                  <a:srgbClr val="FFFFFF"/>
                </a:solidFill>
              </a:defRPr>
            </a:pPr>
            <a:r>
              <a:rPr>
                <a:latin typeface="Arial"/>
              </a:rPr>
              <a:t>What Gets Written</a:t>
            </a:r>
          </a:p>
        </p:txBody>
      </p:sp>
      <p:sp>
        <p:nvSpPr>
          <p:cNvPr id="11" name="Rectangle 10"/>
          <p:cNvSpPr/>
          <p:nvPr/>
        </p:nvSpPr>
        <p:spPr>
          <a:xfrm>
            <a:off x="7223760" y="1828800"/>
            <a:ext cx="448056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0" y="1901952"/>
            <a:ext cx="4297680" cy="320040"/>
          </a:xfrm>
          <a:prstGeom prst="rect">
            <a:avLst/>
          </a:prstGeom>
          <a:noFill/>
        </p:spPr>
        <p:txBody>
          <a:bodyPr wrap="square">
            <a:spAutoFit/>
          </a:bodyPr>
          <a:lstStyle/>
          <a:p>
            <a:pPr>
              <a:defRPr sz="1100" b="1">
                <a:solidFill>
                  <a:srgbClr val="FFFFFF"/>
                </a:solidFill>
              </a:defRPr>
            </a:pPr>
            <a:r>
              <a:rPr>
                <a:latin typeface="Arial"/>
              </a:rPr>
              <a:t>Why It Matters</a:t>
            </a:r>
          </a:p>
        </p:txBody>
      </p:sp>
      <p:sp>
        <p:nvSpPr>
          <p:cNvPr id="13" name="Rectangle 12"/>
          <p:cNvSpPr/>
          <p:nvPr/>
        </p:nvSpPr>
        <p:spPr>
          <a:xfrm>
            <a:off x="548640" y="2286000"/>
            <a:ext cx="54864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331720"/>
            <a:ext cx="365759" cy="621792"/>
          </a:xfrm>
          <a:prstGeom prst="rect">
            <a:avLst/>
          </a:prstGeom>
          <a:noFill/>
        </p:spPr>
        <p:txBody>
          <a:bodyPr wrap="square">
            <a:spAutoFit/>
          </a:bodyPr>
          <a:lstStyle/>
          <a:p>
            <a:pPr>
              <a:defRPr sz="1000">
                <a:solidFill>
                  <a:srgbClr val="333333"/>
                </a:solidFill>
              </a:defRPr>
            </a:pPr>
            <a:r>
              <a:rPr>
                <a:latin typeface="Arial"/>
              </a:rPr>
              <a:t>1</a:t>
            </a:r>
          </a:p>
        </p:txBody>
      </p:sp>
      <p:sp>
        <p:nvSpPr>
          <p:cNvPr id="15" name="Rectangle 14"/>
          <p:cNvSpPr/>
          <p:nvPr/>
        </p:nvSpPr>
        <p:spPr>
          <a:xfrm>
            <a:off x="1097280" y="2286000"/>
            <a:ext cx="201168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2331720"/>
            <a:ext cx="1828800" cy="621792"/>
          </a:xfrm>
          <a:prstGeom prst="rect">
            <a:avLst/>
          </a:prstGeom>
          <a:noFill/>
        </p:spPr>
        <p:txBody>
          <a:bodyPr wrap="square">
            <a:spAutoFit/>
          </a:bodyPr>
          <a:lstStyle/>
          <a:p>
            <a:pPr>
              <a:defRPr sz="1000">
                <a:solidFill>
                  <a:srgbClr val="333333"/>
                </a:solidFill>
              </a:defRPr>
            </a:pPr>
            <a:r>
              <a:rPr>
                <a:latin typeface="Arial"/>
              </a:rPr>
              <a:t>Customer Database</a:t>
            </a:r>
            <a:br/>
            <a:r>
              <a:rPr>
                <a:latin typeface="Arial"/>
              </a:rPr>
              <a:t>(Xano)</a:t>
            </a:r>
          </a:p>
        </p:txBody>
      </p:sp>
      <p:sp>
        <p:nvSpPr>
          <p:cNvPr id="17" name="Rectangle 16"/>
          <p:cNvSpPr/>
          <p:nvPr/>
        </p:nvSpPr>
        <p:spPr>
          <a:xfrm>
            <a:off x="3108960" y="2286000"/>
            <a:ext cx="41148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0" y="2331720"/>
            <a:ext cx="3931920" cy="621792"/>
          </a:xfrm>
          <a:prstGeom prst="rect">
            <a:avLst/>
          </a:prstGeom>
          <a:noFill/>
        </p:spPr>
        <p:txBody>
          <a:bodyPr wrap="square">
            <a:spAutoFit/>
          </a:bodyPr>
          <a:lstStyle/>
          <a:p>
            <a:pPr>
              <a:defRPr sz="1000">
                <a:solidFill>
                  <a:srgbClr val="333333"/>
                </a:solidFill>
              </a:defRPr>
            </a:pPr>
            <a:r>
              <a:rPr>
                <a:latin typeface="Arial"/>
              </a:rPr>
              <a:t>User account, login method, profile details, encrypted password (if email signup)</a:t>
            </a:r>
          </a:p>
        </p:txBody>
      </p:sp>
      <p:sp>
        <p:nvSpPr>
          <p:cNvPr id="19" name="Rectangle 18"/>
          <p:cNvSpPr/>
          <p:nvPr/>
        </p:nvSpPr>
        <p:spPr>
          <a:xfrm>
            <a:off x="7223760" y="2286000"/>
            <a:ext cx="448056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0" y="2331720"/>
            <a:ext cx="4297680" cy="621792"/>
          </a:xfrm>
          <a:prstGeom prst="rect">
            <a:avLst/>
          </a:prstGeom>
          <a:noFill/>
        </p:spPr>
        <p:txBody>
          <a:bodyPr wrap="square">
            <a:spAutoFit/>
          </a:bodyPr>
          <a:lstStyle/>
          <a:p>
            <a:pPr>
              <a:defRPr sz="1000">
                <a:solidFill>
                  <a:srgbClr val="333333"/>
                </a:solidFill>
              </a:defRPr>
            </a:pPr>
            <a:r>
              <a:rPr>
                <a:latin typeface="Arial"/>
              </a:rPr>
              <a:t>Central source of truth for all customer identity</a:t>
            </a:r>
          </a:p>
        </p:txBody>
      </p:sp>
      <p:sp>
        <p:nvSpPr>
          <p:cNvPr id="21" name="Rectangle 20"/>
          <p:cNvSpPr/>
          <p:nvPr/>
        </p:nvSpPr>
        <p:spPr>
          <a:xfrm>
            <a:off x="548640" y="2999232"/>
            <a:ext cx="54864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044952"/>
            <a:ext cx="365759" cy="621792"/>
          </a:xfrm>
          <a:prstGeom prst="rect">
            <a:avLst/>
          </a:prstGeom>
          <a:noFill/>
        </p:spPr>
        <p:txBody>
          <a:bodyPr wrap="square">
            <a:spAutoFit/>
          </a:bodyPr>
          <a:lstStyle/>
          <a:p>
            <a:pPr>
              <a:defRPr sz="1000">
                <a:solidFill>
                  <a:srgbClr val="333333"/>
                </a:solidFill>
              </a:defRPr>
            </a:pPr>
            <a:r>
              <a:rPr>
                <a:latin typeface="Arial"/>
              </a:rPr>
              <a:t>2</a:t>
            </a:r>
          </a:p>
        </p:txBody>
      </p:sp>
      <p:sp>
        <p:nvSpPr>
          <p:cNvPr id="23" name="Rectangle 22"/>
          <p:cNvSpPr/>
          <p:nvPr/>
        </p:nvSpPr>
        <p:spPr>
          <a:xfrm>
            <a:off x="1097280" y="2999232"/>
            <a:ext cx="201168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88720" y="3044952"/>
            <a:ext cx="1828800" cy="621792"/>
          </a:xfrm>
          <a:prstGeom prst="rect">
            <a:avLst/>
          </a:prstGeom>
          <a:noFill/>
        </p:spPr>
        <p:txBody>
          <a:bodyPr wrap="square">
            <a:spAutoFit/>
          </a:bodyPr>
          <a:lstStyle/>
          <a:p>
            <a:pPr>
              <a:defRPr sz="1000">
                <a:solidFill>
                  <a:srgbClr val="333333"/>
                </a:solidFill>
              </a:defRPr>
            </a:pPr>
            <a:r>
              <a:rPr>
                <a:latin typeface="Arial"/>
              </a:rPr>
              <a:t>Consent Records</a:t>
            </a:r>
            <a:br/>
            <a:r>
              <a:rPr>
                <a:latin typeface="Arial"/>
              </a:rPr>
              <a:t>(Xano)</a:t>
            </a:r>
          </a:p>
        </p:txBody>
      </p:sp>
      <p:sp>
        <p:nvSpPr>
          <p:cNvPr id="25" name="Rectangle 24"/>
          <p:cNvSpPr/>
          <p:nvPr/>
        </p:nvSpPr>
        <p:spPr>
          <a:xfrm>
            <a:off x="3108960" y="2999232"/>
            <a:ext cx="41148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0" y="3044952"/>
            <a:ext cx="3931920" cy="621792"/>
          </a:xfrm>
          <a:prstGeom prst="rect">
            <a:avLst/>
          </a:prstGeom>
          <a:noFill/>
        </p:spPr>
        <p:txBody>
          <a:bodyPr wrap="square">
            <a:spAutoFit/>
          </a:bodyPr>
          <a:lstStyle/>
          <a:p>
            <a:pPr>
              <a:defRPr sz="1000">
                <a:solidFill>
                  <a:srgbClr val="333333"/>
                </a:solidFill>
              </a:defRPr>
            </a:pPr>
            <a:r>
              <a:rPr>
                <a:latin typeface="Arial"/>
              </a:rPr>
              <a:t>Which policies were accepted, when, how, and from which browser — creates an audit trail</a:t>
            </a:r>
          </a:p>
        </p:txBody>
      </p:sp>
      <p:sp>
        <p:nvSpPr>
          <p:cNvPr id="27" name="Rectangle 26"/>
          <p:cNvSpPr/>
          <p:nvPr/>
        </p:nvSpPr>
        <p:spPr>
          <a:xfrm>
            <a:off x="7223760" y="2999232"/>
            <a:ext cx="448056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0" y="3044952"/>
            <a:ext cx="4297680" cy="621792"/>
          </a:xfrm>
          <a:prstGeom prst="rect">
            <a:avLst/>
          </a:prstGeom>
          <a:noFill/>
        </p:spPr>
        <p:txBody>
          <a:bodyPr wrap="square">
            <a:spAutoFit/>
          </a:bodyPr>
          <a:lstStyle/>
          <a:p>
            <a:pPr>
              <a:defRPr sz="1000">
                <a:solidFill>
                  <a:srgbClr val="333333"/>
                </a:solidFill>
              </a:defRPr>
            </a:pPr>
            <a:r>
              <a:rPr>
                <a:latin typeface="Arial"/>
              </a:rPr>
              <a:t>Required by GDPR — proves the user gave informed consent</a:t>
            </a:r>
          </a:p>
        </p:txBody>
      </p:sp>
      <p:sp>
        <p:nvSpPr>
          <p:cNvPr id="29" name="Rectangle 28"/>
          <p:cNvSpPr/>
          <p:nvPr/>
        </p:nvSpPr>
        <p:spPr>
          <a:xfrm>
            <a:off x="548640" y="3712464"/>
            <a:ext cx="54864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3758184"/>
            <a:ext cx="365759" cy="621792"/>
          </a:xfrm>
          <a:prstGeom prst="rect">
            <a:avLst/>
          </a:prstGeom>
          <a:noFill/>
        </p:spPr>
        <p:txBody>
          <a:bodyPr wrap="square">
            <a:spAutoFit/>
          </a:bodyPr>
          <a:lstStyle/>
          <a:p>
            <a:pPr>
              <a:defRPr sz="1000">
                <a:solidFill>
                  <a:srgbClr val="333333"/>
                </a:solidFill>
              </a:defRPr>
            </a:pPr>
            <a:r>
              <a:rPr>
                <a:latin typeface="Arial"/>
              </a:rPr>
              <a:t>3</a:t>
            </a:r>
          </a:p>
        </p:txBody>
      </p:sp>
      <p:sp>
        <p:nvSpPr>
          <p:cNvPr id="31" name="Rectangle 30"/>
          <p:cNvSpPr/>
          <p:nvPr/>
        </p:nvSpPr>
        <p:spPr>
          <a:xfrm>
            <a:off x="1097280" y="3712464"/>
            <a:ext cx="201168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88720" y="3758184"/>
            <a:ext cx="1828800" cy="621792"/>
          </a:xfrm>
          <a:prstGeom prst="rect">
            <a:avLst/>
          </a:prstGeom>
          <a:noFill/>
        </p:spPr>
        <p:txBody>
          <a:bodyPr wrap="square">
            <a:spAutoFit/>
          </a:bodyPr>
          <a:lstStyle/>
          <a:p>
            <a:pPr>
              <a:defRPr sz="1000">
                <a:solidFill>
                  <a:srgbClr val="333333"/>
                </a:solidFill>
              </a:defRPr>
            </a:pPr>
            <a:r>
              <a:rPr>
                <a:latin typeface="Arial"/>
              </a:rPr>
              <a:t>Website CMS</a:t>
            </a:r>
            <a:br/>
            <a:r>
              <a:rPr>
                <a:latin typeface="Arial"/>
              </a:rPr>
              <a:t>(Webflow)</a:t>
            </a:r>
          </a:p>
        </p:txBody>
      </p:sp>
      <p:sp>
        <p:nvSpPr>
          <p:cNvPr id="33" name="Rectangle 32"/>
          <p:cNvSpPr/>
          <p:nvPr/>
        </p:nvSpPr>
        <p:spPr>
          <a:xfrm>
            <a:off x="3108960" y="3712464"/>
            <a:ext cx="41148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0" y="3758184"/>
            <a:ext cx="3931920" cy="621792"/>
          </a:xfrm>
          <a:prstGeom prst="rect">
            <a:avLst/>
          </a:prstGeom>
          <a:noFill/>
        </p:spPr>
        <p:txBody>
          <a:bodyPr wrap="square">
            <a:spAutoFit/>
          </a:bodyPr>
          <a:lstStyle/>
          <a:p>
            <a:pPr>
              <a:defRPr sz="1000">
                <a:solidFill>
                  <a:srgbClr val="333333"/>
                </a:solidFill>
              </a:defRPr>
            </a:pPr>
            <a:r>
              <a:rPr>
                <a:latin typeface="Arial"/>
              </a:rPr>
              <a:t>Customer profile card with name, tags, consent status, and order data</a:t>
            </a:r>
          </a:p>
        </p:txBody>
      </p:sp>
      <p:sp>
        <p:nvSpPr>
          <p:cNvPr id="35" name="Rectangle 34"/>
          <p:cNvSpPr/>
          <p:nvPr/>
        </p:nvSpPr>
        <p:spPr>
          <a:xfrm>
            <a:off x="7223760" y="3712464"/>
            <a:ext cx="448056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0" y="3758184"/>
            <a:ext cx="4297680" cy="621792"/>
          </a:xfrm>
          <a:prstGeom prst="rect">
            <a:avLst/>
          </a:prstGeom>
          <a:noFill/>
        </p:spPr>
        <p:txBody>
          <a:bodyPr wrap="square">
            <a:spAutoFit/>
          </a:bodyPr>
          <a:lstStyle/>
          <a:p>
            <a:pPr>
              <a:defRPr sz="1000">
                <a:solidFill>
                  <a:srgbClr val="333333"/>
                </a:solidFill>
              </a:defRPr>
            </a:pPr>
            <a:r>
              <a:rPr>
                <a:latin typeface="Arial"/>
              </a:rPr>
              <a:t>Enables dynamic website content based on customer segments</a:t>
            </a:r>
          </a:p>
        </p:txBody>
      </p:sp>
      <p:sp>
        <p:nvSpPr>
          <p:cNvPr id="37" name="Rectangle 36"/>
          <p:cNvSpPr/>
          <p:nvPr/>
        </p:nvSpPr>
        <p:spPr>
          <a:xfrm>
            <a:off x="548640" y="4425696"/>
            <a:ext cx="54864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4471416"/>
            <a:ext cx="365759" cy="621792"/>
          </a:xfrm>
          <a:prstGeom prst="rect">
            <a:avLst/>
          </a:prstGeom>
          <a:noFill/>
        </p:spPr>
        <p:txBody>
          <a:bodyPr wrap="square">
            <a:spAutoFit/>
          </a:bodyPr>
          <a:lstStyle/>
          <a:p>
            <a:pPr>
              <a:defRPr sz="1000">
                <a:solidFill>
                  <a:srgbClr val="333333"/>
                </a:solidFill>
              </a:defRPr>
            </a:pPr>
            <a:r>
              <a:rPr>
                <a:latin typeface="Arial"/>
              </a:rPr>
              <a:t>4</a:t>
            </a:r>
          </a:p>
        </p:txBody>
      </p:sp>
      <p:sp>
        <p:nvSpPr>
          <p:cNvPr id="39" name="Rectangle 38"/>
          <p:cNvSpPr/>
          <p:nvPr/>
        </p:nvSpPr>
        <p:spPr>
          <a:xfrm>
            <a:off x="1097280" y="4425696"/>
            <a:ext cx="201168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88720" y="4471416"/>
            <a:ext cx="1828800" cy="621792"/>
          </a:xfrm>
          <a:prstGeom prst="rect">
            <a:avLst/>
          </a:prstGeom>
          <a:noFill/>
        </p:spPr>
        <p:txBody>
          <a:bodyPr wrap="square">
            <a:spAutoFit/>
          </a:bodyPr>
          <a:lstStyle/>
          <a:p>
            <a:pPr>
              <a:defRPr sz="1000">
                <a:solidFill>
                  <a:srgbClr val="333333"/>
                </a:solidFill>
              </a:defRPr>
            </a:pPr>
            <a:r>
              <a:rPr>
                <a:latin typeface="Arial"/>
              </a:rPr>
              <a:t>Online Store</a:t>
            </a:r>
            <a:br/>
            <a:r>
              <a:rPr>
                <a:latin typeface="Arial"/>
              </a:rPr>
              <a:t>(Shopify)</a:t>
            </a:r>
          </a:p>
        </p:txBody>
      </p:sp>
      <p:sp>
        <p:nvSpPr>
          <p:cNvPr id="41" name="Rectangle 40"/>
          <p:cNvSpPr/>
          <p:nvPr/>
        </p:nvSpPr>
        <p:spPr>
          <a:xfrm>
            <a:off x="3108960" y="4425696"/>
            <a:ext cx="41148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00400" y="4471416"/>
            <a:ext cx="3931920" cy="621792"/>
          </a:xfrm>
          <a:prstGeom prst="rect">
            <a:avLst/>
          </a:prstGeom>
          <a:noFill/>
        </p:spPr>
        <p:txBody>
          <a:bodyPr wrap="square">
            <a:spAutoFit/>
          </a:bodyPr>
          <a:lstStyle/>
          <a:p>
            <a:pPr>
              <a:defRPr sz="1000">
                <a:solidFill>
                  <a:srgbClr val="333333"/>
                </a:solidFill>
              </a:defRPr>
            </a:pPr>
            <a:r>
              <a:rPr>
                <a:latin typeface="Arial"/>
              </a:rPr>
              <a:t>Customer tags (VIP, Active, etc.) and structured data fields for segmentation and marketing flows</a:t>
            </a:r>
          </a:p>
        </p:txBody>
      </p:sp>
      <p:sp>
        <p:nvSpPr>
          <p:cNvPr id="43" name="Rectangle 42"/>
          <p:cNvSpPr/>
          <p:nvPr/>
        </p:nvSpPr>
        <p:spPr>
          <a:xfrm>
            <a:off x="7223760" y="4425696"/>
            <a:ext cx="448056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15200" y="4471416"/>
            <a:ext cx="4297680" cy="621792"/>
          </a:xfrm>
          <a:prstGeom prst="rect">
            <a:avLst/>
          </a:prstGeom>
          <a:noFill/>
        </p:spPr>
        <p:txBody>
          <a:bodyPr wrap="square">
            <a:spAutoFit/>
          </a:bodyPr>
          <a:lstStyle/>
          <a:p>
            <a:pPr>
              <a:defRPr sz="1000">
                <a:solidFill>
                  <a:srgbClr val="333333"/>
                </a:solidFill>
              </a:defRPr>
            </a:pPr>
            <a:r>
              <a:rPr>
                <a:latin typeface="Arial"/>
              </a:rPr>
              <a:t>Powers Shopify Segments, Flows, and email campaigns</a:t>
            </a:r>
          </a:p>
        </p:txBody>
      </p:sp>
      <p:sp>
        <p:nvSpPr>
          <p:cNvPr id="45" name="Rectangle 44"/>
          <p:cNvSpPr/>
          <p:nvPr/>
        </p:nvSpPr>
        <p:spPr>
          <a:xfrm>
            <a:off x="548640" y="5138928"/>
            <a:ext cx="54864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5184648"/>
            <a:ext cx="365759" cy="621792"/>
          </a:xfrm>
          <a:prstGeom prst="rect">
            <a:avLst/>
          </a:prstGeom>
          <a:noFill/>
        </p:spPr>
        <p:txBody>
          <a:bodyPr wrap="square">
            <a:spAutoFit/>
          </a:bodyPr>
          <a:lstStyle/>
          <a:p>
            <a:pPr>
              <a:defRPr sz="1000">
                <a:solidFill>
                  <a:srgbClr val="333333"/>
                </a:solidFill>
              </a:defRPr>
            </a:pPr>
            <a:r>
              <a:rPr>
                <a:latin typeface="Arial"/>
              </a:rPr>
              <a:t>5</a:t>
            </a:r>
          </a:p>
        </p:txBody>
      </p:sp>
      <p:sp>
        <p:nvSpPr>
          <p:cNvPr id="47" name="Rectangle 46"/>
          <p:cNvSpPr/>
          <p:nvPr/>
        </p:nvSpPr>
        <p:spPr>
          <a:xfrm>
            <a:off x="1097280" y="5138928"/>
            <a:ext cx="201168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88720" y="5184648"/>
            <a:ext cx="1828800" cy="621792"/>
          </a:xfrm>
          <a:prstGeom prst="rect">
            <a:avLst/>
          </a:prstGeom>
          <a:noFill/>
        </p:spPr>
        <p:txBody>
          <a:bodyPr wrap="square">
            <a:spAutoFit/>
          </a:bodyPr>
          <a:lstStyle/>
          <a:p>
            <a:pPr>
              <a:defRPr sz="1000">
                <a:solidFill>
                  <a:srgbClr val="333333"/>
                </a:solidFill>
              </a:defRPr>
            </a:pPr>
            <a:r>
              <a:rPr>
                <a:latin typeface="Arial"/>
              </a:rPr>
              <a:t>Analytics</a:t>
            </a:r>
            <a:br/>
            <a:r>
              <a:rPr>
                <a:latin typeface="Arial"/>
              </a:rPr>
              <a:t>(Google GA4)</a:t>
            </a:r>
          </a:p>
        </p:txBody>
      </p:sp>
      <p:sp>
        <p:nvSpPr>
          <p:cNvPr id="49" name="Rectangle 48"/>
          <p:cNvSpPr/>
          <p:nvPr/>
        </p:nvSpPr>
        <p:spPr>
          <a:xfrm>
            <a:off x="3108960" y="5138928"/>
            <a:ext cx="41148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200400" y="5184648"/>
            <a:ext cx="3931920" cy="621792"/>
          </a:xfrm>
          <a:prstGeom prst="rect">
            <a:avLst/>
          </a:prstGeom>
          <a:noFill/>
        </p:spPr>
        <p:txBody>
          <a:bodyPr wrap="square">
            <a:spAutoFit/>
          </a:bodyPr>
          <a:lstStyle/>
          <a:p>
            <a:pPr>
              <a:defRPr sz="1000">
                <a:solidFill>
                  <a:srgbClr val="333333"/>
                </a:solidFill>
              </a:defRPr>
            </a:pPr>
            <a:r>
              <a:rPr>
                <a:latin typeface="Arial"/>
              </a:rPr>
              <a:t>User properties like status, tier, segment, campaign tags, and consent status</a:t>
            </a:r>
          </a:p>
        </p:txBody>
      </p:sp>
      <p:sp>
        <p:nvSpPr>
          <p:cNvPr id="51" name="Rectangle 50"/>
          <p:cNvSpPr/>
          <p:nvPr/>
        </p:nvSpPr>
        <p:spPr>
          <a:xfrm>
            <a:off x="7223760" y="5138928"/>
            <a:ext cx="448056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315200" y="5184648"/>
            <a:ext cx="4297680" cy="621792"/>
          </a:xfrm>
          <a:prstGeom prst="rect">
            <a:avLst/>
          </a:prstGeom>
          <a:noFill/>
        </p:spPr>
        <p:txBody>
          <a:bodyPr wrap="square">
            <a:spAutoFit/>
          </a:bodyPr>
          <a:lstStyle/>
          <a:p>
            <a:pPr>
              <a:defRPr sz="1000">
                <a:solidFill>
                  <a:srgbClr val="333333"/>
                </a:solidFill>
              </a:defRPr>
            </a:pPr>
            <a:r>
              <a:rPr>
                <a:latin typeface="Arial"/>
              </a:rPr>
              <a:t>Enables GA4 audiences that auto-sync to Google Ads for remarketing</a:t>
            </a:r>
          </a:p>
        </p:txBody>
      </p:sp>
      <p:sp>
        <p:nvSpPr>
          <p:cNvPr id="53" name="Rectangle 52"/>
          <p:cNvSpPr/>
          <p:nvPr/>
        </p:nvSpPr>
        <p:spPr>
          <a:xfrm>
            <a:off x="548640" y="5852160"/>
            <a:ext cx="54864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 y="5897880"/>
            <a:ext cx="365759" cy="621792"/>
          </a:xfrm>
          <a:prstGeom prst="rect">
            <a:avLst/>
          </a:prstGeom>
          <a:noFill/>
        </p:spPr>
        <p:txBody>
          <a:bodyPr wrap="square">
            <a:spAutoFit/>
          </a:bodyPr>
          <a:lstStyle/>
          <a:p>
            <a:pPr>
              <a:defRPr sz="1000">
                <a:solidFill>
                  <a:srgbClr val="333333"/>
                </a:solidFill>
              </a:defRPr>
            </a:pPr>
            <a:r>
              <a:rPr>
                <a:latin typeface="Arial"/>
              </a:rPr>
              <a:t>6</a:t>
            </a:r>
          </a:p>
        </p:txBody>
      </p:sp>
      <p:sp>
        <p:nvSpPr>
          <p:cNvPr id="55" name="Rectangle 54"/>
          <p:cNvSpPr/>
          <p:nvPr/>
        </p:nvSpPr>
        <p:spPr>
          <a:xfrm>
            <a:off x="1097280" y="5852160"/>
            <a:ext cx="201168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188720" y="5897880"/>
            <a:ext cx="1828800" cy="621792"/>
          </a:xfrm>
          <a:prstGeom prst="rect">
            <a:avLst/>
          </a:prstGeom>
          <a:noFill/>
        </p:spPr>
        <p:txBody>
          <a:bodyPr wrap="square">
            <a:spAutoFit/>
          </a:bodyPr>
          <a:lstStyle/>
          <a:p>
            <a:pPr>
              <a:defRPr sz="1000">
                <a:solidFill>
                  <a:srgbClr val="333333"/>
                </a:solidFill>
              </a:defRPr>
            </a:pPr>
            <a:r>
              <a:rPr>
                <a:latin typeface="Arial"/>
              </a:rPr>
              <a:t>Customer Data Platform</a:t>
            </a:r>
            <a:br/>
            <a:r>
              <a:rPr>
                <a:latin typeface="Arial"/>
              </a:rPr>
              <a:t>(Adobe AEP)</a:t>
            </a:r>
          </a:p>
        </p:txBody>
      </p:sp>
      <p:sp>
        <p:nvSpPr>
          <p:cNvPr id="57" name="Rectangle 56"/>
          <p:cNvSpPr/>
          <p:nvPr/>
        </p:nvSpPr>
        <p:spPr>
          <a:xfrm>
            <a:off x="3108960" y="5852160"/>
            <a:ext cx="41148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200400" y="5897880"/>
            <a:ext cx="3931920" cy="621792"/>
          </a:xfrm>
          <a:prstGeom prst="rect">
            <a:avLst/>
          </a:prstGeom>
          <a:noFill/>
        </p:spPr>
        <p:txBody>
          <a:bodyPr wrap="square">
            <a:spAutoFit/>
          </a:bodyPr>
          <a:lstStyle/>
          <a:p>
            <a:pPr>
              <a:defRPr sz="1000">
                <a:solidFill>
                  <a:srgbClr val="333333"/>
                </a:solidFill>
              </a:defRPr>
            </a:pPr>
            <a:r>
              <a:rPr>
                <a:latin typeface="Arial"/>
              </a:rPr>
              <a:t>Encrypted customer profile (email is hashed, never sent in plain text)</a:t>
            </a:r>
          </a:p>
        </p:txBody>
      </p:sp>
      <p:sp>
        <p:nvSpPr>
          <p:cNvPr id="59" name="Rectangle 58"/>
          <p:cNvSpPr/>
          <p:nvPr/>
        </p:nvSpPr>
        <p:spPr>
          <a:xfrm>
            <a:off x="7223760" y="5852160"/>
            <a:ext cx="448056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15200" y="5897880"/>
            <a:ext cx="4297680" cy="621792"/>
          </a:xfrm>
          <a:prstGeom prst="rect">
            <a:avLst/>
          </a:prstGeom>
          <a:noFill/>
        </p:spPr>
        <p:txBody>
          <a:bodyPr wrap="square">
            <a:spAutoFit/>
          </a:bodyPr>
          <a:lstStyle/>
          <a:p>
            <a:pPr>
              <a:defRPr sz="1000">
                <a:solidFill>
                  <a:srgbClr val="333333"/>
                </a:solidFill>
              </a:defRPr>
            </a:pPr>
            <a:r>
              <a:rPr>
                <a:latin typeface="Arial"/>
              </a:rPr>
              <a:t>Enterprise-grade CDP integration for cross-channel activation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Admin Protection: Cloudflare Zero Trust</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defRPr>
            </a:pPr>
            <a:r>
              <a:rPr>
                <a:latin typeface="Arial"/>
              </a:rPr>
              <a:t>Admin pages (Setup Wizard, Settings, Onboarding) are protected by an additional layer that sits in front of the server. Even if someone has the URL, they cannot access these pages without verifying their email first.</a:t>
            </a:r>
          </a:p>
        </p:txBody>
      </p:sp>
      <p:sp>
        <p:nvSpPr>
          <p:cNvPr id="5" name="TextBox 4"/>
          <p:cNvSpPr txBox="1"/>
          <p:nvPr/>
        </p:nvSpPr>
        <p:spPr>
          <a:xfrm>
            <a:off x="548640" y="1828800"/>
            <a:ext cx="10972800" cy="365760"/>
          </a:xfrm>
          <a:prstGeom prst="rect">
            <a:avLst/>
          </a:prstGeom>
          <a:noFill/>
        </p:spPr>
        <p:txBody>
          <a:bodyPr wrap="none">
            <a:spAutoFit/>
          </a:bodyPr>
          <a:lstStyle/>
          <a:p>
            <a:pPr>
              <a:defRPr sz="1600" b="1">
                <a:solidFill>
                  <a:srgbClr val="2E6EBF"/>
                </a:solidFill>
              </a:defRPr>
            </a:pPr>
            <a:r>
              <a:rPr>
                <a:latin typeface="Arial"/>
              </a:rPr>
              <a:t>How It Works</a:t>
            </a:r>
          </a:p>
        </p:txBody>
      </p:sp>
      <p:sp>
        <p:nvSpPr>
          <p:cNvPr id="6" name="TextBox 5"/>
          <p:cNvSpPr txBox="1"/>
          <p:nvPr/>
        </p:nvSpPr>
        <p:spPr>
          <a:xfrm>
            <a:off x="731520" y="2286000"/>
            <a:ext cx="10058400" cy="320040"/>
          </a:xfrm>
          <a:prstGeom prst="rect">
            <a:avLst/>
          </a:prstGeom>
          <a:noFill/>
        </p:spPr>
        <p:txBody>
          <a:bodyPr wrap="square">
            <a:spAutoFit/>
          </a:bodyPr>
          <a:lstStyle/>
          <a:p>
            <a:pPr>
              <a:defRPr sz="1200" b="0">
                <a:solidFill>
                  <a:srgbClr val="333333"/>
                </a:solidFill>
              </a:defRPr>
            </a:pPr>
            <a:r>
              <a:rPr>
                <a:latin typeface="Arial"/>
              </a:rPr>
              <a:t>•  When someone visits an admin page, Cloudflare intercepts the request before it reaches the server.</a:t>
            </a:r>
          </a:p>
        </p:txBody>
      </p:sp>
      <p:sp>
        <p:nvSpPr>
          <p:cNvPr id="7" name="TextBox 6"/>
          <p:cNvSpPr txBox="1"/>
          <p:nvPr/>
        </p:nvSpPr>
        <p:spPr>
          <a:xfrm>
            <a:off x="731520" y="2651760"/>
            <a:ext cx="10058400" cy="320040"/>
          </a:xfrm>
          <a:prstGeom prst="rect">
            <a:avLst/>
          </a:prstGeom>
          <a:noFill/>
        </p:spPr>
        <p:txBody>
          <a:bodyPr wrap="square">
            <a:spAutoFit/>
          </a:bodyPr>
          <a:lstStyle/>
          <a:p>
            <a:pPr>
              <a:defRPr sz="1200" b="0">
                <a:solidFill>
                  <a:srgbClr val="333333"/>
                </a:solidFill>
              </a:defRPr>
            </a:pPr>
            <a:r>
              <a:rPr>
                <a:latin typeface="Arial"/>
              </a:rPr>
              <a:t>•  Cloudflare sends a one-time verification code to the visitor's email address.</a:t>
            </a:r>
          </a:p>
        </p:txBody>
      </p:sp>
      <p:sp>
        <p:nvSpPr>
          <p:cNvPr id="8" name="TextBox 7"/>
          <p:cNvSpPr txBox="1"/>
          <p:nvPr/>
        </p:nvSpPr>
        <p:spPr>
          <a:xfrm>
            <a:off x="731520" y="3017520"/>
            <a:ext cx="10058400" cy="320040"/>
          </a:xfrm>
          <a:prstGeom prst="rect">
            <a:avLst/>
          </a:prstGeom>
          <a:noFill/>
        </p:spPr>
        <p:txBody>
          <a:bodyPr wrap="square">
            <a:spAutoFit/>
          </a:bodyPr>
          <a:lstStyle/>
          <a:p>
            <a:pPr>
              <a:defRPr sz="1200" b="0">
                <a:solidFill>
                  <a:srgbClr val="333333"/>
                </a:solidFill>
              </a:defRPr>
            </a:pPr>
            <a:r>
              <a:rPr>
                <a:latin typeface="Arial"/>
              </a:rPr>
              <a:t>•  Only whitelisted email addresses are allowed through (your team's emails).</a:t>
            </a:r>
          </a:p>
        </p:txBody>
      </p:sp>
      <p:sp>
        <p:nvSpPr>
          <p:cNvPr id="9" name="TextBox 8"/>
          <p:cNvSpPr txBox="1"/>
          <p:nvPr/>
        </p:nvSpPr>
        <p:spPr>
          <a:xfrm>
            <a:off x="731520" y="3383280"/>
            <a:ext cx="10058400" cy="320040"/>
          </a:xfrm>
          <a:prstGeom prst="rect">
            <a:avLst/>
          </a:prstGeom>
          <a:noFill/>
        </p:spPr>
        <p:txBody>
          <a:bodyPr wrap="square">
            <a:spAutoFit/>
          </a:bodyPr>
          <a:lstStyle/>
          <a:p>
            <a:pPr>
              <a:defRPr sz="1200" b="0">
                <a:solidFill>
                  <a:srgbClr val="333333"/>
                </a:solidFill>
              </a:defRPr>
            </a:pPr>
            <a:r>
              <a:rPr>
                <a:latin typeface="Arial"/>
              </a:rPr>
              <a:t>•  After email verification, a second check confirms the admin access key.</a:t>
            </a:r>
          </a:p>
        </p:txBody>
      </p:sp>
      <p:sp>
        <p:nvSpPr>
          <p:cNvPr id="10" name="TextBox 9"/>
          <p:cNvSpPr txBox="1"/>
          <p:nvPr/>
        </p:nvSpPr>
        <p:spPr>
          <a:xfrm>
            <a:off x="731520" y="3749039"/>
            <a:ext cx="10058400" cy="320040"/>
          </a:xfrm>
          <a:prstGeom prst="rect">
            <a:avLst/>
          </a:prstGeom>
          <a:noFill/>
        </p:spPr>
        <p:txBody>
          <a:bodyPr wrap="square">
            <a:spAutoFit/>
          </a:bodyPr>
          <a:lstStyle/>
          <a:p>
            <a:pPr>
              <a:defRPr sz="1200" b="0">
                <a:solidFill>
                  <a:srgbClr val="333333"/>
                </a:solidFill>
              </a:defRPr>
            </a:pPr>
            <a:r>
              <a:rPr>
                <a:latin typeface="Arial"/>
              </a:rPr>
              <a:t>•  This is completely separate from customer login — customers never see this layer.</a:t>
            </a:r>
          </a:p>
        </p:txBody>
      </p:sp>
      <p:sp>
        <p:nvSpPr>
          <p:cNvPr id="11" name="TextBox 10"/>
          <p:cNvSpPr txBox="1"/>
          <p:nvPr/>
        </p:nvSpPr>
        <p:spPr>
          <a:xfrm>
            <a:off x="548640" y="4297680"/>
            <a:ext cx="10972800" cy="365760"/>
          </a:xfrm>
          <a:prstGeom prst="rect">
            <a:avLst/>
          </a:prstGeom>
          <a:noFill/>
        </p:spPr>
        <p:txBody>
          <a:bodyPr wrap="none">
            <a:spAutoFit/>
          </a:bodyPr>
          <a:lstStyle/>
          <a:p>
            <a:pPr>
              <a:defRPr sz="1600" b="1">
                <a:solidFill>
                  <a:srgbClr val="2E6EBF"/>
                </a:solidFill>
              </a:defRPr>
            </a:pPr>
            <a:r>
              <a:rPr>
                <a:latin typeface="Arial"/>
              </a:rPr>
              <a:t>What It Protects</a:t>
            </a:r>
          </a:p>
        </p:txBody>
      </p:sp>
      <p:sp>
        <p:nvSpPr>
          <p:cNvPr id="12" name="Rectangle 11"/>
          <p:cNvSpPr/>
          <p:nvPr/>
        </p:nvSpPr>
        <p:spPr>
          <a:xfrm>
            <a:off x="548640" y="4663440"/>
            <a:ext cx="2743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736592"/>
            <a:ext cx="2560320" cy="320040"/>
          </a:xfrm>
          <a:prstGeom prst="rect">
            <a:avLst/>
          </a:prstGeom>
          <a:noFill/>
        </p:spPr>
        <p:txBody>
          <a:bodyPr wrap="square">
            <a:spAutoFit/>
          </a:bodyPr>
          <a:lstStyle/>
          <a:p>
            <a:pPr>
              <a:defRPr sz="1100" b="1">
                <a:solidFill>
                  <a:srgbClr val="FFFFFF"/>
                </a:solidFill>
              </a:defRPr>
            </a:pPr>
            <a:r>
              <a:rPr>
                <a:latin typeface="Arial"/>
              </a:rPr>
              <a:t>Page</a:t>
            </a:r>
          </a:p>
        </p:txBody>
      </p:sp>
      <p:sp>
        <p:nvSpPr>
          <p:cNvPr id="14" name="Rectangle 13"/>
          <p:cNvSpPr/>
          <p:nvPr/>
        </p:nvSpPr>
        <p:spPr>
          <a:xfrm>
            <a:off x="3291840" y="4663440"/>
            <a:ext cx="5029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83280" y="4736592"/>
            <a:ext cx="4846320" cy="320040"/>
          </a:xfrm>
          <a:prstGeom prst="rect">
            <a:avLst/>
          </a:prstGeom>
          <a:noFill/>
        </p:spPr>
        <p:txBody>
          <a:bodyPr wrap="square">
            <a:spAutoFit/>
          </a:bodyPr>
          <a:lstStyle/>
          <a:p>
            <a:pPr>
              <a:defRPr sz="1100" b="1">
                <a:solidFill>
                  <a:srgbClr val="FFFFFF"/>
                </a:solidFill>
              </a:defRPr>
            </a:pPr>
            <a:r>
              <a:rPr>
                <a:latin typeface="Arial"/>
              </a:rPr>
              <a:t>Purpose</a:t>
            </a:r>
          </a:p>
        </p:txBody>
      </p:sp>
      <p:sp>
        <p:nvSpPr>
          <p:cNvPr id="16" name="Rectangle 15"/>
          <p:cNvSpPr/>
          <p:nvPr/>
        </p:nvSpPr>
        <p:spPr>
          <a:xfrm>
            <a:off x="8321040" y="4663440"/>
            <a:ext cx="338328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4736592"/>
            <a:ext cx="3200400" cy="320040"/>
          </a:xfrm>
          <a:prstGeom prst="rect">
            <a:avLst/>
          </a:prstGeom>
          <a:noFill/>
        </p:spPr>
        <p:txBody>
          <a:bodyPr wrap="square">
            <a:spAutoFit/>
          </a:bodyPr>
          <a:lstStyle/>
          <a:p>
            <a:pPr>
              <a:defRPr sz="1100" b="1">
                <a:solidFill>
                  <a:srgbClr val="FFFFFF"/>
                </a:solidFill>
              </a:defRPr>
            </a:pPr>
            <a:r>
              <a:rPr>
                <a:latin typeface="Arial"/>
              </a:rPr>
              <a:t>Who Can Access</a:t>
            </a:r>
          </a:p>
        </p:txBody>
      </p:sp>
      <p:sp>
        <p:nvSpPr>
          <p:cNvPr id="18" name="Rectangle 17"/>
          <p:cNvSpPr/>
          <p:nvPr/>
        </p:nvSpPr>
        <p:spPr>
          <a:xfrm>
            <a:off x="548640" y="5120640"/>
            <a:ext cx="27432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166359"/>
            <a:ext cx="2560320" cy="411480"/>
          </a:xfrm>
          <a:prstGeom prst="rect">
            <a:avLst/>
          </a:prstGeom>
          <a:noFill/>
        </p:spPr>
        <p:txBody>
          <a:bodyPr wrap="square">
            <a:spAutoFit/>
          </a:bodyPr>
          <a:lstStyle/>
          <a:p>
            <a:pPr>
              <a:defRPr sz="1000">
                <a:solidFill>
                  <a:srgbClr val="333333"/>
                </a:solidFill>
              </a:defRPr>
            </a:pPr>
            <a:r>
              <a:rPr>
                <a:latin typeface="Arial"/>
              </a:rPr>
              <a:t>Setup Wizard</a:t>
            </a:r>
          </a:p>
        </p:txBody>
      </p:sp>
      <p:sp>
        <p:nvSpPr>
          <p:cNvPr id="20" name="Rectangle 19"/>
          <p:cNvSpPr/>
          <p:nvPr/>
        </p:nvSpPr>
        <p:spPr>
          <a:xfrm>
            <a:off x="3291840" y="5120640"/>
            <a:ext cx="50292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83280" y="5166359"/>
            <a:ext cx="4846320" cy="411480"/>
          </a:xfrm>
          <a:prstGeom prst="rect">
            <a:avLst/>
          </a:prstGeom>
          <a:noFill/>
        </p:spPr>
        <p:txBody>
          <a:bodyPr wrap="square">
            <a:spAutoFit/>
          </a:bodyPr>
          <a:lstStyle/>
          <a:p>
            <a:pPr>
              <a:defRPr sz="1000">
                <a:solidFill>
                  <a:srgbClr val="333333"/>
                </a:solidFill>
              </a:defRPr>
            </a:pPr>
            <a:r>
              <a:rPr>
                <a:latin typeface="Arial"/>
              </a:rPr>
              <a:t>Interactive 8-step guided setup with live status checks for each connected service</a:t>
            </a:r>
          </a:p>
        </p:txBody>
      </p:sp>
      <p:sp>
        <p:nvSpPr>
          <p:cNvPr id="22" name="Rectangle 21"/>
          <p:cNvSpPr/>
          <p:nvPr/>
        </p:nvSpPr>
        <p:spPr>
          <a:xfrm>
            <a:off x="8321040" y="5120640"/>
            <a:ext cx="33832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0" y="5166359"/>
            <a:ext cx="3200400" cy="411480"/>
          </a:xfrm>
          <a:prstGeom prst="rect">
            <a:avLst/>
          </a:prstGeom>
          <a:noFill/>
        </p:spPr>
        <p:txBody>
          <a:bodyPr wrap="square">
            <a:spAutoFit/>
          </a:bodyPr>
          <a:lstStyle/>
          <a:p>
            <a:pPr>
              <a:defRPr sz="1000">
                <a:solidFill>
                  <a:srgbClr val="333333"/>
                </a:solidFill>
              </a:defRPr>
            </a:pPr>
            <a:r>
              <a:rPr>
                <a:latin typeface="Arial"/>
              </a:rPr>
              <a:t>Whitelisted team emails only</a:t>
            </a:r>
          </a:p>
        </p:txBody>
      </p:sp>
      <p:sp>
        <p:nvSpPr>
          <p:cNvPr id="24" name="Rectangle 23"/>
          <p:cNvSpPr/>
          <p:nvPr/>
        </p:nvSpPr>
        <p:spPr>
          <a:xfrm>
            <a:off x="548640" y="5623559"/>
            <a:ext cx="2743200" cy="50292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5669279"/>
            <a:ext cx="2560320" cy="411480"/>
          </a:xfrm>
          <a:prstGeom prst="rect">
            <a:avLst/>
          </a:prstGeom>
          <a:noFill/>
        </p:spPr>
        <p:txBody>
          <a:bodyPr wrap="square">
            <a:spAutoFit/>
          </a:bodyPr>
          <a:lstStyle/>
          <a:p>
            <a:pPr>
              <a:defRPr sz="1000">
                <a:solidFill>
                  <a:srgbClr val="333333"/>
                </a:solidFill>
              </a:defRPr>
            </a:pPr>
            <a:r>
              <a:rPr>
                <a:latin typeface="Arial"/>
              </a:rPr>
              <a:t>Settings</a:t>
            </a:r>
          </a:p>
        </p:txBody>
      </p:sp>
      <p:sp>
        <p:nvSpPr>
          <p:cNvPr id="26" name="Rectangle 25"/>
          <p:cNvSpPr/>
          <p:nvPr/>
        </p:nvSpPr>
        <p:spPr>
          <a:xfrm>
            <a:off x="3291840" y="5623559"/>
            <a:ext cx="5029200" cy="50292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83280" y="5669279"/>
            <a:ext cx="4846320" cy="411480"/>
          </a:xfrm>
          <a:prstGeom prst="rect">
            <a:avLst/>
          </a:prstGeom>
          <a:noFill/>
        </p:spPr>
        <p:txBody>
          <a:bodyPr wrap="square">
            <a:spAutoFit/>
          </a:bodyPr>
          <a:lstStyle/>
          <a:p>
            <a:pPr>
              <a:defRPr sz="1000">
                <a:solidFill>
                  <a:srgbClr val="333333"/>
                </a:solidFill>
              </a:defRPr>
            </a:pPr>
            <a:r>
              <a:rPr>
                <a:latin typeface="Arial"/>
              </a:rPr>
              <a:t>View and modify all credentials, toggle features, and manage store connections</a:t>
            </a:r>
          </a:p>
        </p:txBody>
      </p:sp>
      <p:sp>
        <p:nvSpPr>
          <p:cNvPr id="28" name="Rectangle 27"/>
          <p:cNvSpPr/>
          <p:nvPr/>
        </p:nvSpPr>
        <p:spPr>
          <a:xfrm>
            <a:off x="8321040" y="5623559"/>
            <a:ext cx="3383280" cy="50292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0" y="5669279"/>
            <a:ext cx="3200400" cy="411480"/>
          </a:xfrm>
          <a:prstGeom prst="rect">
            <a:avLst/>
          </a:prstGeom>
          <a:noFill/>
        </p:spPr>
        <p:txBody>
          <a:bodyPr wrap="square">
            <a:spAutoFit/>
          </a:bodyPr>
          <a:lstStyle/>
          <a:p>
            <a:pPr>
              <a:defRPr sz="1000">
                <a:solidFill>
                  <a:srgbClr val="333333"/>
                </a:solidFill>
              </a:defRPr>
            </a:pPr>
            <a:r>
              <a:rPr>
                <a:latin typeface="Arial"/>
              </a:rPr>
              <a:t>Whitelisted team emails only</a:t>
            </a:r>
          </a:p>
        </p:txBody>
      </p:sp>
      <p:sp>
        <p:nvSpPr>
          <p:cNvPr id="30" name="Rectangle 29"/>
          <p:cNvSpPr/>
          <p:nvPr/>
        </p:nvSpPr>
        <p:spPr>
          <a:xfrm>
            <a:off x="548640" y="6126479"/>
            <a:ext cx="27432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6172199"/>
            <a:ext cx="2560320" cy="411480"/>
          </a:xfrm>
          <a:prstGeom prst="rect">
            <a:avLst/>
          </a:prstGeom>
          <a:noFill/>
        </p:spPr>
        <p:txBody>
          <a:bodyPr wrap="square">
            <a:spAutoFit/>
          </a:bodyPr>
          <a:lstStyle/>
          <a:p>
            <a:pPr>
              <a:defRPr sz="1000">
                <a:solidFill>
                  <a:srgbClr val="333333"/>
                </a:solidFill>
              </a:defRPr>
            </a:pPr>
            <a:r>
              <a:rPr>
                <a:latin typeface="Arial"/>
              </a:rPr>
              <a:t>Onboarding</a:t>
            </a:r>
          </a:p>
        </p:txBody>
      </p:sp>
      <p:sp>
        <p:nvSpPr>
          <p:cNvPr id="32" name="Rectangle 31"/>
          <p:cNvSpPr/>
          <p:nvPr/>
        </p:nvSpPr>
        <p:spPr>
          <a:xfrm>
            <a:off x="3291840" y="6126479"/>
            <a:ext cx="50292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83280" y="6172199"/>
            <a:ext cx="4846320" cy="411480"/>
          </a:xfrm>
          <a:prstGeom prst="rect">
            <a:avLst/>
          </a:prstGeom>
          <a:noFill/>
        </p:spPr>
        <p:txBody>
          <a:bodyPr wrap="square">
            <a:spAutoFit/>
          </a:bodyPr>
          <a:lstStyle/>
          <a:p>
            <a:pPr>
              <a:defRPr sz="1000">
                <a:solidFill>
                  <a:srgbClr val="333333"/>
                </a:solidFill>
              </a:defRPr>
            </a:pPr>
            <a:r>
              <a:rPr>
                <a:latin typeface="Arial"/>
              </a:rPr>
              <a:t>First-time configuration walkthrough for new store installations</a:t>
            </a:r>
          </a:p>
        </p:txBody>
      </p:sp>
      <p:sp>
        <p:nvSpPr>
          <p:cNvPr id="34" name="Rectangle 33"/>
          <p:cNvSpPr/>
          <p:nvPr/>
        </p:nvSpPr>
        <p:spPr>
          <a:xfrm>
            <a:off x="8321040" y="6126479"/>
            <a:ext cx="33832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12480" y="6172199"/>
            <a:ext cx="3200400" cy="411480"/>
          </a:xfrm>
          <a:prstGeom prst="rect">
            <a:avLst/>
          </a:prstGeom>
          <a:noFill/>
        </p:spPr>
        <p:txBody>
          <a:bodyPr wrap="square">
            <a:spAutoFit/>
          </a:bodyPr>
          <a:lstStyle/>
          <a:p>
            <a:pPr>
              <a:defRPr sz="1000">
                <a:solidFill>
                  <a:srgbClr val="333333"/>
                </a:solidFill>
              </a:defRPr>
            </a:pPr>
            <a:r>
              <a:rPr>
                <a:latin typeface="Arial"/>
              </a:rPr>
              <a:t>Whitelisted team emails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Sign In with Google — Step by Step</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defRPr>
            </a:pPr>
            <a:r>
              <a:rPr>
                <a:latin typeface="Arial"/>
              </a:rPr>
              <a:t>When a customer clicks 'Sign in with Google,' they are redirected to Google's own login page. Google verifies who they are and sends back a signed identity card. The customer's Google password never touches your system.</a:t>
            </a:r>
          </a:p>
        </p:txBody>
      </p:sp>
      <p:sp>
        <p:nvSpPr>
          <p:cNvPr id="5" name="Rectangle 4"/>
          <p:cNvSpPr/>
          <p:nvPr/>
        </p:nvSpPr>
        <p:spPr>
          <a:xfrm>
            <a:off x="548640" y="1828800"/>
            <a:ext cx="54864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01952"/>
            <a:ext cx="365759" cy="320040"/>
          </a:xfrm>
          <a:prstGeom prst="rect">
            <a:avLst/>
          </a:prstGeom>
          <a:noFill/>
        </p:spPr>
        <p:txBody>
          <a:bodyPr wrap="square">
            <a:spAutoFit/>
          </a:bodyPr>
          <a:lstStyle/>
          <a:p>
            <a:pPr>
              <a:defRPr sz="1100" b="1">
                <a:solidFill>
                  <a:srgbClr val="FFFFFF"/>
                </a:solidFill>
              </a:defRPr>
            </a:pPr>
            <a:r>
              <a:rPr>
                <a:latin typeface="Arial"/>
              </a:rPr>
              <a:t>Step</a:t>
            </a:r>
          </a:p>
        </p:txBody>
      </p:sp>
      <p:sp>
        <p:nvSpPr>
          <p:cNvPr id="7" name="Rectangle 6"/>
          <p:cNvSpPr/>
          <p:nvPr/>
        </p:nvSpPr>
        <p:spPr>
          <a:xfrm>
            <a:off x="1097280" y="1828800"/>
            <a:ext cx="41148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1901952"/>
            <a:ext cx="3931920" cy="320040"/>
          </a:xfrm>
          <a:prstGeom prst="rect">
            <a:avLst/>
          </a:prstGeom>
          <a:noFill/>
        </p:spPr>
        <p:txBody>
          <a:bodyPr wrap="square">
            <a:spAutoFit/>
          </a:bodyPr>
          <a:lstStyle/>
          <a:p>
            <a:pPr>
              <a:defRPr sz="1100" b="1">
                <a:solidFill>
                  <a:srgbClr val="FFFFFF"/>
                </a:solidFill>
              </a:defRPr>
            </a:pPr>
            <a:r>
              <a:rPr>
                <a:latin typeface="Arial"/>
              </a:rPr>
              <a:t>What Happens</a:t>
            </a:r>
          </a:p>
        </p:txBody>
      </p:sp>
      <p:sp>
        <p:nvSpPr>
          <p:cNvPr id="9" name="Rectangle 8"/>
          <p:cNvSpPr/>
          <p:nvPr/>
        </p:nvSpPr>
        <p:spPr>
          <a:xfrm>
            <a:off x="5212080" y="1828800"/>
            <a:ext cx="2286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0" y="1901952"/>
            <a:ext cx="2103120" cy="320040"/>
          </a:xfrm>
          <a:prstGeom prst="rect">
            <a:avLst/>
          </a:prstGeom>
          <a:noFill/>
        </p:spPr>
        <p:txBody>
          <a:bodyPr wrap="square">
            <a:spAutoFit/>
          </a:bodyPr>
          <a:lstStyle/>
          <a:p>
            <a:pPr>
              <a:defRPr sz="1100" b="1">
                <a:solidFill>
                  <a:srgbClr val="FFFFFF"/>
                </a:solidFill>
              </a:defRPr>
            </a:pPr>
            <a:r>
              <a:rPr>
                <a:latin typeface="Arial"/>
              </a:rPr>
              <a:t>Where</a:t>
            </a:r>
          </a:p>
        </p:txBody>
      </p:sp>
      <p:sp>
        <p:nvSpPr>
          <p:cNvPr id="11" name="Rectangle 10"/>
          <p:cNvSpPr/>
          <p:nvPr/>
        </p:nvSpPr>
        <p:spPr>
          <a:xfrm>
            <a:off x="7498079" y="1828800"/>
            <a:ext cx="420624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19" y="1901952"/>
            <a:ext cx="4023359" cy="320040"/>
          </a:xfrm>
          <a:prstGeom prst="rect">
            <a:avLst/>
          </a:prstGeom>
          <a:noFill/>
        </p:spPr>
        <p:txBody>
          <a:bodyPr wrap="square">
            <a:spAutoFit/>
          </a:bodyPr>
          <a:lstStyle/>
          <a:p>
            <a:pPr>
              <a:defRPr sz="1100" b="1">
                <a:solidFill>
                  <a:srgbClr val="FFFFFF"/>
                </a:solidFill>
              </a:defRPr>
            </a:pPr>
            <a:r>
              <a:rPr>
                <a:latin typeface="Arial"/>
              </a:rPr>
              <a:t>Data Written</a:t>
            </a:r>
          </a:p>
        </p:txBody>
      </p:sp>
      <p:sp>
        <p:nvSpPr>
          <p:cNvPr id="13" name="Rectangle 12"/>
          <p:cNvSpPr/>
          <p:nvPr/>
        </p:nvSpPr>
        <p:spPr>
          <a:xfrm>
            <a:off x="548640" y="2286000"/>
            <a:ext cx="548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331720"/>
            <a:ext cx="365759" cy="502920"/>
          </a:xfrm>
          <a:prstGeom prst="rect">
            <a:avLst/>
          </a:prstGeom>
          <a:noFill/>
        </p:spPr>
        <p:txBody>
          <a:bodyPr wrap="square">
            <a:spAutoFit/>
          </a:bodyPr>
          <a:lstStyle/>
          <a:p>
            <a:pPr>
              <a:defRPr sz="1000">
                <a:solidFill>
                  <a:srgbClr val="333333"/>
                </a:solidFill>
              </a:defRPr>
            </a:pPr>
            <a:r>
              <a:rPr>
                <a:latin typeface="Arial"/>
              </a:rPr>
              <a:t>1</a:t>
            </a:r>
          </a:p>
        </p:txBody>
      </p:sp>
      <p:sp>
        <p:nvSpPr>
          <p:cNvPr id="15" name="Rectangle 14"/>
          <p:cNvSpPr/>
          <p:nvPr/>
        </p:nvSpPr>
        <p:spPr>
          <a:xfrm>
            <a:off x="1097280" y="2286000"/>
            <a:ext cx="41148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2331720"/>
            <a:ext cx="3931920" cy="502920"/>
          </a:xfrm>
          <a:prstGeom prst="rect">
            <a:avLst/>
          </a:prstGeom>
          <a:noFill/>
        </p:spPr>
        <p:txBody>
          <a:bodyPr wrap="square">
            <a:spAutoFit/>
          </a:bodyPr>
          <a:lstStyle/>
          <a:p>
            <a:pPr>
              <a:defRPr sz="1000">
                <a:solidFill>
                  <a:srgbClr val="333333"/>
                </a:solidFill>
              </a:defRPr>
            </a:pPr>
            <a:r>
              <a:rPr>
                <a:latin typeface="Arial"/>
              </a:rPr>
              <a:t>Customer clicks 'Sign in with Google' on your website</a:t>
            </a:r>
          </a:p>
        </p:txBody>
      </p:sp>
      <p:sp>
        <p:nvSpPr>
          <p:cNvPr id="17" name="Rectangle 16"/>
          <p:cNvSpPr/>
          <p:nvPr/>
        </p:nvSpPr>
        <p:spPr>
          <a:xfrm>
            <a:off x="5212080" y="228600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0" y="2331720"/>
            <a:ext cx="2103120" cy="502920"/>
          </a:xfrm>
          <a:prstGeom prst="rect">
            <a:avLst/>
          </a:prstGeom>
          <a:noFill/>
        </p:spPr>
        <p:txBody>
          <a:bodyPr wrap="square">
            <a:spAutoFit/>
          </a:bodyPr>
          <a:lstStyle/>
          <a:p>
            <a:pPr>
              <a:defRPr sz="1000">
                <a:solidFill>
                  <a:srgbClr val="333333"/>
                </a:solidFill>
              </a:defRPr>
            </a:pPr>
            <a:r>
              <a:rPr>
                <a:latin typeface="Arial"/>
              </a:rPr>
              <a:t>Your website</a:t>
            </a:r>
          </a:p>
        </p:txBody>
      </p:sp>
      <p:sp>
        <p:nvSpPr>
          <p:cNvPr id="19" name="Rectangle 18"/>
          <p:cNvSpPr/>
          <p:nvPr/>
        </p:nvSpPr>
        <p:spPr>
          <a:xfrm>
            <a:off x="7498079" y="2286000"/>
            <a:ext cx="42062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19" y="2331720"/>
            <a:ext cx="4023359" cy="502920"/>
          </a:xfrm>
          <a:prstGeom prst="rect">
            <a:avLst/>
          </a:prstGeom>
          <a:noFill/>
        </p:spPr>
        <p:txBody>
          <a:bodyPr wrap="square">
            <a:spAutoFit/>
          </a:bodyPr>
          <a:lstStyle/>
          <a:p>
            <a:pPr>
              <a:defRPr sz="1000">
                <a:solidFill>
                  <a:srgbClr val="333333"/>
                </a:solidFill>
              </a:defRPr>
            </a:pPr>
            <a:r>
              <a:rPr>
                <a:latin typeface="Arial"/>
              </a:rPr>
              <a:t>Anti-forgery token stored (expires in 10 minutes)</a:t>
            </a:r>
          </a:p>
        </p:txBody>
      </p:sp>
      <p:sp>
        <p:nvSpPr>
          <p:cNvPr id="21" name="Rectangle 20"/>
          <p:cNvSpPr/>
          <p:nvPr/>
        </p:nvSpPr>
        <p:spPr>
          <a:xfrm>
            <a:off x="548640" y="2880360"/>
            <a:ext cx="5486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2926079"/>
            <a:ext cx="365759" cy="502920"/>
          </a:xfrm>
          <a:prstGeom prst="rect">
            <a:avLst/>
          </a:prstGeom>
          <a:noFill/>
        </p:spPr>
        <p:txBody>
          <a:bodyPr wrap="square">
            <a:spAutoFit/>
          </a:bodyPr>
          <a:lstStyle/>
          <a:p>
            <a:pPr>
              <a:defRPr sz="1000">
                <a:solidFill>
                  <a:srgbClr val="333333"/>
                </a:solidFill>
              </a:defRPr>
            </a:pPr>
            <a:r>
              <a:rPr>
                <a:latin typeface="Arial"/>
              </a:rPr>
              <a:t>2</a:t>
            </a:r>
          </a:p>
        </p:txBody>
      </p:sp>
      <p:sp>
        <p:nvSpPr>
          <p:cNvPr id="23" name="Rectangle 22"/>
          <p:cNvSpPr/>
          <p:nvPr/>
        </p:nvSpPr>
        <p:spPr>
          <a:xfrm>
            <a:off x="1097280" y="2880360"/>
            <a:ext cx="41148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88720" y="2926079"/>
            <a:ext cx="3931920" cy="502920"/>
          </a:xfrm>
          <a:prstGeom prst="rect">
            <a:avLst/>
          </a:prstGeom>
          <a:noFill/>
        </p:spPr>
        <p:txBody>
          <a:bodyPr wrap="square">
            <a:spAutoFit/>
          </a:bodyPr>
          <a:lstStyle/>
          <a:p>
            <a:pPr>
              <a:defRPr sz="1000">
                <a:solidFill>
                  <a:srgbClr val="333333"/>
                </a:solidFill>
              </a:defRPr>
            </a:pPr>
            <a:r>
              <a:rPr>
                <a:latin typeface="Arial"/>
              </a:rPr>
              <a:t>Customer is redirected to Google and enters their Google credentials</a:t>
            </a:r>
          </a:p>
        </p:txBody>
      </p:sp>
      <p:sp>
        <p:nvSpPr>
          <p:cNvPr id="25" name="Rectangle 24"/>
          <p:cNvSpPr/>
          <p:nvPr/>
        </p:nvSpPr>
        <p:spPr>
          <a:xfrm>
            <a:off x="5212080" y="2880360"/>
            <a:ext cx="22860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03520" y="2926079"/>
            <a:ext cx="2103120" cy="502920"/>
          </a:xfrm>
          <a:prstGeom prst="rect">
            <a:avLst/>
          </a:prstGeom>
          <a:noFill/>
        </p:spPr>
        <p:txBody>
          <a:bodyPr wrap="square">
            <a:spAutoFit/>
          </a:bodyPr>
          <a:lstStyle/>
          <a:p>
            <a:pPr>
              <a:defRPr sz="1000">
                <a:solidFill>
                  <a:srgbClr val="333333"/>
                </a:solidFill>
              </a:defRPr>
            </a:pPr>
            <a:r>
              <a:rPr>
                <a:latin typeface="Arial"/>
              </a:rPr>
              <a:t>Google's servers</a:t>
            </a:r>
          </a:p>
        </p:txBody>
      </p:sp>
      <p:sp>
        <p:nvSpPr>
          <p:cNvPr id="27" name="Rectangle 26"/>
          <p:cNvSpPr/>
          <p:nvPr/>
        </p:nvSpPr>
        <p:spPr>
          <a:xfrm>
            <a:off x="7498079" y="2880360"/>
            <a:ext cx="42062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89519" y="2926079"/>
            <a:ext cx="4023359" cy="502920"/>
          </a:xfrm>
          <a:prstGeom prst="rect">
            <a:avLst/>
          </a:prstGeom>
          <a:noFill/>
        </p:spPr>
        <p:txBody>
          <a:bodyPr wrap="square">
            <a:spAutoFit/>
          </a:bodyPr>
          <a:lstStyle/>
          <a:p>
            <a:pPr>
              <a:defRPr sz="1000">
                <a:solidFill>
                  <a:srgbClr val="333333"/>
                </a:solidFill>
              </a:defRPr>
            </a:pPr>
            <a:r>
              <a:rPr>
                <a:latin typeface="Arial"/>
              </a:rPr>
              <a:t>Nothing — Google handles this entirely</a:t>
            </a:r>
          </a:p>
        </p:txBody>
      </p:sp>
      <p:sp>
        <p:nvSpPr>
          <p:cNvPr id="29" name="Rectangle 28"/>
          <p:cNvSpPr/>
          <p:nvPr/>
        </p:nvSpPr>
        <p:spPr>
          <a:xfrm>
            <a:off x="548640" y="3474720"/>
            <a:ext cx="548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3520439"/>
            <a:ext cx="365759" cy="502920"/>
          </a:xfrm>
          <a:prstGeom prst="rect">
            <a:avLst/>
          </a:prstGeom>
          <a:noFill/>
        </p:spPr>
        <p:txBody>
          <a:bodyPr wrap="square">
            <a:spAutoFit/>
          </a:bodyPr>
          <a:lstStyle/>
          <a:p>
            <a:pPr>
              <a:defRPr sz="1000">
                <a:solidFill>
                  <a:srgbClr val="333333"/>
                </a:solidFill>
              </a:defRPr>
            </a:pPr>
            <a:r>
              <a:rPr>
                <a:latin typeface="Arial"/>
              </a:rPr>
              <a:t>3</a:t>
            </a:r>
          </a:p>
        </p:txBody>
      </p:sp>
      <p:sp>
        <p:nvSpPr>
          <p:cNvPr id="31" name="Rectangle 30"/>
          <p:cNvSpPr/>
          <p:nvPr/>
        </p:nvSpPr>
        <p:spPr>
          <a:xfrm>
            <a:off x="1097280" y="3474720"/>
            <a:ext cx="41148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88720" y="3520439"/>
            <a:ext cx="3931920" cy="502920"/>
          </a:xfrm>
          <a:prstGeom prst="rect">
            <a:avLst/>
          </a:prstGeom>
          <a:noFill/>
        </p:spPr>
        <p:txBody>
          <a:bodyPr wrap="square">
            <a:spAutoFit/>
          </a:bodyPr>
          <a:lstStyle/>
          <a:p>
            <a:pPr>
              <a:defRPr sz="1000">
                <a:solidFill>
                  <a:srgbClr val="333333"/>
                </a:solidFill>
              </a:defRPr>
            </a:pPr>
            <a:r>
              <a:rPr>
                <a:latin typeface="Arial"/>
              </a:rPr>
              <a:t>Google sends back a signed ID card (name, email, profile picture)</a:t>
            </a:r>
          </a:p>
        </p:txBody>
      </p:sp>
      <p:sp>
        <p:nvSpPr>
          <p:cNvPr id="33" name="Rectangle 32"/>
          <p:cNvSpPr/>
          <p:nvPr/>
        </p:nvSpPr>
        <p:spPr>
          <a:xfrm>
            <a:off x="5212080" y="347472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0" y="3520439"/>
            <a:ext cx="2103120" cy="502920"/>
          </a:xfrm>
          <a:prstGeom prst="rect">
            <a:avLst/>
          </a:prstGeom>
          <a:noFill/>
        </p:spPr>
        <p:txBody>
          <a:bodyPr wrap="square">
            <a:spAutoFit/>
          </a:bodyPr>
          <a:lstStyle/>
          <a:p>
            <a:pPr>
              <a:defRPr sz="1000">
                <a:solidFill>
                  <a:srgbClr val="333333"/>
                </a:solidFill>
              </a:defRPr>
            </a:pPr>
            <a:r>
              <a:rPr>
                <a:latin typeface="Arial"/>
              </a:rPr>
              <a:t>Back to your server</a:t>
            </a:r>
          </a:p>
        </p:txBody>
      </p:sp>
      <p:sp>
        <p:nvSpPr>
          <p:cNvPr id="35" name="Rectangle 34"/>
          <p:cNvSpPr/>
          <p:nvPr/>
        </p:nvSpPr>
        <p:spPr>
          <a:xfrm>
            <a:off x="7498079" y="3474720"/>
            <a:ext cx="42062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589519" y="3520439"/>
            <a:ext cx="4023359" cy="502920"/>
          </a:xfrm>
          <a:prstGeom prst="rect">
            <a:avLst/>
          </a:prstGeom>
          <a:noFill/>
        </p:spPr>
        <p:txBody>
          <a:bodyPr wrap="square">
            <a:spAutoFit/>
          </a:bodyPr>
          <a:lstStyle/>
          <a:p>
            <a:pPr>
              <a:defRPr sz="1000">
                <a:solidFill>
                  <a:srgbClr val="333333"/>
                </a:solidFill>
              </a:defRPr>
            </a:pPr>
            <a:r>
              <a:rPr>
                <a:latin typeface="Arial"/>
              </a:rPr>
              <a:t>None yet — the server verifies the ID card is authentic</a:t>
            </a:r>
          </a:p>
        </p:txBody>
      </p:sp>
      <p:sp>
        <p:nvSpPr>
          <p:cNvPr id="37" name="Rectangle 36"/>
          <p:cNvSpPr/>
          <p:nvPr/>
        </p:nvSpPr>
        <p:spPr>
          <a:xfrm>
            <a:off x="548640" y="4069080"/>
            <a:ext cx="5486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4114800"/>
            <a:ext cx="365759" cy="502920"/>
          </a:xfrm>
          <a:prstGeom prst="rect">
            <a:avLst/>
          </a:prstGeom>
          <a:noFill/>
        </p:spPr>
        <p:txBody>
          <a:bodyPr wrap="square">
            <a:spAutoFit/>
          </a:bodyPr>
          <a:lstStyle/>
          <a:p>
            <a:pPr>
              <a:defRPr sz="1000">
                <a:solidFill>
                  <a:srgbClr val="333333"/>
                </a:solidFill>
              </a:defRPr>
            </a:pPr>
            <a:r>
              <a:rPr>
                <a:latin typeface="Arial"/>
              </a:rPr>
              <a:t>4</a:t>
            </a:r>
          </a:p>
        </p:txBody>
      </p:sp>
      <p:sp>
        <p:nvSpPr>
          <p:cNvPr id="39" name="Rectangle 38"/>
          <p:cNvSpPr/>
          <p:nvPr/>
        </p:nvSpPr>
        <p:spPr>
          <a:xfrm>
            <a:off x="1097280" y="4069080"/>
            <a:ext cx="41148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88720" y="4114800"/>
            <a:ext cx="3931920" cy="502920"/>
          </a:xfrm>
          <a:prstGeom prst="rect">
            <a:avLst/>
          </a:prstGeom>
          <a:noFill/>
        </p:spPr>
        <p:txBody>
          <a:bodyPr wrap="square">
            <a:spAutoFit/>
          </a:bodyPr>
          <a:lstStyle/>
          <a:p>
            <a:pPr>
              <a:defRPr sz="1000">
                <a:solidFill>
                  <a:srgbClr val="333333"/>
                </a:solidFill>
              </a:defRPr>
            </a:pPr>
            <a:r>
              <a:rPr>
                <a:latin typeface="Arial"/>
              </a:rPr>
              <a:t>Server creates or updates the customer's account in the database</a:t>
            </a:r>
          </a:p>
        </p:txBody>
      </p:sp>
      <p:sp>
        <p:nvSpPr>
          <p:cNvPr id="41" name="Rectangle 40"/>
          <p:cNvSpPr/>
          <p:nvPr/>
        </p:nvSpPr>
        <p:spPr>
          <a:xfrm>
            <a:off x="5212080" y="4069080"/>
            <a:ext cx="22860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303520" y="4114800"/>
            <a:ext cx="2103120" cy="502920"/>
          </a:xfrm>
          <a:prstGeom prst="rect">
            <a:avLst/>
          </a:prstGeom>
          <a:noFill/>
        </p:spPr>
        <p:txBody>
          <a:bodyPr wrap="square">
            <a:spAutoFit/>
          </a:bodyPr>
          <a:lstStyle/>
          <a:p>
            <a:pPr>
              <a:defRPr sz="1000">
                <a:solidFill>
                  <a:srgbClr val="333333"/>
                </a:solidFill>
              </a:defRPr>
            </a:pPr>
            <a:r>
              <a:rPr>
                <a:latin typeface="Arial"/>
              </a:rPr>
              <a:t>Customer Database (Xano)</a:t>
            </a:r>
          </a:p>
        </p:txBody>
      </p:sp>
      <p:sp>
        <p:nvSpPr>
          <p:cNvPr id="43" name="Rectangle 42"/>
          <p:cNvSpPr/>
          <p:nvPr/>
        </p:nvSpPr>
        <p:spPr>
          <a:xfrm>
            <a:off x="7498079" y="4069080"/>
            <a:ext cx="42062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589519" y="4114800"/>
            <a:ext cx="4023359" cy="502920"/>
          </a:xfrm>
          <a:prstGeom prst="rect">
            <a:avLst/>
          </a:prstGeom>
          <a:noFill/>
        </p:spPr>
        <p:txBody>
          <a:bodyPr wrap="square">
            <a:spAutoFit/>
          </a:bodyPr>
          <a:lstStyle/>
          <a:p>
            <a:pPr>
              <a:defRPr sz="1000">
                <a:solidFill>
                  <a:srgbClr val="333333"/>
                </a:solidFill>
              </a:defRPr>
            </a:pPr>
            <a:r>
              <a:rPr>
                <a:latin typeface="Arial"/>
              </a:rPr>
              <a:t>Account record, Google ID, profile picture, login method</a:t>
            </a:r>
          </a:p>
        </p:txBody>
      </p:sp>
      <p:sp>
        <p:nvSpPr>
          <p:cNvPr id="45" name="Rectangle 44"/>
          <p:cNvSpPr/>
          <p:nvPr/>
        </p:nvSpPr>
        <p:spPr>
          <a:xfrm>
            <a:off x="548640" y="4663440"/>
            <a:ext cx="548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4709159"/>
            <a:ext cx="365759" cy="502920"/>
          </a:xfrm>
          <a:prstGeom prst="rect">
            <a:avLst/>
          </a:prstGeom>
          <a:noFill/>
        </p:spPr>
        <p:txBody>
          <a:bodyPr wrap="square">
            <a:spAutoFit/>
          </a:bodyPr>
          <a:lstStyle/>
          <a:p>
            <a:pPr>
              <a:defRPr sz="1000">
                <a:solidFill>
                  <a:srgbClr val="333333"/>
                </a:solidFill>
              </a:defRPr>
            </a:pPr>
            <a:r>
              <a:rPr>
                <a:latin typeface="Arial"/>
              </a:rPr>
              <a:t>5</a:t>
            </a:r>
          </a:p>
        </p:txBody>
      </p:sp>
      <p:sp>
        <p:nvSpPr>
          <p:cNvPr id="47" name="Rectangle 46"/>
          <p:cNvSpPr/>
          <p:nvPr/>
        </p:nvSpPr>
        <p:spPr>
          <a:xfrm>
            <a:off x="1097280" y="4663440"/>
            <a:ext cx="41148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88720" y="4709159"/>
            <a:ext cx="3931920" cy="502920"/>
          </a:xfrm>
          <a:prstGeom prst="rect">
            <a:avLst/>
          </a:prstGeom>
          <a:noFill/>
        </p:spPr>
        <p:txBody>
          <a:bodyPr wrap="square">
            <a:spAutoFit/>
          </a:bodyPr>
          <a:lstStyle/>
          <a:p>
            <a:pPr>
              <a:defRPr sz="1000">
                <a:solidFill>
                  <a:srgbClr val="333333"/>
                </a:solidFill>
              </a:defRPr>
            </a:pPr>
            <a:r>
              <a:rPr>
                <a:latin typeface="Arial"/>
              </a:rPr>
              <a:t>Server logs the consent event in the audit trail</a:t>
            </a:r>
          </a:p>
        </p:txBody>
      </p:sp>
      <p:sp>
        <p:nvSpPr>
          <p:cNvPr id="49" name="Rectangle 48"/>
          <p:cNvSpPr/>
          <p:nvPr/>
        </p:nvSpPr>
        <p:spPr>
          <a:xfrm>
            <a:off x="5212080" y="466344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303520" y="4709159"/>
            <a:ext cx="2103120" cy="502920"/>
          </a:xfrm>
          <a:prstGeom prst="rect">
            <a:avLst/>
          </a:prstGeom>
          <a:noFill/>
        </p:spPr>
        <p:txBody>
          <a:bodyPr wrap="square">
            <a:spAutoFit/>
          </a:bodyPr>
          <a:lstStyle/>
          <a:p>
            <a:pPr>
              <a:defRPr sz="1000">
                <a:solidFill>
                  <a:srgbClr val="333333"/>
                </a:solidFill>
              </a:defRPr>
            </a:pPr>
            <a:r>
              <a:rPr>
                <a:latin typeface="Arial"/>
              </a:rPr>
              <a:t>Consent Records (Xano)</a:t>
            </a:r>
          </a:p>
        </p:txBody>
      </p:sp>
      <p:sp>
        <p:nvSpPr>
          <p:cNvPr id="51" name="Rectangle 50"/>
          <p:cNvSpPr/>
          <p:nvPr/>
        </p:nvSpPr>
        <p:spPr>
          <a:xfrm>
            <a:off x="7498079" y="4663440"/>
            <a:ext cx="42062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589519" y="4709159"/>
            <a:ext cx="4023359" cy="502920"/>
          </a:xfrm>
          <a:prstGeom prst="rect">
            <a:avLst/>
          </a:prstGeom>
          <a:noFill/>
        </p:spPr>
        <p:txBody>
          <a:bodyPr wrap="square">
            <a:spAutoFit/>
          </a:bodyPr>
          <a:lstStyle/>
          <a:p>
            <a:pPr>
              <a:defRPr sz="1000">
                <a:solidFill>
                  <a:srgbClr val="333333"/>
                </a:solidFill>
              </a:defRPr>
            </a:pPr>
            <a:r>
              <a:rPr>
                <a:latin typeface="Arial"/>
              </a:rPr>
              <a:t>Timestamp, method: 'Google login', browser info</a:t>
            </a:r>
          </a:p>
        </p:txBody>
      </p:sp>
      <p:sp>
        <p:nvSpPr>
          <p:cNvPr id="53" name="Rectangle 52"/>
          <p:cNvSpPr/>
          <p:nvPr/>
        </p:nvSpPr>
        <p:spPr>
          <a:xfrm>
            <a:off x="548640" y="5257800"/>
            <a:ext cx="5486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 y="5303520"/>
            <a:ext cx="365759" cy="502920"/>
          </a:xfrm>
          <a:prstGeom prst="rect">
            <a:avLst/>
          </a:prstGeom>
          <a:noFill/>
        </p:spPr>
        <p:txBody>
          <a:bodyPr wrap="square">
            <a:spAutoFit/>
          </a:bodyPr>
          <a:lstStyle/>
          <a:p>
            <a:pPr>
              <a:defRPr sz="1000">
                <a:solidFill>
                  <a:srgbClr val="333333"/>
                </a:solidFill>
              </a:defRPr>
            </a:pPr>
            <a:r>
              <a:rPr>
                <a:latin typeface="Arial"/>
              </a:rPr>
              <a:t>6</a:t>
            </a:r>
          </a:p>
        </p:txBody>
      </p:sp>
      <p:sp>
        <p:nvSpPr>
          <p:cNvPr id="55" name="Rectangle 54"/>
          <p:cNvSpPr/>
          <p:nvPr/>
        </p:nvSpPr>
        <p:spPr>
          <a:xfrm>
            <a:off x="1097280" y="5257800"/>
            <a:ext cx="41148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188720" y="5303520"/>
            <a:ext cx="3931920" cy="502920"/>
          </a:xfrm>
          <a:prstGeom prst="rect">
            <a:avLst/>
          </a:prstGeom>
          <a:noFill/>
        </p:spPr>
        <p:txBody>
          <a:bodyPr wrap="square">
            <a:spAutoFit/>
          </a:bodyPr>
          <a:lstStyle/>
          <a:p>
            <a:pPr>
              <a:defRPr sz="1000">
                <a:solidFill>
                  <a:srgbClr val="333333"/>
                </a:solidFill>
              </a:defRPr>
            </a:pPr>
            <a:r>
              <a:rPr>
                <a:latin typeface="Arial"/>
              </a:rPr>
              <a:t>Server syncs the customer to all connected services in real time</a:t>
            </a:r>
          </a:p>
        </p:txBody>
      </p:sp>
      <p:sp>
        <p:nvSpPr>
          <p:cNvPr id="57" name="Rectangle 56"/>
          <p:cNvSpPr/>
          <p:nvPr/>
        </p:nvSpPr>
        <p:spPr>
          <a:xfrm>
            <a:off x="5212080" y="5257800"/>
            <a:ext cx="22860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303520" y="5303520"/>
            <a:ext cx="2103120" cy="502920"/>
          </a:xfrm>
          <a:prstGeom prst="rect">
            <a:avLst/>
          </a:prstGeom>
          <a:noFill/>
        </p:spPr>
        <p:txBody>
          <a:bodyPr wrap="square">
            <a:spAutoFit/>
          </a:bodyPr>
          <a:lstStyle/>
          <a:p>
            <a:pPr>
              <a:defRPr sz="1000">
                <a:solidFill>
                  <a:srgbClr val="333333"/>
                </a:solidFill>
              </a:defRPr>
            </a:pPr>
            <a:r>
              <a:rPr>
                <a:latin typeface="Arial"/>
              </a:rPr>
              <a:t>Webflow, Shopify, GA4, Adobe</a:t>
            </a:r>
          </a:p>
        </p:txBody>
      </p:sp>
      <p:sp>
        <p:nvSpPr>
          <p:cNvPr id="59" name="Rectangle 58"/>
          <p:cNvSpPr/>
          <p:nvPr/>
        </p:nvSpPr>
        <p:spPr>
          <a:xfrm>
            <a:off x="7498079" y="5257800"/>
            <a:ext cx="42062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589519" y="5303520"/>
            <a:ext cx="4023359" cy="502920"/>
          </a:xfrm>
          <a:prstGeom prst="rect">
            <a:avLst/>
          </a:prstGeom>
          <a:noFill/>
        </p:spPr>
        <p:txBody>
          <a:bodyPr wrap="square">
            <a:spAutoFit/>
          </a:bodyPr>
          <a:lstStyle/>
          <a:p>
            <a:pPr>
              <a:defRPr sz="1000">
                <a:solidFill>
                  <a:srgbClr val="333333"/>
                </a:solidFill>
              </a:defRPr>
            </a:pPr>
            <a:r>
              <a:rPr>
                <a:latin typeface="Arial"/>
              </a:rPr>
              <a:t>Customer tags, profile, consent status, analytics properties</a:t>
            </a:r>
          </a:p>
        </p:txBody>
      </p:sp>
      <p:sp>
        <p:nvSpPr>
          <p:cNvPr id="61" name="Rectangle 60"/>
          <p:cNvSpPr/>
          <p:nvPr/>
        </p:nvSpPr>
        <p:spPr>
          <a:xfrm>
            <a:off x="548640" y="5852160"/>
            <a:ext cx="548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5897880"/>
            <a:ext cx="365759" cy="502920"/>
          </a:xfrm>
          <a:prstGeom prst="rect">
            <a:avLst/>
          </a:prstGeom>
          <a:noFill/>
        </p:spPr>
        <p:txBody>
          <a:bodyPr wrap="square">
            <a:spAutoFit/>
          </a:bodyPr>
          <a:lstStyle/>
          <a:p>
            <a:pPr>
              <a:defRPr sz="1000">
                <a:solidFill>
                  <a:srgbClr val="333333"/>
                </a:solidFill>
              </a:defRPr>
            </a:pPr>
            <a:r>
              <a:rPr>
                <a:latin typeface="Arial"/>
              </a:rPr>
              <a:t>7</a:t>
            </a:r>
          </a:p>
        </p:txBody>
      </p:sp>
      <p:sp>
        <p:nvSpPr>
          <p:cNvPr id="63" name="Rectangle 62"/>
          <p:cNvSpPr/>
          <p:nvPr/>
        </p:nvSpPr>
        <p:spPr>
          <a:xfrm>
            <a:off x="1097280" y="5852160"/>
            <a:ext cx="41148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88720" y="5897880"/>
            <a:ext cx="3931920" cy="502920"/>
          </a:xfrm>
          <a:prstGeom prst="rect">
            <a:avLst/>
          </a:prstGeom>
          <a:noFill/>
        </p:spPr>
        <p:txBody>
          <a:bodyPr wrap="square">
            <a:spAutoFit/>
          </a:bodyPr>
          <a:lstStyle/>
          <a:p>
            <a:pPr>
              <a:defRPr sz="1000">
                <a:solidFill>
                  <a:srgbClr val="333333"/>
                </a:solidFill>
              </a:defRPr>
            </a:pPr>
            <a:r>
              <a:rPr>
                <a:latin typeface="Arial"/>
              </a:rPr>
              <a:t>Customer is redirected back to your website, now logged in</a:t>
            </a:r>
          </a:p>
        </p:txBody>
      </p:sp>
      <p:sp>
        <p:nvSpPr>
          <p:cNvPr id="65" name="Rectangle 64"/>
          <p:cNvSpPr/>
          <p:nvPr/>
        </p:nvSpPr>
        <p:spPr>
          <a:xfrm>
            <a:off x="5212080" y="585216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303520" y="5897880"/>
            <a:ext cx="2103120" cy="502920"/>
          </a:xfrm>
          <a:prstGeom prst="rect">
            <a:avLst/>
          </a:prstGeom>
          <a:noFill/>
        </p:spPr>
        <p:txBody>
          <a:bodyPr wrap="square">
            <a:spAutoFit/>
          </a:bodyPr>
          <a:lstStyle/>
          <a:p>
            <a:pPr>
              <a:defRPr sz="1000">
                <a:solidFill>
                  <a:srgbClr val="333333"/>
                </a:solidFill>
              </a:defRPr>
            </a:pPr>
            <a:r>
              <a:rPr>
                <a:latin typeface="Arial"/>
              </a:rPr>
              <a:t>Your website</a:t>
            </a:r>
          </a:p>
        </p:txBody>
      </p:sp>
      <p:sp>
        <p:nvSpPr>
          <p:cNvPr id="67" name="Rectangle 66"/>
          <p:cNvSpPr/>
          <p:nvPr/>
        </p:nvSpPr>
        <p:spPr>
          <a:xfrm>
            <a:off x="7498079" y="5852160"/>
            <a:ext cx="42062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589519" y="5897880"/>
            <a:ext cx="4023359" cy="502920"/>
          </a:xfrm>
          <a:prstGeom prst="rect">
            <a:avLst/>
          </a:prstGeom>
          <a:noFill/>
        </p:spPr>
        <p:txBody>
          <a:bodyPr wrap="square">
            <a:spAutoFit/>
          </a:bodyPr>
          <a:lstStyle/>
          <a:p>
            <a:pPr>
              <a:defRPr sz="1000">
                <a:solidFill>
                  <a:srgbClr val="333333"/>
                </a:solidFill>
              </a:defRPr>
            </a:pPr>
            <a:r>
              <a:rPr>
                <a:latin typeface="Arial"/>
              </a:rPr>
              <a:t>Secure session cookie (expires in 7 days)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Sign In with Shopify — Step by Step</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defRPr>
            </a:pPr>
            <a:r>
              <a:rPr>
                <a:latin typeface="Arial"/>
              </a:rPr>
              <a:t>When a customer clicks 'Sign in with Shopify,' they verify their identity through Shopify's own login. This uses an extra security step called PKCE — a fresh one-time secret is created for every login attempt, so intercepted login codes are useless to attackers.</a:t>
            </a:r>
          </a:p>
        </p:txBody>
      </p:sp>
      <p:sp>
        <p:nvSpPr>
          <p:cNvPr id="5" name="Rectangle 4"/>
          <p:cNvSpPr/>
          <p:nvPr/>
        </p:nvSpPr>
        <p:spPr>
          <a:xfrm>
            <a:off x="548640" y="1828800"/>
            <a:ext cx="54864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01952"/>
            <a:ext cx="365759" cy="320040"/>
          </a:xfrm>
          <a:prstGeom prst="rect">
            <a:avLst/>
          </a:prstGeom>
          <a:noFill/>
        </p:spPr>
        <p:txBody>
          <a:bodyPr wrap="square">
            <a:spAutoFit/>
          </a:bodyPr>
          <a:lstStyle/>
          <a:p>
            <a:pPr>
              <a:defRPr sz="1100" b="1">
                <a:solidFill>
                  <a:srgbClr val="FFFFFF"/>
                </a:solidFill>
              </a:defRPr>
            </a:pPr>
            <a:r>
              <a:rPr>
                <a:latin typeface="Arial"/>
              </a:rPr>
              <a:t>Step</a:t>
            </a:r>
          </a:p>
        </p:txBody>
      </p:sp>
      <p:sp>
        <p:nvSpPr>
          <p:cNvPr id="7" name="Rectangle 6"/>
          <p:cNvSpPr/>
          <p:nvPr/>
        </p:nvSpPr>
        <p:spPr>
          <a:xfrm>
            <a:off x="1097280" y="1828800"/>
            <a:ext cx="41148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1901952"/>
            <a:ext cx="3931920" cy="320040"/>
          </a:xfrm>
          <a:prstGeom prst="rect">
            <a:avLst/>
          </a:prstGeom>
          <a:noFill/>
        </p:spPr>
        <p:txBody>
          <a:bodyPr wrap="square">
            <a:spAutoFit/>
          </a:bodyPr>
          <a:lstStyle/>
          <a:p>
            <a:pPr>
              <a:defRPr sz="1100" b="1">
                <a:solidFill>
                  <a:srgbClr val="FFFFFF"/>
                </a:solidFill>
              </a:defRPr>
            </a:pPr>
            <a:r>
              <a:rPr>
                <a:latin typeface="Arial"/>
              </a:rPr>
              <a:t>What Happens</a:t>
            </a:r>
          </a:p>
        </p:txBody>
      </p:sp>
      <p:sp>
        <p:nvSpPr>
          <p:cNvPr id="9" name="Rectangle 8"/>
          <p:cNvSpPr/>
          <p:nvPr/>
        </p:nvSpPr>
        <p:spPr>
          <a:xfrm>
            <a:off x="5212080" y="1828800"/>
            <a:ext cx="2286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0" y="1901952"/>
            <a:ext cx="2103120" cy="320040"/>
          </a:xfrm>
          <a:prstGeom prst="rect">
            <a:avLst/>
          </a:prstGeom>
          <a:noFill/>
        </p:spPr>
        <p:txBody>
          <a:bodyPr wrap="square">
            <a:spAutoFit/>
          </a:bodyPr>
          <a:lstStyle/>
          <a:p>
            <a:pPr>
              <a:defRPr sz="1100" b="1">
                <a:solidFill>
                  <a:srgbClr val="FFFFFF"/>
                </a:solidFill>
              </a:defRPr>
            </a:pPr>
            <a:r>
              <a:rPr>
                <a:latin typeface="Arial"/>
              </a:rPr>
              <a:t>Where</a:t>
            </a:r>
          </a:p>
        </p:txBody>
      </p:sp>
      <p:sp>
        <p:nvSpPr>
          <p:cNvPr id="11" name="Rectangle 10"/>
          <p:cNvSpPr/>
          <p:nvPr/>
        </p:nvSpPr>
        <p:spPr>
          <a:xfrm>
            <a:off x="7498079" y="1828800"/>
            <a:ext cx="420624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19" y="1901952"/>
            <a:ext cx="4023359" cy="320040"/>
          </a:xfrm>
          <a:prstGeom prst="rect">
            <a:avLst/>
          </a:prstGeom>
          <a:noFill/>
        </p:spPr>
        <p:txBody>
          <a:bodyPr wrap="square">
            <a:spAutoFit/>
          </a:bodyPr>
          <a:lstStyle/>
          <a:p>
            <a:pPr>
              <a:defRPr sz="1100" b="1">
                <a:solidFill>
                  <a:srgbClr val="FFFFFF"/>
                </a:solidFill>
              </a:defRPr>
            </a:pPr>
            <a:r>
              <a:rPr>
                <a:latin typeface="Arial"/>
              </a:rPr>
              <a:t>Data Written</a:t>
            </a:r>
          </a:p>
        </p:txBody>
      </p:sp>
      <p:sp>
        <p:nvSpPr>
          <p:cNvPr id="13" name="Rectangle 12"/>
          <p:cNvSpPr/>
          <p:nvPr/>
        </p:nvSpPr>
        <p:spPr>
          <a:xfrm>
            <a:off x="548640" y="2286000"/>
            <a:ext cx="548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331720"/>
            <a:ext cx="365759" cy="502920"/>
          </a:xfrm>
          <a:prstGeom prst="rect">
            <a:avLst/>
          </a:prstGeom>
          <a:noFill/>
        </p:spPr>
        <p:txBody>
          <a:bodyPr wrap="square">
            <a:spAutoFit/>
          </a:bodyPr>
          <a:lstStyle/>
          <a:p>
            <a:pPr>
              <a:defRPr sz="1000">
                <a:solidFill>
                  <a:srgbClr val="333333"/>
                </a:solidFill>
              </a:defRPr>
            </a:pPr>
            <a:r>
              <a:rPr>
                <a:latin typeface="Arial"/>
              </a:rPr>
              <a:t>1</a:t>
            </a:r>
          </a:p>
        </p:txBody>
      </p:sp>
      <p:sp>
        <p:nvSpPr>
          <p:cNvPr id="15" name="Rectangle 14"/>
          <p:cNvSpPr/>
          <p:nvPr/>
        </p:nvSpPr>
        <p:spPr>
          <a:xfrm>
            <a:off x="1097280" y="2286000"/>
            <a:ext cx="41148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2331720"/>
            <a:ext cx="3931920" cy="502920"/>
          </a:xfrm>
          <a:prstGeom prst="rect">
            <a:avLst/>
          </a:prstGeom>
          <a:noFill/>
        </p:spPr>
        <p:txBody>
          <a:bodyPr wrap="square">
            <a:spAutoFit/>
          </a:bodyPr>
          <a:lstStyle/>
          <a:p>
            <a:pPr>
              <a:defRPr sz="1000">
                <a:solidFill>
                  <a:srgbClr val="333333"/>
                </a:solidFill>
              </a:defRPr>
            </a:pPr>
            <a:r>
              <a:rPr>
                <a:latin typeface="Arial"/>
              </a:rPr>
              <a:t>Customer clicks 'Sign in with Shopify' on your website</a:t>
            </a:r>
          </a:p>
        </p:txBody>
      </p:sp>
      <p:sp>
        <p:nvSpPr>
          <p:cNvPr id="17" name="Rectangle 16"/>
          <p:cNvSpPr/>
          <p:nvPr/>
        </p:nvSpPr>
        <p:spPr>
          <a:xfrm>
            <a:off x="5212080" y="228600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0" y="2331720"/>
            <a:ext cx="2103120" cy="502920"/>
          </a:xfrm>
          <a:prstGeom prst="rect">
            <a:avLst/>
          </a:prstGeom>
          <a:noFill/>
        </p:spPr>
        <p:txBody>
          <a:bodyPr wrap="square">
            <a:spAutoFit/>
          </a:bodyPr>
          <a:lstStyle/>
          <a:p>
            <a:pPr>
              <a:defRPr sz="1000">
                <a:solidFill>
                  <a:srgbClr val="333333"/>
                </a:solidFill>
              </a:defRPr>
            </a:pPr>
            <a:r>
              <a:rPr>
                <a:latin typeface="Arial"/>
              </a:rPr>
              <a:t>Your website</a:t>
            </a:r>
          </a:p>
        </p:txBody>
      </p:sp>
      <p:sp>
        <p:nvSpPr>
          <p:cNvPr id="19" name="Rectangle 18"/>
          <p:cNvSpPr/>
          <p:nvPr/>
        </p:nvSpPr>
        <p:spPr>
          <a:xfrm>
            <a:off x="7498079" y="2286000"/>
            <a:ext cx="42062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19" y="2331720"/>
            <a:ext cx="4023359" cy="502920"/>
          </a:xfrm>
          <a:prstGeom prst="rect">
            <a:avLst/>
          </a:prstGeom>
          <a:noFill/>
        </p:spPr>
        <p:txBody>
          <a:bodyPr wrap="square">
            <a:spAutoFit/>
          </a:bodyPr>
          <a:lstStyle/>
          <a:p>
            <a:pPr>
              <a:defRPr sz="1000">
                <a:solidFill>
                  <a:srgbClr val="333333"/>
                </a:solidFill>
              </a:defRPr>
            </a:pPr>
            <a:r>
              <a:rPr>
                <a:latin typeface="Arial"/>
              </a:rPr>
              <a:t>One-time secret created and stored (expires in 5 minutes)</a:t>
            </a:r>
          </a:p>
        </p:txBody>
      </p:sp>
      <p:sp>
        <p:nvSpPr>
          <p:cNvPr id="21" name="Rectangle 20"/>
          <p:cNvSpPr/>
          <p:nvPr/>
        </p:nvSpPr>
        <p:spPr>
          <a:xfrm>
            <a:off x="548640" y="2880360"/>
            <a:ext cx="5486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2926079"/>
            <a:ext cx="365759" cy="502920"/>
          </a:xfrm>
          <a:prstGeom prst="rect">
            <a:avLst/>
          </a:prstGeom>
          <a:noFill/>
        </p:spPr>
        <p:txBody>
          <a:bodyPr wrap="square">
            <a:spAutoFit/>
          </a:bodyPr>
          <a:lstStyle/>
          <a:p>
            <a:pPr>
              <a:defRPr sz="1000">
                <a:solidFill>
                  <a:srgbClr val="333333"/>
                </a:solidFill>
              </a:defRPr>
            </a:pPr>
            <a:r>
              <a:rPr>
                <a:latin typeface="Arial"/>
              </a:rPr>
              <a:t>2</a:t>
            </a:r>
          </a:p>
        </p:txBody>
      </p:sp>
      <p:sp>
        <p:nvSpPr>
          <p:cNvPr id="23" name="Rectangle 22"/>
          <p:cNvSpPr/>
          <p:nvPr/>
        </p:nvSpPr>
        <p:spPr>
          <a:xfrm>
            <a:off x="1097280" y="2880360"/>
            <a:ext cx="41148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88720" y="2926079"/>
            <a:ext cx="3931920" cy="502920"/>
          </a:xfrm>
          <a:prstGeom prst="rect">
            <a:avLst/>
          </a:prstGeom>
          <a:noFill/>
        </p:spPr>
        <p:txBody>
          <a:bodyPr wrap="square">
            <a:spAutoFit/>
          </a:bodyPr>
          <a:lstStyle/>
          <a:p>
            <a:pPr>
              <a:defRPr sz="1000">
                <a:solidFill>
                  <a:srgbClr val="333333"/>
                </a:solidFill>
              </a:defRPr>
            </a:pPr>
            <a:r>
              <a:rPr>
                <a:latin typeface="Arial"/>
              </a:rPr>
              <a:t>A puzzle based on that secret is sent to Shopify (the secret itself is never sent)</a:t>
            </a:r>
          </a:p>
        </p:txBody>
      </p:sp>
      <p:sp>
        <p:nvSpPr>
          <p:cNvPr id="25" name="Rectangle 24"/>
          <p:cNvSpPr/>
          <p:nvPr/>
        </p:nvSpPr>
        <p:spPr>
          <a:xfrm>
            <a:off x="5212080" y="2880360"/>
            <a:ext cx="22860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03520" y="2926079"/>
            <a:ext cx="2103120" cy="502920"/>
          </a:xfrm>
          <a:prstGeom prst="rect">
            <a:avLst/>
          </a:prstGeom>
          <a:noFill/>
        </p:spPr>
        <p:txBody>
          <a:bodyPr wrap="square">
            <a:spAutoFit/>
          </a:bodyPr>
          <a:lstStyle/>
          <a:p>
            <a:pPr>
              <a:defRPr sz="1000">
                <a:solidFill>
                  <a:srgbClr val="333333"/>
                </a:solidFill>
              </a:defRPr>
            </a:pPr>
            <a:r>
              <a:rPr>
                <a:latin typeface="Arial"/>
              </a:rPr>
              <a:t>Your server → Shopify</a:t>
            </a:r>
          </a:p>
        </p:txBody>
      </p:sp>
      <p:sp>
        <p:nvSpPr>
          <p:cNvPr id="27" name="Rectangle 26"/>
          <p:cNvSpPr/>
          <p:nvPr/>
        </p:nvSpPr>
        <p:spPr>
          <a:xfrm>
            <a:off x="7498079" y="2880360"/>
            <a:ext cx="42062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89519" y="2926079"/>
            <a:ext cx="4023359" cy="502920"/>
          </a:xfrm>
          <a:prstGeom prst="rect">
            <a:avLst/>
          </a:prstGeom>
          <a:noFill/>
        </p:spPr>
        <p:txBody>
          <a:bodyPr wrap="square">
            <a:spAutoFit/>
          </a:bodyPr>
          <a:lstStyle/>
          <a:p>
            <a:pPr>
              <a:defRPr sz="1000">
                <a:solidFill>
                  <a:srgbClr val="333333"/>
                </a:solidFill>
              </a:defRPr>
            </a:pPr>
            <a:r>
              <a:rPr>
                <a:latin typeface="Arial"/>
              </a:rPr>
              <a:t>Anti-forgery token stored (expires in 10 minutes)</a:t>
            </a:r>
          </a:p>
        </p:txBody>
      </p:sp>
      <p:sp>
        <p:nvSpPr>
          <p:cNvPr id="29" name="Rectangle 28"/>
          <p:cNvSpPr/>
          <p:nvPr/>
        </p:nvSpPr>
        <p:spPr>
          <a:xfrm>
            <a:off x="548640" y="3474720"/>
            <a:ext cx="548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3520439"/>
            <a:ext cx="365759" cy="502920"/>
          </a:xfrm>
          <a:prstGeom prst="rect">
            <a:avLst/>
          </a:prstGeom>
          <a:noFill/>
        </p:spPr>
        <p:txBody>
          <a:bodyPr wrap="square">
            <a:spAutoFit/>
          </a:bodyPr>
          <a:lstStyle/>
          <a:p>
            <a:pPr>
              <a:defRPr sz="1000">
                <a:solidFill>
                  <a:srgbClr val="333333"/>
                </a:solidFill>
              </a:defRPr>
            </a:pPr>
            <a:r>
              <a:rPr>
                <a:latin typeface="Arial"/>
              </a:rPr>
              <a:t>3</a:t>
            </a:r>
          </a:p>
        </p:txBody>
      </p:sp>
      <p:sp>
        <p:nvSpPr>
          <p:cNvPr id="31" name="Rectangle 30"/>
          <p:cNvSpPr/>
          <p:nvPr/>
        </p:nvSpPr>
        <p:spPr>
          <a:xfrm>
            <a:off x="1097280" y="3474720"/>
            <a:ext cx="41148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88720" y="3520439"/>
            <a:ext cx="3931920" cy="502920"/>
          </a:xfrm>
          <a:prstGeom prst="rect">
            <a:avLst/>
          </a:prstGeom>
          <a:noFill/>
        </p:spPr>
        <p:txBody>
          <a:bodyPr wrap="square">
            <a:spAutoFit/>
          </a:bodyPr>
          <a:lstStyle/>
          <a:p>
            <a:pPr>
              <a:defRPr sz="1000">
                <a:solidFill>
                  <a:srgbClr val="333333"/>
                </a:solidFill>
              </a:defRPr>
            </a:pPr>
            <a:r>
              <a:rPr>
                <a:latin typeface="Arial"/>
              </a:rPr>
              <a:t>Customer logs in on Shopify's page and approves the connection</a:t>
            </a:r>
          </a:p>
        </p:txBody>
      </p:sp>
      <p:sp>
        <p:nvSpPr>
          <p:cNvPr id="33" name="Rectangle 32"/>
          <p:cNvSpPr/>
          <p:nvPr/>
        </p:nvSpPr>
        <p:spPr>
          <a:xfrm>
            <a:off x="5212080" y="347472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0" y="3520439"/>
            <a:ext cx="2103120" cy="502920"/>
          </a:xfrm>
          <a:prstGeom prst="rect">
            <a:avLst/>
          </a:prstGeom>
          <a:noFill/>
        </p:spPr>
        <p:txBody>
          <a:bodyPr wrap="square">
            <a:spAutoFit/>
          </a:bodyPr>
          <a:lstStyle/>
          <a:p>
            <a:pPr>
              <a:defRPr sz="1000">
                <a:solidFill>
                  <a:srgbClr val="333333"/>
                </a:solidFill>
              </a:defRPr>
            </a:pPr>
            <a:r>
              <a:rPr>
                <a:latin typeface="Arial"/>
              </a:rPr>
              <a:t>Shopify's servers</a:t>
            </a:r>
          </a:p>
        </p:txBody>
      </p:sp>
      <p:sp>
        <p:nvSpPr>
          <p:cNvPr id="35" name="Rectangle 34"/>
          <p:cNvSpPr/>
          <p:nvPr/>
        </p:nvSpPr>
        <p:spPr>
          <a:xfrm>
            <a:off x="7498079" y="3474720"/>
            <a:ext cx="42062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589519" y="3520439"/>
            <a:ext cx="4023359" cy="502920"/>
          </a:xfrm>
          <a:prstGeom prst="rect">
            <a:avLst/>
          </a:prstGeom>
          <a:noFill/>
        </p:spPr>
        <p:txBody>
          <a:bodyPr wrap="square">
            <a:spAutoFit/>
          </a:bodyPr>
          <a:lstStyle/>
          <a:p>
            <a:pPr>
              <a:defRPr sz="1000">
                <a:solidFill>
                  <a:srgbClr val="333333"/>
                </a:solidFill>
              </a:defRPr>
            </a:pPr>
            <a:r>
              <a:rPr>
                <a:latin typeface="Arial"/>
              </a:rPr>
              <a:t>Nothing — Shopify handles this entirely</a:t>
            </a:r>
          </a:p>
        </p:txBody>
      </p:sp>
      <p:sp>
        <p:nvSpPr>
          <p:cNvPr id="37" name="Rectangle 36"/>
          <p:cNvSpPr/>
          <p:nvPr/>
        </p:nvSpPr>
        <p:spPr>
          <a:xfrm>
            <a:off x="548640" y="4069080"/>
            <a:ext cx="5486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4114800"/>
            <a:ext cx="365759" cy="502920"/>
          </a:xfrm>
          <a:prstGeom prst="rect">
            <a:avLst/>
          </a:prstGeom>
          <a:noFill/>
        </p:spPr>
        <p:txBody>
          <a:bodyPr wrap="square">
            <a:spAutoFit/>
          </a:bodyPr>
          <a:lstStyle/>
          <a:p>
            <a:pPr>
              <a:defRPr sz="1000">
                <a:solidFill>
                  <a:srgbClr val="333333"/>
                </a:solidFill>
              </a:defRPr>
            </a:pPr>
            <a:r>
              <a:rPr>
                <a:latin typeface="Arial"/>
              </a:rPr>
              <a:t>4</a:t>
            </a:r>
          </a:p>
        </p:txBody>
      </p:sp>
      <p:sp>
        <p:nvSpPr>
          <p:cNvPr id="39" name="Rectangle 38"/>
          <p:cNvSpPr/>
          <p:nvPr/>
        </p:nvSpPr>
        <p:spPr>
          <a:xfrm>
            <a:off x="1097280" y="4069080"/>
            <a:ext cx="41148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88720" y="4114800"/>
            <a:ext cx="3931920" cy="502920"/>
          </a:xfrm>
          <a:prstGeom prst="rect">
            <a:avLst/>
          </a:prstGeom>
          <a:noFill/>
        </p:spPr>
        <p:txBody>
          <a:bodyPr wrap="square">
            <a:spAutoFit/>
          </a:bodyPr>
          <a:lstStyle/>
          <a:p>
            <a:pPr>
              <a:defRPr sz="1000">
                <a:solidFill>
                  <a:srgbClr val="333333"/>
                </a:solidFill>
              </a:defRPr>
            </a:pPr>
            <a:r>
              <a:rPr>
                <a:latin typeface="Arial"/>
              </a:rPr>
              <a:t>Shopify sends back a login code. Server proves identity by revealing the original secret.</a:t>
            </a:r>
          </a:p>
        </p:txBody>
      </p:sp>
      <p:sp>
        <p:nvSpPr>
          <p:cNvPr id="41" name="Rectangle 40"/>
          <p:cNvSpPr/>
          <p:nvPr/>
        </p:nvSpPr>
        <p:spPr>
          <a:xfrm>
            <a:off x="5212080" y="4069080"/>
            <a:ext cx="22860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303520" y="4114800"/>
            <a:ext cx="2103120" cy="502920"/>
          </a:xfrm>
          <a:prstGeom prst="rect">
            <a:avLst/>
          </a:prstGeom>
          <a:noFill/>
        </p:spPr>
        <p:txBody>
          <a:bodyPr wrap="square">
            <a:spAutoFit/>
          </a:bodyPr>
          <a:lstStyle/>
          <a:p>
            <a:pPr>
              <a:defRPr sz="1000">
                <a:solidFill>
                  <a:srgbClr val="333333"/>
                </a:solidFill>
              </a:defRPr>
            </a:pPr>
            <a:r>
              <a:rPr>
                <a:latin typeface="Arial"/>
              </a:rPr>
              <a:t>Back to your server</a:t>
            </a:r>
          </a:p>
        </p:txBody>
      </p:sp>
      <p:sp>
        <p:nvSpPr>
          <p:cNvPr id="43" name="Rectangle 42"/>
          <p:cNvSpPr/>
          <p:nvPr/>
        </p:nvSpPr>
        <p:spPr>
          <a:xfrm>
            <a:off x="7498079" y="4069080"/>
            <a:ext cx="42062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589519" y="4114800"/>
            <a:ext cx="4023359" cy="502920"/>
          </a:xfrm>
          <a:prstGeom prst="rect">
            <a:avLst/>
          </a:prstGeom>
          <a:noFill/>
        </p:spPr>
        <p:txBody>
          <a:bodyPr wrap="square">
            <a:spAutoFit/>
          </a:bodyPr>
          <a:lstStyle/>
          <a:p>
            <a:pPr>
              <a:defRPr sz="1000">
                <a:solidFill>
                  <a:srgbClr val="333333"/>
                </a:solidFill>
              </a:defRPr>
            </a:pPr>
            <a:r>
              <a:rPr>
                <a:latin typeface="Arial"/>
              </a:rPr>
              <a:t>None yet — the server verifies the secret matches the puzzle</a:t>
            </a:r>
          </a:p>
        </p:txBody>
      </p:sp>
      <p:sp>
        <p:nvSpPr>
          <p:cNvPr id="45" name="Rectangle 44"/>
          <p:cNvSpPr/>
          <p:nvPr/>
        </p:nvSpPr>
        <p:spPr>
          <a:xfrm>
            <a:off x="548640" y="4663440"/>
            <a:ext cx="548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4709159"/>
            <a:ext cx="365759" cy="502920"/>
          </a:xfrm>
          <a:prstGeom prst="rect">
            <a:avLst/>
          </a:prstGeom>
          <a:noFill/>
        </p:spPr>
        <p:txBody>
          <a:bodyPr wrap="square">
            <a:spAutoFit/>
          </a:bodyPr>
          <a:lstStyle/>
          <a:p>
            <a:pPr>
              <a:defRPr sz="1000">
                <a:solidFill>
                  <a:srgbClr val="333333"/>
                </a:solidFill>
              </a:defRPr>
            </a:pPr>
            <a:r>
              <a:rPr>
                <a:latin typeface="Arial"/>
              </a:rPr>
              <a:t>5</a:t>
            </a:r>
          </a:p>
        </p:txBody>
      </p:sp>
      <p:sp>
        <p:nvSpPr>
          <p:cNvPr id="47" name="Rectangle 46"/>
          <p:cNvSpPr/>
          <p:nvPr/>
        </p:nvSpPr>
        <p:spPr>
          <a:xfrm>
            <a:off x="1097280" y="4663440"/>
            <a:ext cx="41148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88720" y="4709159"/>
            <a:ext cx="3931920" cy="502920"/>
          </a:xfrm>
          <a:prstGeom prst="rect">
            <a:avLst/>
          </a:prstGeom>
          <a:noFill/>
        </p:spPr>
        <p:txBody>
          <a:bodyPr wrap="square">
            <a:spAutoFit/>
          </a:bodyPr>
          <a:lstStyle/>
          <a:p>
            <a:pPr>
              <a:defRPr sz="1000">
                <a:solidFill>
                  <a:srgbClr val="333333"/>
                </a:solidFill>
              </a:defRPr>
            </a:pPr>
            <a:r>
              <a:rPr>
                <a:latin typeface="Arial"/>
              </a:rPr>
              <a:t>Server creates or updates the customer's account in the database</a:t>
            </a:r>
          </a:p>
        </p:txBody>
      </p:sp>
      <p:sp>
        <p:nvSpPr>
          <p:cNvPr id="49" name="Rectangle 48"/>
          <p:cNvSpPr/>
          <p:nvPr/>
        </p:nvSpPr>
        <p:spPr>
          <a:xfrm>
            <a:off x="5212080" y="466344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303520" y="4709159"/>
            <a:ext cx="2103120" cy="502920"/>
          </a:xfrm>
          <a:prstGeom prst="rect">
            <a:avLst/>
          </a:prstGeom>
          <a:noFill/>
        </p:spPr>
        <p:txBody>
          <a:bodyPr wrap="square">
            <a:spAutoFit/>
          </a:bodyPr>
          <a:lstStyle/>
          <a:p>
            <a:pPr>
              <a:defRPr sz="1000">
                <a:solidFill>
                  <a:srgbClr val="333333"/>
                </a:solidFill>
              </a:defRPr>
            </a:pPr>
            <a:r>
              <a:rPr>
                <a:latin typeface="Arial"/>
              </a:rPr>
              <a:t>Customer Database (Xano)</a:t>
            </a:r>
          </a:p>
        </p:txBody>
      </p:sp>
      <p:sp>
        <p:nvSpPr>
          <p:cNvPr id="51" name="Rectangle 50"/>
          <p:cNvSpPr/>
          <p:nvPr/>
        </p:nvSpPr>
        <p:spPr>
          <a:xfrm>
            <a:off x="7498079" y="4663440"/>
            <a:ext cx="42062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589519" y="4709159"/>
            <a:ext cx="4023359" cy="502920"/>
          </a:xfrm>
          <a:prstGeom prst="rect">
            <a:avLst/>
          </a:prstGeom>
          <a:noFill/>
        </p:spPr>
        <p:txBody>
          <a:bodyPr wrap="square">
            <a:spAutoFit/>
          </a:bodyPr>
          <a:lstStyle/>
          <a:p>
            <a:pPr>
              <a:defRPr sz="1000">
                <a:solidFill>
                  <a:srgbClr val="333333"/>
                </a:solidFill>
              </a:defRPr>
            </a:pPr>
            <a:r>
              <a:rPr>
                <a:latin typeface="Arial"/>
              </a:rPr>
              <a:t>Account record, Shopify ID, access token for future API calls</a:t>
            </a:r>
          </a:p>
        </p:txBody>
      </p:sp>
      <p:sp>
        <p:nvSpPr>
          <p:cNvPr id="53" name="Rectangle 52"/>
          <p:cNvSpPr/>
          <p:nvPr/>
        </p:nvSpPr>
        <p:spPr>
          <a:xfrm>
            <a:off x="548640" y="5257800"/>
            <a:ext cx="5486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 y="5303520"/>
            <a:ext cx="365759" cy="502920"/>
          </a:xfrm>
          <a:prstGeom prst="rect">
            <a:avLst/>
          </a:prstGeom>
          <a:noFill/>
        </p:spPr>
        <p:txBody>
          <a:bodyPr wrap="square">
            <a:spAutoFit/>
          </a:bodyPr>
          <a:lstStyle/>
          <a:p>
            <a:pPr>
              <a:defRPr sz="1000">
                <a:solidFill>
                  <a:srgbClr val="333333"/>
                </a:solidFill>
              </a:defRPr>
            </a:pPr>
            <a:r>
              <a:rPr>
                <a:latin typeface="Arial"/>
              </a:rPr>
              <a:t>6</a:t>
            </a:r>
          </a:p>
        </p:txBody>
      </p:sp>
      <p:sp>
        <p:nvSpPr>
          <p:cNvPr id="55" name="Rectangle 54"/>
          <p:cNvSpPr/>
          <p:nvPr/>
        </p:nvSpPr>
        <p:spPr>
          <a:xfrm>
            <a:off x="1097280" y="5257800"/>
            <a:ext cx="41148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188720" y="5303520"/>
            <a:ext cx="3931920" cy="502920"/>
          </a:xfrm>
          <a:prstGeom prst="rect">
            <a:avLst/>
          </a:prstGeom>
          <a:noFill/>
        </p:spPr>
        <p:txBody>
          <a:bodyPr wrap="square">
            <a:spAutoFit/>
          </a:bodyPr>
          <a:lstStyle/>
          <a:p>
            <a:pPr>
              <a:defRPr sz="1000">
                <a:solidFill>
                  <a:srgbClr val="333333"/>
                </a:solidFill>
              </a:defRPr>
            </a:pPr>
            <a:r>
              <a:rPr>
                <a:latin typeface="Arial"/>
              </a:rPr>
              <a:t>Server syncs the customer to all connected services in real time</a:t>
            </a:r>
          </a:p>
        </p:txBody>
      </p:sp>
      <p:sp>
        <p:nvSpPr>
          <p:cNvPr id="57" name="Rectangle 56"/>
          <p:cNvSpPr/>
          <p:nvPr/>
        </p:nvSpPr>
        <p:spPr>
          <a:xfrm>
            <a:off x="5212080" y="5257800"/>
            <a:ext cx="228600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303520" y="5303520"/>
            <a:ext cx="2103120" cy="502920"/>
          </a:xfrm>
          <a:prstGeom prst="rect">
            <a:avLst/>
          </a:prstGeom>
          <a:noFill/>
        </p:spPr>
        <p:txBody>
          <a:bodyPr wrap="square">
            <a:spAutoFit/>
          </a:bodyPr>
          <a:lstStyle/>
          <a:p>
            <a:pPr>
              <a:defRPr sz="1000">
                <a:solidFill>
                  <a:srgbClr val="333333"/>
                </a:solidFill>
              </a:defRPr>
            </a:pPr>
            <a:r>
              <a:rPr>
                <a:latin typeface="Arial"/>
              </a:rPr>
              <a:t>Webflow, Shopify, GA4, Adobe</a:t>
            </a:r>
          </a:p>
        </p:txBody>
      </p:sp>
      <p:sp>
        <p:nvSpPr>
          <p:cNvPr id="59" name="Rectangle 58"/>
          <p:cNvSpPr/>
          <p:nvPr/>
        </p:nvSpPr>
        <p:spPr>
          <a:xfrm>
            <a:off x="7498079" y="5257800"/>
            <a:ext cx="4206240" cy="59436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589519" y="5303520"/>
            <a:ext cx="4023359" cy="502920"/>
          </a:xfrm>
          <a:prstGeom prst="rect">
            <a:avLst/>
          </a:prstGeom>
          <a:noFill/>
        </p:spPr>
        <p:txBody>
          <a:bodyPr wrap="square">
            <a:spAutoFit/>
          </a:bodyPr>
          <a:lstStyle/>
          <a:p>
            <a:pPr>
              <a:defRPr sz="1000">
                <a:solidFill>
                  <a:srgbClr val="333333"/>
                </a:solidFill>
              </a:defRPr>
            </a:pPr>
            <a:r>
              <a:rPr>
                <a:latin typeface="Arial"/>
              </a:rPr>
              <a:t>Customer tags, profile, consent status, analytics properties</a:t>
            </a:r>
          </a:p>
        </p:txBody>
      </p:sp>
      <p:sp>
        <p:nvSpPr>
          <p:cNvPr id="61" name="Rectangle 60"/>
          <p:cNvSpPr/>
          <p:nvPr/>
        </p:nvSpPr>
        <p:spPr>
          <a:xfrm>
            <a:off x="548640" y="5852160"/>
            <a:ext cx="5486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5897880"/>
            <a:ext cx="365759" cy="502920"/>
          </a:xfrm>
          <a:prstGeom prst="rect">
            <a:avLst/>
          </a:prstGeom>
          <a:noFill/>
        </p:spPr>
        <p:txBody>
          <a:bodyPr wrap="square">
            <a:spAutoFit/>
          </a:bodyPr>
          <a:lstStyle/>
          <a:p>
            <a:pPr>
              <a:defRPr sz="1000">
                <a:solidFill>
                  <a:srgbClr val="333333"/>
                </a:solidFill>
              </a:defRPr>
            </a:pPr>
            <a:r>
              <a:rPr>
                <a:latin typeface="Arial"/>
              </a:rPr>
              <a:t>7</a:t>
            </a:r>
          </a:p>
        </p:txBody>
      </p:sp>
      <p:sp>
        <p:nvSpPr>
          <p:cNvPr id="63" name="Rectangle 62"/>
          <p:cNvSpPr/>
          <p:nvPr/>
        </p:nvSpPr>
        <p:spPr>
          <a:xfrm>
            <a:off x="1097280" y="5852160"/>
            <a:ext cx="41148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88720" y="5897880"/>
            <a:ext cx="3931920" cy="502920"/>
          </a:xfrm>
          <a:prstGeom prst="rect">
            <a:avLst/>
          </a:prstGeom>
          <a:noFill/>
        </p:spPr>
        <p:txBody>
          <a:bodyPr wrap="square">
            <a:spAutoFit/>
          </a:bodyPr>
          <a:lstStyle/>
          <a:p>
            <a:pPr>
              <a:defRPr sz="1000">
                <a:solidFill>
                  <a:srgbClr val="333333"/>
                </a:solidFill>
              </a:defRPr>
            </a:pPr>
            <a:r>
              <a:rPr>
                <a:latin typeface="Arial"/>
              </a:rPr>
              <a:t>Customer is redirected back to your website, now logged in</a:t>
            </a:r>
          </a:p>
        </p:txBody>
      </p:sp>
      <p:sp>
        <p:nvSpPr>
          <p:cNvPr id="65" name="Rectangle 64"/>
          <p:cNvSpPr/>
          <p:nvPr/>
        </p:nvSpPr>
        <p:spPr>
          <a:xfrm>
            <a:off x="5212080" y="585216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303520" y="5897880"/>
            <a:ext cx="2103120" cy="502920"/>
          </a:xfrm>
          <a:prstGeom prst="rect">
            <a:avLst/>
          </a:prstGeom>
          <a:noFill/>
        </p:spPr>
        <p:txBody>
          <a:bodyPr wrap="square">
            <a:spAutoFit/>
          </a:bodyPr>
          <a:lstStyle/>
          <a:p>
            <a:pPr>
              <a:defRPr sz="1000">
                <a:solidFill>
                  <a:srgbClr val="333333"/>
                </a:solidFill>
              </a:defRPr>
            </a:pPr>
            <a:r>
              <a:rPr>
                <a:latin typeface="Arial"/>
              </a:rPr>
              <a:t>Your website</a:t>
            </a:r>
          </a:p>
        </p:txBody>
      </p:sp>
      <p:sp>
        <p:nvSpPr>
          <p:cNvPr id="67" name="Rectangle 66"/>
          <p:cNvSpPr/>
          <p:nvPr/>
        </p:nvSpPr>
        <p:spPr>
          <a:xfrm>
            <a:off x="7498079" y="5852160"/>
            <a:ext cx="420624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589519" y="5897880"/>
            <a:ext cx="4023359" cy="502920"/>
          </a:xfrm>
          <a:prstGeom prst="rect">
            <a:avLst/>
          </a:prstGeom>
          <a:noFill/>
        </p:spPr>
        <p:txBody>
          <a:bodyPr wrap="square">
            <a:spAutoFit/>
          </a:bodyPr>
          <a:lstStyle/>
          <a:p>
            <a:pPr>
              <a:defRPr sz="1000">
                <a:solidFill>
                  <a:srgbClr val="333333"/>
                </a:solidFill>
              </a:defRPr>
            </a:pPr>
            <a:r>
              <a:rPr>
                <a:latin typeface="Arial"/>
              </a:rPr>
              <a:t>Secure session cookie (expires in 7 days)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Real-Time Updates: Which Services Are Updated When</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defRPr>
            </a:pPr>
            <a:r>
              <a:rPr>
                <a:latin typeface="Arial"/>
              </a:rPr>
              <a:t>Every user action immediately updates the relevant connected services. There is no delay — all updates happen in the same request. 'Write' means data is created or updated. 'Read' means data is checked but not changed.</a:t>
            </a:r>
          </a:p>
        </p:txBody>
      </p:sp>
      <p:sp>
        <p:nvSpPr>
          <p:cNvPr id="5" name="Rectangle 4"/>
          <p:cNvSpPr/>
          <p:nvPr/>
        </p:nvSpPr>
        <p:spPr>
          <a:xfrm>
            <a:off x="548640" y="1828800"/>
            <a:ext cx="2560320" cy="54864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01952"/>
            <a:ext cx="2377439" cy="411479"/>
          </a:xfrm>
          <a:prstGeom prst="rect">
            <a:avLst/>
          </a:prstGeom>
          <a:noFill/>
        </p:spPr>
        <p:txBody>
          <a:bodyPr wrap="square">
            <a:spAutoFit/>
          </a:bodyPr>
          <a:lstStyle/>
          <a:p>
            <a:pPr>
              <a:defRPr sz="1100" b="1">
                <a:solidFill>
                  <a:srgbClr val="FFFFFF"/>
                </a:solidFill>
              </a:defRPr>
            </a:pPr>
            <a:r>
              <a:rPr>
                <a:latin typeface="Arial"/>
              </a:rPr>
              <a:t>User Action</a:t>
            </a:r>
          </a:p>
        </p:txBody>
      </p:sp>
      <p:sp>
        <p:nvSpPr>
          <p:cNvPr id="7" name="Rectangle 6"/>
          <p:cNvSpPr/>
          <p:nvPr/>
        </p:nvSpPr>
        <p:spPr>
          <a:xfrm>
            <a:off x="3108960" y="1828800"/>
            <a:ext cx="1463040" cy="54864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0" y="1901952"/>
            <a:ext cx="1280160" cy="411479"/>
          </a:xfrm>
          <a:prstGeom prst="rect">
            <a:avLst/>
          </a:prstGeom>
          <a:noFill/>
        </p:spPr>
        <p:txBody>
          <a:bodyPr wrap="square">
            <a:spAutoFit/>
          </a:bodyPr>
          <a:lstStyle/>
          <a:p>
            <a:pPr>
              <a:defRPr sz="1100" b="1">
                <a:solidFill>
                  <a:srgbClr val="FFFFFF"/>
                </a:solidFill>
              </a:defRPr>
            </a:pPr>
            <a:r>
              <a:rPr>
                <a:latin typeface="Arial"/>
              </a:rPr>
              <a:t>Customer</a:t>
            </a:r>
            <a:br/>
            <a:r>
              <a:rPr>
                <a:latin typeface="Arial"/>
              </a:rPr>
              <a:t>Database</a:t>
            </a:r>
          </a:p>
        </p:txBody>
      </p:sp>
      <p:sp>
        <p:nvSpPr>
          <p:cNvPr id="9" name="Rectangle 8"/>
          <p:cNvSpPr/>
          <p:nvPr/>
        </p:nvSpPr>
        <p:spPr>
          <a:xfrm>
            <a:off x="4572000" y="1828800"/>
            <a:ext cx="1463040" cy="54864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1901952"/>
            <a:ext cx="1280160" cy="411479"/>
          </a:xfrm>
          <a:prstGeom prst="rect">
            <a:avLst/>
          </a:prstGeom>
          <a:noFill/>
        </p:spPr>
        <p:txBody>
          <a:bodyPr wrap="square">
            <a:spAutoFit/>
          </a:bodyPr>
          <a:lstStyle/>
          <a:p>
            <a:pPr>
              <a:defRPr sz="1100" b="1">
                <a:solidFill>
                  <a:srgbClr val="FFFFFF"/>
                </a:solidFill>
              </a:defRPr>
            </a:pPr>
            <a:r>
              <a:rPr>
                <a:latin typeface="Arial"/>
              </a:rPr>
              <a:t>Consent</a:t>
            </a:r>
            <a:br/>
            <a:r>
              <a:rPr>
                <a:latin typeface="Arial"/>
              </a:rPr>
              <a:t>Records</a:t>
            </a:r>
          </a:p>
        </p:txBody>
      </p:sp>
      <p:sp>
        <p:nvSpPr>
          <p:cNvPr id="11" name="Rectangle 10"/>
          <p:cNvSpPr/>
          <p:nvPr/>
        </p:nvSpPr>
        <p:spPr>
          <a:xfrm>
            <a:off x="6035040" y="1828800"/>
            <a:ext cx="1463040" cy="54864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79" y="1901952"/>
            <a:ext cx="1280160" cy="411479"/>
          </a:xfrm>
          <a:prstGeom prst="rect">
            <a:avLst/>
          </a:prstGeom>
          <a:noFill/>
        </p:spPr>
        <p:txBody>
          <a:bodyPr wrap="square">
            <a:spAutoFit/>
          </a:bodyPr>
          <a:lstStyle/>
          <a:p>
            <a:pPr>
              <a:defRPr sz="1100" b="1">
                <a:solidFill>
                  <a:srgbClr val="FFFFFF"/>
                </a:solidFill>
              </a:defRPr>
            </a:pPr>
            <a:r>
              <a:rPr>
                <a:latin typeface="Arial"/>
              </a:rPr>
              <a:t>Website</a:t>
            </a:r>
            <a:br/>
            <a:r>
              <a:rPr>
                <a:latin typeface="Arial"/>
              </a:rPr>
              <a:t>CMS</a:t>
            </a:r>
          </a:p>
        </p:txBody>
      </p:sp>
      <p:sp>
        <p:nvSpPr>
          <p:cNvPr id="13" name="Rectangle 12"/>
          <p:cNvSpPr/>
          <p:nvPr/>
        </p:nvSpPr>
        <p:spPr>
          <a:xfrm>
            <a:off x="7498079" y="1828800"/>
            <a:ext cx="1463040" cy="54864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19" y="1901952"/>
            <a:ext cx="1280160" cy="411479"/>
          </a:xfrm>
          <a:prstGeom prst="rect">
            <a:avLst/>
          </a:prstGeom>
          <a:noFill/>
        </p:spPr>
        <p:txBody>
          <a:bodyPr wrap="square">
            <a:spAutoFit/>
          </a:bodyPr>
          <a:lstStyle/>
          <a:p>
            <a:pPr>
              <a:defRPr sz="1100" b="1">
                <a:solidFill>
                  <a:srgbClr val="FFFFFF"/>
                </a:solidFill>
              </a:defRPr>
            </a:pPr>
            <a:r>
              <a:rPr>
                <a:latin typeface="Arial"/>
              </a:rPr>
              <a:t>Online</a:t>
            </a:r>
            <a:br/>
            <a:r>
              <a:rPr>
                <a:latin typeface="Arial"/>
              </a:rPr>
              <a:t>Store</a:t>
            </a:r>
          </a:p>
        </p:txBody>
      </p:sp>
      <p:sp>
        <p:nvSpPr>
          <p:cNvPr id="15" name="Rectangle 14"/>
          <p:cNvSpPr/>
          <p:nvPr/>
        </p:nvSpPr>
        <p:spPr>
          <a:xfrm>
            <a:off x="8961119" y="1828800"/>
            <a:ext cx="1371600" cy="54864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59" y="1901952"/>
            <a:ext cx="1188720" cy="411479"/>
          </a:xfrm>
          <a:prstGeom prst="rect">
            <a:avLst/>
          </a:prstGeom>
          <a:noFill/>
        </p:spPr>
        <p:txBody>
          <a:bodyPr wrap="square">
            <a:spAutoFit/>
          </a:bodyPr>
          <a:lstStyle/>
          <a:p>
            <a:pPr>
              <a:defRPr sz="1100" b="1">
                <a:solidFill>
                  <a:srgbClr val="FFFFFF"/>
                </a:solidFill>
              </a:defRPr>
            </a:pPr>
            <a:r>
              <a:rPr>
                <a:latin typeface="Arial"/>
              </a:rPr>
              <a:t>Analytics</a:t>
            </a:r>
          </a:p>
        </p:txBody>
      </p:sp>
      <p:sp>
        <p:nvSpPr>
          <p:cNvPr id="17" name="Rectangle 16"/>
          <p:cNvSpPr/>
          <p:nvPr/>
        </p:nvSpPr>
        <p:spPr>
          <a:xfrm>
            <a:off x="10332719" y="1828800"/>
            <a:ext cx="1371600" cy="54864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59" y="1901952"/>
            <a:ext cx="1188720" cy="411479"/>
          </a:xfrm>
          <a:prstGeom prst="rect">
            <a:avLst/>
          </a:prstGeom>
          <a:noFill/>
        </p:spPr>
        <p:txBody>
          <a:bodyPr wrap="square">
            <a:spAutoFit/>
          </a:bodyPr>
          <a:lstStyle/>
          <a:p>
            <a:pPr>
              <a:defRPr sz="1100" b="1">
                <a:solidFill>
                  <a:srgbClr val="FFFFFF"/>
                </a:solidFill>
              </a:defRPr>
            </a:pPr>
            <a:r>
              <a:rPr>
                <a:latin typeface="Arial"/>
              </a:rPr>
              <a:t>Adobe</a:t>
            </a:r>
            <a:br/>
            <a:r>
              <a:rPr>
                <a:latin typeface="Arial"/>
              </a:rPr>
              <a:t>CDP</a:t>
            </a:r>
          </a:p>
        </p:txBody>
      </p:sp>
      <p:sp>
        <p:nvSpPr>
          <p:cNvPr id="19" name="Rectangle 18"/>
          <p:cNvSpPr/>
          <p:nvPr/>
        </p:nvSpPr>
        <p:spPr>
          <a:xfrm>
            <a:off x="548640" y="237744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423160"/>
            <a:ext cx="2377439" cy="365760"/>
          </a:xfrm>
          <a:prstGeom prst="rect">
            <a:avLst/>
          </a:prstGeom>
          <a:noFill/>
        </p:spPr>
        <p:txBody>
          <a:bodyPr wrap="square">
            <a:spAutoFit/>
          </a:bodyPr>
          <a:lstStyle/>
          <a:p>
            <a:pPr>
              <a:defRPr sz="1000">
                <a:solidFill>
                  <a:srgbClr val="333333"/>
                </a:solidFill>
              </a:defRPr>
            </a:pPr>
            <a:r>
              <a:rPr>
                <a:latin typeface="Arial"/>
              </a:rPr>
              <a:t>Signs up with email &amp; password</a:t>
            </a:r>
          </a:p>
        </p:txBody>
      </p:sp>
      <p:sp>
        <p:nvSpPr>
          <p:cNvPr id="21" name="Rectangle 20"/>
          <p:cNvSpPr/>
          <p:nvPr/>
        </p:nvSpPr>
        <p:spPr>
          <a:xfrm>
            <a:off x="3108960" y="23774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0" y="2423160"/>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23" name="Rectangle 22"/>
          <p:cNvSpPr/>
          <p:nvPr/>
        </p:nvSpPr>
        <p:spPr>
          <a:xfrm>
            <a:off x="4572000" y="23774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63440" y="2423160"/>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25" name="Rectangle 24"/>
          <p:cNvSpPr/>
          <p:nvPr/>
        </p:nvSpPr>
        <p:spPr>
          <a:xfrm>
            <a:off x="6035040" y="23774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26479" y="2423160"/>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27" name="Rectangle 26"/>
          <p:cNvSpPr/>
          <p:nvPr/>
        </p:nvSpPr>
        <p:spPr>
          <a:xfrm>
            <a:off x="7498079" y="23774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89519" y="2423160"/>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29" name="Rectangle 28"/>
          <p:cNvSpPr/>
          <p:nvPr/>
        </p:nvSpPr>
        <p:spPr>
          <a:xfrm>
            <a:off x="8961119" y="23774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52559" y="2423160"/>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31" name="Rectangle 30"/>
          <p:cNvSpPr/>
          <p:nvPr/>
        </p:nvSpPr>
        <p:spPr>
          <a:xfrm>
            <a:off x="10332719" y="23774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24159" y="2423160"/>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33" name="Rectangle 32"/>
          <p:cNvSpPr/>
          <p:nvPr/>
        </p:nvSpPr>
        <p:spPr>
          <a:xfrm>
            <a:off x="548640" y="2834640"/>
            <a:ext cx="256032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2880360"/>
            <a:ext cx="2377439" cy="365760"/>
          </a:xfrm>
          <a:prstGeom prst="rect">
            <a:avLst/>
          </a:prstGeom>
          <a:noFill/>
        </p:spPr>
        <p:txBody>
          <a:bodyPr wrap="square">
            <a:spAutoFit/>
          </a:bodyPr>
          <a:lstStyle/>
          <a:p>
            <a:pPr>
              <a:defRPr sz="1000">
                <a:solidFill>
                  <a:srgbClr val="333333"/>
                </a:solidFill>
              </a:defRPr>
            </a:pPr>
            <a:r>
              <a:rPr>
                <a:latin typeface="Arial"/>
              </a:rPr>
              <a:t>Logs in with email &amp; password</a:t>
            </a:r>
          </a:p>
        </p:txBody>
      </p:sp>
      <p:sp>
        <p:nvSpPr>
          <p:cNvPr id="35" name="Rectangle 34"/>
          <p:cNvSpPr/>
          <p:nvPr/>
        </p:nvSpPr>
        <p:spPr>
          <a:xfrm>
            <a:off x="3108960" y="28346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00400" y="2880360"/>
            <a:ext cx="1280160" cy="365760"/>
          </a:xfrm>
          <a:prstGeom prst="rect">
            <a:avLst/>
          </a:prstGeom>
          <a:noFill/>
        </p:spPr>
        <p:txBody>
          <a:bodyPr wrap="square">
            <a:spAutoFit/>
          </a:bodyPr>
          <a:lstStyle/>
          <a:p>
            <a:pPr>
              <a:defRPr sz="1000">
                <a:solidFill>
                  <a:srgbClr val="333333"/>
                </a:solidFill>
              </a:defRPr>
            </a:pPr>
            <a:r>
              <a:rPr>
                <a:latin typeface="Arial"/>
              </a:rPr>
              <a:t>Read</a:t>
            </a:r>
          </a:p>
        </p:txBody>
      </p:sp>
      <p:sp>
        <p:nvSpPr>
          <p:cNvPr id="37" name="Rectangle 36"/>
          <p:cNvSpPr/>
          <p:nvPr/>
        </p:nvSpPr>
        <p:spPr>
          <a:xfrm>
            <a:off x="4572000" y="28346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63440" y="2880360"/>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39" name="Rectangle 38"/>
          <p:cNvSpPr/>
          <p:nvPr/>
        </p:nvSpPr>
        <p:spPr>
          <a:xfrm>
            <a:off x="6035040" y="28346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26479" y="2880360"/>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41" name="Rectangle 40"/>
          <p:cNvSpPr/>
          <p:nvPr/>
        </p:nvSpPr>
        <p:spPr>
          <a:xfrm>
            <a:off x="7498079" y="28346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89519" y="2880360"/>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43" name="Rectangle 42"/>
          <p:cNvSpPr/>
          <p:nvPr/>
        </p:nvSpPr>
        <p:spPr>
          <a:xfrm>
            <a:off x="8961119" y="2834640"/>
            <a:ext cx="137160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052559" y="2880360"/>
            <a:ext cx="1188720" cy="365760"/>
          </a:xfrm>
          <a:prstGeom prst="rect">
            <a:avLst/>
          </a:prstGeom>
          <a:noFill/>
        </p:spPr>
        <p:txBody>
          <a:bodyPr wrap="square">
            <a:spAutoFit/>
          </a:bodyPr>
          <a:lstStyle/>
          <a:p>
            <a:pPr>
              <a:defRPr sz="1000">
                <a:solidFill>
                  <a:srgbClr val="333333"/>
                </a:solidFill>
              </a:defRPr>
            </a:pPr>
            <a:r>
              <a:rPr>
                <a:latin typeface="Arial"/>
              </a:rPr>
              <a:t>—</a:t>
            </a:r>
          </a:p>
        </p:txBody>
      </p:sp>
      <p:sp>
        <p:nvSpPr>
          <p:cNvPr id="45" name="Rectangle 44"/>
          <p:cNvSpPr/>
          <p:nvPr/>
        </p:nvSpPr>
        <p:spPr>
          <a:xfrm>
            <a:off x="10332719" y="2834640"/>
            <a:ext cx="137160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424159" y="2880360"/>
            <a:ext cx="1188720" cy="365760"/>
          </a:xfrm>
          <a:prstGeom prst="rect">
            <a:avLst/>
          </a:prstGeom>
          <a:noFill/>
        </p:spPr>
        <p:txBody>
          <a:bodyPr wrap="square">
            <a:spAutoFit/>
          </a:bodyPr>
          <a:lstStyle/>
          <a:p>
            <a:pPr>
              <a:defRPr sz="1000">
                <a:solidFill>
                  <a:srgbClr val="333333"/>
                </a:solidFill>
              </a:defRPr>
            </a:pPr>
            <a:r>
              <a:rPr>
                <a:latin typeface="Arial"/>
              </a:rPr>
              <a:t>—</a:t>
            </a:r>
          </a:p>
        </p:txBody>
      </p:sp>
      <p:sp>
        <p:nvSpPr>
          <p:cNvPr id="47" name="Rectangle 46"/>
          <p:cNvSpPr/>
          <p:nvPr/>
        </p:nvSpPr>
        <p:spPr>
          <a:xfrm>
            <a:off x="548640" y="329184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080" y="3337560"/>
            <a:ext cx="2377439" cy="365760"/>
          </a:xfrm>
          <a:prstGeom prst="rect">
            <a:avLst/>
          </a:prstGeom>
          <a:noFill/>
        </p:spPr>
        <p:txBody>
          <a:bodyPr wrap="square">
            <a:spAutoFit/>
          </a:bodyPr>
          <a:lstStyle/>
          <a:p>
            <a:pPr>
              <a:defRPr sz="1000">
                <a:solidFill>
                  <a:srgbClr val="333333"/>
                </a:solidFill>
              </a:defRPr>
            </a:pPr>
            <a:r>
              <a:rPr>
                <a:latin typeface="Arial"/>
              </a:rPr>
              <a:t>Signs in with Google</a:t>
            </a:r>
          </a:p>
        </p:txBody>
      </p:sp>
      <p:sp>
        <p:nvSpPr>
          <p:cNvPr id="49" name="Rectangle 48"/>
          <p:cNvSpPr/>
          <p:nvPr/>
        </p:nvSpPr>
        <p:spPr>
          <a:xfrm>
            <a:off x="3108960" y="32918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200400" y="3337560"/>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51" name="Rectangle 50"/>
          <p:cNvSpPr/>
          <p:nvPr/>
        </p:nvSpPr>
        <p:spPr>
          <a:xfrm>
            <a:off x="4572000" y="32918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663440" y="3337560"/>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53" name="Rectangle 52"/>
          <p:cNvSpPr/>
          <p:nvPr/>
        </p:nvSpPr>
        <p:spPr>
          <a:xfrm>
            <a:off x="6035040" y="32918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126479" y="3337560"/>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55" name="Rectangle 54"/>
          <p:cNvSpPr/>
          <p:nvPr/>
        </p:nvSpPr>
        <p:spPr>
          <a:xfrm>
            <a:off x="7498079" y="32918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589519" y="3337560"/>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57" name="Rectangle 56"/>
          <p:cNvSpPr/>
          <p:nvPr/>
        </p:nvSpPr>
        <p:spPr>
          <a:xfrm>
            <a:off x="8961119" y="32918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052559" y="3337560"/>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59" name="Rectangle 58"/>
          <p:cNvSpPr/>
          <p:nvPr/>
        </p:nvSpPr>
        <p:spPr>
          <a:xfrm>
            <a:off x="10332719" y="32918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424159" y="3337560"/>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61" name="Rectangle 60"/>
          <p:cNvSpPr/>
          <p:nvPr/>
        </p:nvSpPr>
        <p:spPr>
          <a:xfrm>
            <a:off x="548640" y="3749039"/>
            <a:ext cx="256032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3794759"/>
            <a:ext cx="2377439" cy="365760"/>
          </a:xfrm>
          <a:prstGeom prst="rect">
            <a:avLst/>
          </a:prstGeom>
          <a:noFill/>
        </p:spPr>
        <p:txBody>
          <a:bodyPr wrap="square">
            <a:spAutoFit/>
          </a:bodyPr>
          <a:lstStyle/>
          <a:p>
            <a:pPr>
              <a:defRPr sz="1000">
                <a:solidFill>
                  <a:srgbClr val="333333"/>
                </a:solidFill>
              </a:defRPr>
            </a:pPr>
            <a:r>
              <a:rPr>
                <a:latin typeface="Arial"/>
              </a:rPr>
              <a:t>Signs in with Shopify</a:t>
            </a:r>
          </a:p>
        </p:txBody>
      </p:sp>
      <p:sp>
        <p:nvSpPr>
          <p:cNvPr id="63" name="Rectangle 62"/>
          <p:cNvSpPr/>
          <p:nvPr/>
        </p:nvSpPr>
        <p:spPr>
          <a:xfrm>
            <a:off x="3108960" y="3749039"/>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200400" y="37947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65" name="Rectangle 64"/>
          <p:cNvSpPr/>
          <p:nvPr/>
        </p:nvSpPr>
        <p:spPr>
          <a:xfrm>
            <a:off x="4572000" y="3749039"/>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663440" y="37947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67" name="Rectangle 66"/>
          <p:cNvSpPr/>
          <p:nvPr/>
        </p:nvSpPr>
        <p:spPr>
          <a:xfrm>
            <a:off x="6035040" y="3749039"/>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126479" y="37947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69" name="Rectangle 68"/>
          <p:cNvSpPr/>
          <p:nvPr/>
        </p:nvSpPr>
        <p:spPr>
          <a:xfrm>
            <a:off x="7498079" y="3749039"/>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589519" y="37947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71" name="Rectangle 70"/>
          <p:cNvSpPr/>
          <p:nvPr/>
        </p:nvSpPr>
        <p:spPr>
          <a:xfrm>
            <a:off x="8961119" y="3749039"/>
            <a:ext cx="137160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052559" y="3794759"/>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73" name="Rectangle 72"/>
          <p:cNvSpPr/>
          <p:nvPr/>
        </p:nvSpPr>
        <p:spPr>
          <a:xfrm>
            <a:off x="10332719" y="3749039"/>
            <a:ext cx="137160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0424159" y="3794759"/>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75" name="Rectangle 74"/>
          <p:cNvSpPr/>
          <p:nvPr/>
        </p:nvSpPr>
        <p:spPr>
          <a:xfrm>
            <a:off x="548640" y="420624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40080" y="4251959"/>
            <a:ext cx="2377439" cy="365760"/>
          </a:xfrm>
          <a:prstGeom prst="rect">
            <a:avLst/>
          </a:prstGeom>
          <a:noFill/>
        </p:spPr>
        <p:txBody>
          <a:bodyPr wrap="square">
            <a:spAutoFit/>
          </a:bodyPr>
          <a:lstStyle/>
          <a:p>
            <a:pPr>
              <a:defRPr sz="1000">
                <a:solidFill>
                  <a:srgbClr val="333333"/>
                </a:solidFill>
              </a:defRPr>
            </a:pPr>
            <a:r>
              <a:rPr>
                <a:latin typeface="Arial"/>
              </a:rPr>
              <a:t>Shopify sends a customer update</a:t>
            </a:r>
          </a:p>
        </p:txBody>
      </p:sp>
      <p:sp>
        <p:nvSpPr>
          <p:cNvPr id="77" name="Rectangle 76"/>
          <p:cNvSpPr/>
          <p:nvPr/>
        </p:nvSpPr>
        <p:spPr>
          <a:xfrm>
            <a:off x="3108960" y="42062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3200400" y="42519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79" name="Rectangle 78"/>
          <p:cNvSpPr/>
          <p:nvPr/>
        </p:nvSpPr>
        <p:spPr>
          <a:xfrm>
            <a:off x="4572000" y="42062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663440" y="42519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81" name="Rectangle 80"/>
          <p:cNvSpPr/>
          <p:nvPr/>
        </p:nvSpPr>
        <p:spPr>
          <a:xfrm>
            <a:off x="6035040" y="42062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126479" y="42519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83" name="Rectangle 82"/>
          <p:cNvSpPr/>
          <p:nvPr/>
        </p:nvSpPr>
        <p:spPr>
          <a:xfrm>
            <a:off x="7498079" y="42062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7589519" y="42519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85" name="Rectangle 84"/>
          <p:cNvSpPr/>
          <p:nvPr/>
        </p:nvSpPr>
        <p:spPr>
          <a:xfrm>
            <a:off x="8961119" y="42062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052559" y="4251959"/>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87" name="Rectangle 86"/>
          <p:cNvSpPr/>
          <p:nvPr/>
        </p:nvSpPr>
        <p:spPr>
          <a:xfrm>
            <a:off x="10332719" y="42062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0424159" y="4251959"/>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89" name="Rectangle 88"/>
          <p:cNvSpPr/>
          <p:nvPr/>
        </p:nvSpPr>
        <p:spPr>
          <a:xfrm>
            <a:off x="548640" y="4663440"/>
            <a:ext cx="256032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40080" y="4709159"/>
            <a:ext cx="2377439" cy="365760"/>
          </a:xfrm>
          <a:prstGeom prst="rect">
            <a:avLst/>
          </a:prstGeom>
          <a:noFill/>
        </p:spPr>
        <p:txBody>
          <a:bodyPr wrap="square">
            <a:spAutoFit/>
          </a:bodyPr>
          <a:lstStyle/>
          <a:p>
            <a:pPr>
              <a:defRPr sz="1000">
                <a:solidFill>
                  <a:srgbClr val="333333"/>
                </a:solidFill>
              </a:defRPr>
            </a:pPr>
            <a:r>
              <a:rPr>
                <a:latin typeface="Arial"/>
              </a:rPr>
              <a:t>Adds or removes a tag on dashboard</a:t>
            </a:r>
          </a:p>
        </p:txBody>
      </p:sp>
      <p:sp>
        <p:nvSpPr>
          <p:cNvPr id="91" name="Rectangle 90"/>
          <p:cNvSpPr/>
          <p:nvPr/>
        </p:nvSpPr>
        <p:spPr>
          <a:xfrm>
            <a:off x="3108960" y="46634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3200400" y="47091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93" name="Rectangle 92"/>
          <p:cNvSpPr/>
          <p:nvPr/>
        </p:nvSpPr>
        <p:spPr>
          <a:xfrm>
            <a:off x="4572000" y="46634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663440" y="47091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95" name="Rectangle 94"/>
          <p:cNvSpPr/>
          <p:nvPr/>
        </p:nvSpPr>
        <p:spPr>
          <a:xfrm>
            <a:off x="6035040" y="46634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126479" y="47091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97" name="Rectangle 96"/>
          <p:cNvSpPr/>
          <p:nvPr/>
        </p:nvSpPr>
        <p:spPr>
          <a:xfrm>
            <a:off x="7498079" y="46634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589519" y="47091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99" name="Rectangle 98"/>
          <p:cNvSpPr/>
          <p:nvPr/>
        </p:nvSpPr>
        <p:spPr>
          <a:xfrm>
            <a:off x="8961119" y="4663440"/>
            <a:ext cx="137160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9052559" y="4709159"/>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101" name="Rectangle 100"/>
          <p:cNvSpPr/>
          <p:nvPr/>
        </p:nvSpPr>
        <p:spPr>
          <a:xfrm>
            <a:off x="10332719" y="4663440"/>
            <a:ext cx="137160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10424159" y="4709159"/>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103" name="Rectangle 102"/>
          <p:cNvSpPr/>
          <p:nvPr/>
        </p:nvSpPr>
        <p:spPr>
          <a:xfrm>
            <a:off x="548640" y="512064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640080" y="5166359"/>
            <a:ext cx="2377439" cy="365760"/>
          </a:xfrm>
          <a:prstGeom prst="rect">
            <a:avLst/>
          </a:prstGeom>
          <a:noFill/>
        </p:spPr>
        <p:txBody>
          <a:bodyPr wrap="square">
            <a:spAutoFit/>
          </a:bodyPr>
          <a:lstStyle/>
          <a:p>
            <a:pPr>
              <a:defRPr sz="1000">
                <a:solidFill>
                  <a:srgbClr val="333333"/>
                </a:solidFill>
              </a:defRPr>
            </a:pPr>
            <a:r>
              <a:rPr>
                <a:latin typeface="Arial"/>
              </a:rPr>
              <a:t>Changes consent preferences</a:t>
            </a:r>
          </a:p>
        </p:txBody>
      </p:sp>
      <p:sp>
        <p:nvSpPr>
          <p:cNvPr id="105" name="Rectangle 104"/>
          <p:cNvSpPr/>
          <p:nvPr/>
        </p:nvSpPr>
        <p:spPr>
          <a:xfrm>
            <a:off x="3108960" y="51206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3200400" y="51663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107" name="Rectangle 106"/>
          <p:cNvSpPr/>
          <p:nvPr/>
        </p:nvSpPr>
        <p:spPr>
          <a:xfrm>
            <a:off x="4572000" y="51206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4663440" y="5166359"/>
            <a:ext cx="128016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109" name="Rectangle 108"/>
          <p:cNvSpPr/>
          <p:nvPr/>
        </p:nvSpPr>
        <p:spPr>
          <a:xfrm>
            <a:off x="6035040" y="51206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126479" y="51663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111" name="Rectangle 110"/>
          <p:cNvSpPr/>
          <p:nvPr/>
        </p:nvSpPr>
        <p:spPr>
          <a:xfrm>
            <a:off x="7498079" y="51206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7589519" y="51663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113" name="Rectangle 112"/>
          <p:cNvSpPr/>
          <p:nvPr/>
        </p:nvSpPr>
        <p:spPr>
          <a:xfrm>
            <a:off x="8961119" y="51206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9052559" y="5166359"/>
            <a:ext cx="1188720" cy="365760"/>
          </a:xfrm>
          <a:prstGeom prst="rect">
            <a:avLst/>
          </a:prstGeom>
          <a:noFill/>
        </p:spPr>
        <p:txBody>
          <a:bodyPr wrap="square">
            <a:spAutoFit/>
          </a:bodyPr>
          <a:lstStyle/>
          <a:p>
            <a:pPr>
              <a:defRPr sz="1000">
                <a:solidFill>
                  <a:srgbClr val="333333"/>
                </a:solidFill>
              </a:defRPr>
            </a:pPr>
            <a:r>
              <a:rPr>
                <a:latin typeface="Arial"/>
              </a:rPr>
              <a:t>Write</a:t>
            </a:r>
          </a:p>
        </p:txBody>
      </p:sp>
      <p:sp>
        <p:nvSpPr>
          <p:cNvPr id="115" name="Rectangle 114"/>
          <p:cNvSpPr/>
          <p:nvPr/>
        </p:nvSpPr>
        <p:spPr>
          <a:xfrm>
            <a:off x="10332719" y="51206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424159" y="5166359"/>
            <a:ext cx="1188720" cy="365760"/>
          </a:xfrm>
          <a:prstGeom prst="rect">
            <a:avLst/>
          </a:prstGeom>
          <a:noFill/>
        </p:spPr>
        <p:txBody>
          <a:bodyPr wrap="square">
            <a:spAutoFit/>
          </a:bodyPr>
          <a:lstStyle/>
          <a:p>
            <a:pPr>
              <a:defRPr sz="1000">
                <a:solidFill>
                  <a:srgbClr val="333333"/>
                </a:solidFill>
              </a:defRPr>
            </a:pPr>
            <a:r>
              <a:rPr>
                <a:latin typeface="Arial"/>
              </a:rPr>
              <a:t>—</a:t>
            </a:r>
          </a:p>
        </p:txBody>
      </p:sp>
      <p:sp>
        <p:nvSpPr>
          <p:cNvPr id="117" name="Rectangle 116"/>
          <p:cNvSpPr/>
          <p:nvPr/>
        </p:nvSpPr>
        <p:spPr>
          <a:xfrm>
            <a:off x="548640" y="5577840"/>
            <a:ext cx="256032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640080" y="5623559"/>
            <a:ext cx="2377439" cy="365760"/>
          </a:xfrm>
          <a:prstGeom prst="rect">
            <a:avLst/>
          </a:prstGeom>
          <a:noFill/>
        </p:spPr>
        <p:txBody>
          <a:bodyPr wrap="square">
            <a:spAutoFit/>
          </a:bodyPr>
          <a:lstStyle/>
          <a:p>
            <a:pPr>
              <a:defRPr sz="1000">
                <a:solidFill>
                  <a:srgbClr val="333333"/>
                </a:solidFill>
              </a:defRPr>
            </a:pPr>
            <a:r>
              <a:rPr>
                <a:latin typeface="Arial"/>
              </a:rPr>
              <a:t>Requests password reset</a:t>
            </a:r>
          </a:p>
        </p:txBody>
      </p:sp>
      <p:sp>
        <p:nvSpPr>
          <p:cNvPr id="119" name="Rectangle 118"/>
          <p:cNvSpPr/>
          <p:nvPr/>
        </p:nvSpPr>
        <p:spPr>
          <a:xfrm>
            <a:off x="3108960" y="55778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3200400" y="5623559"/>
            <a:ext cx="1280160" cy="365760"/>
          </a:xfrm>
          <a:prstGeom prst="rect">
            <a:avLst/>
          </a:prstGeom>
          <a:noFill/>
        </p:spPr>
        <p:txBody>
          <a:bodyPr wrap="square">
            <a:spAutoFit/>
          </a:bodyPr>
          <a:lstStyle/>
          <a:p>
            <a:pPr>
              <a:defRPr sz="1000">
                <a:solidFill>
                  <a:srgbClr val="333333"/>
                </a:solidFill>
              </a:defRPr>
            </a:pPr>
            <a:r>
              <a:rPr>
                <a:latin typeface="Arial"/>
              </a:rPr>
              <a:t>Read</a:t>
            </a:r>
          </a:p>
        </p:txBody>
      </p:sp>
      <p:sp>
        <p:nvSpPr>
          <p:cNvPr id="121" name="Rectangle 120"/>
          <p:cNvSpPr/>
          <p:nvPr/>
        </p:nvSpPr>
        <p:spPr>
          <a:xfrm>
            <a:off x="4572000" y="55778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4663440" y="56235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123" name="Rectangle 122"/>
          <p:cNvSpPr/>
          <p:nvPr/>
        </p:nvSpPr>
        <p:spPr>
          <a:xfrm>
            <a:off x="6035040" y="55778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6126479" y="56235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125" name="Rectangle 124"/>
          <p:cNvSpPr/>
          <p:nvPr/>
        </p:nvSpPr>
        <p:spPr>
          <a:xfrm>
            <a:off x="7498079" y="5577840"/>
            <a:ext cx="146304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7589519" y="56235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127" name="Rectangle 126"/>
          <p:cNvSpPr/>
          <p:nvPr/>
        </p:nvSpPr>
        <p:spPr>
          <a:xfrm>
            <a:off x="8961119" y="5577840"/>
            <a:ext cx="137160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9052559" y="5623559"/>
            <a:ext cx="1188720" cy="365760"/>
          </a:xfrm>
          <a:prstGeom prst="rect">
            <a:avLst/>
          </a:prstGeom>
          <a:noFill/>
        </p:spPr>
        <p:txBody>
          <a:bodyPr wrap="square">
            <a:spAutoFit/>
          </a:bodyPr>
          <a:lstStyle/>
          <a:p>
            <a:pPr>
              <a:defRPr sz="1000">
                <a:solidFill>
                  <a:srgbClr val="333333"/>
                </a:solidFill>
              </a:defRPr>
            </a:pPr>
            <a:r>
              <a:rPr>
                <a:latin typeface="Arial"/>
              </a:rPr>
              <a:t>—</a:t>
            </a:r>
          </a:p>
        </p:txBody>
      </p:sp>
      <p:sp>
        <p:nvSpPr>
          <p:cNvPr id="129" name="Rectangle 128"/>
          <p:cNvSpPr/>
          <p:nvPr/>
        </p:nvSpPr>
        <p:spPr>
          <a:xfrm>
            <a:off x="10332719" y="5577840"/>
            <a:ext cx="1371600" cy="4572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0424159" y="5623559"/>
            <a:ext cx="1188720" cy="365760"/>
          </a:xfrm>
          <a:prstGeom prst="rect">
            <a:avLst/>
          </a:prstGeom>
          <a:noFill/>
        </p:spPr>
        <p:txBody>
          <a:bodyPr wrap="square">
            <a:spAutoFit/>
          </a:bodyPr>
          <a:lstStyle/>
          <a:p>
            <a:pPr>
              <a:defRPr sz="1000">
                <a:solidFill>
                  <a:srgbClr val="333333"/>
                </a:solidFill>
              </a:defRPr>
            </a:pPr>
            <a:r>
              <a:rPr>
                <a:latin typeface="Arial"/>
              </a:rPr>
              <a:t>—</a:t>
            </a:r>
          </a:p>
        </p:txBody>
      </p:sp>
      <p:sp>
        <p:nvSpPr>
          <p:cNvPr id="131" name="Rectangle 130"/>
          <p:cNvSpPr/>
          <p:nvPr/>
        </p:nvSpPr>
        <p:spPr>
          <a:xfrm>
            <a:off x="548640" y="6035040"/>
            <a:ext cx="25603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640080" y="6080759"/>
            <a:ext cx="2377439" cy="365760"/>
          </a:xfrm>
          <a:prstGeom prst="rect">
            <a:avLst/>
          </a:prstGeom>
          <a:noFill/>
        </p:spPr>
        <p:txBody>
          <a:bodyPr wrap="square">
            <a:spAutoFit/>
          </a:bodyPr>
          <a:lstStyle/>
          <a:p>
            <a:pPr>
              <a:defRPr sz="1000">
                <a:solidFill>
                  <a:srgbClr val="333333"/>
                </a:solidFill>
              </a:defRPr>
            </a:pPr>
            <a:r>
              <a:rPr>
                <a:latin typeface="Arial"/>
              </a:rPr>
              <a:t>Deletes their account</a:t>
            </a:r>
          </a:p>
        </p:txBody>
      </p:sp>
      <p:sp>
        <p:nvSpPr>
          <p:cNvPr id="133" name="Rectangle 132"/>
          <p:cNvSpPr/>
          <p:nvPr/>
        </p:nvSpPr>
        <p:spPr>
          <a:xfrm>
            <a:off x="3108960" y="60350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3200400" y="6080759"/>
            <a:ext cx="1280160" cy="365760"/>
          </a:xfrm>
          <a:prstGeom prst="rect">
            <a:avLst/>
          </a:prstGeom>
          <a:noFill/>
        </p:spPr>
        <p:txBody>
          <a:bodyPr wrap="square">
            <a:spAutoFit/>
          </a:bodyPr>
          <a:lstStyle/>
          <a:p>
            <a:pPr>
              <a:defRPr sz="1000">
                <a:solidFill>
                  <a:srgbClr val="333333"/>
                </a:solidFill>
              </a:defRPr>
            </a:pPr>
            <a:r>
              <a:rPr>
                <a:latin typeface="Arial"/>
              </a:rPr>
              <a:t>Delete</a:t>
            </a:r>
          </a:p>
        </p:txBody>
      </p:sp>
      <p:sp>
        <p:nvSpPr>
          <p:cNvPr id="135" name="Rectangle 134"/>
          <p:cNvSpPr/>
          <p:nvPr/>
        </p:nvSpPr>
        <p:spPr>
          <a:xfrm>
            <a:off x="4572000" y="60350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4663440" y="6080759"/>
            <a:ext cx="1280160" cy="365760"/>
          </a:xfrm>
          <a:prstGeom prst="rect">
            <a:avLst/>
          </a:prstGeom>
          <a:noFill/>
        </p:spPr>
        <p:txBody>
          <a:bodyPr wrap="square">
            <a:spAutoFit/>
          </a:bodyPr>
          <a:lstStyle/>
          <a:p>
            <a:pPr>
              <a:defRPr sz="1000">
                <a:solidFill>
                  <a:srgbClr val="333333"/>
                </a:solidFill>
              </a:defRPr>
            </a:pPr>
            <a:r>
              <a:rPr>
                <a:latin typeface="Arial"/>
              </a:rPr>
              <a:t>Delete</a:t>
            </a:r>
          </a:p>
        </p:txBody>
      </p:sp>
      <p:sp>
        <p:nvSpPr>
          <p:cNvPr id="137" name="Rectangle 136"/>
          <p:cNvSpPr/>
          <p:nvPr/>
        </p:nvSpPr>
        <p:spPr>
          <a:xfrm>
            <a:off x="6035040" y="60350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6126479" y="6080759"/>
            <a:ext cx="1280160" cy="365760"/>
          </a:xfrm>
          <a:prstGeom prst="rect">
            <a:avLst/>
          </a:prstGeom>
          <a:noFill/>
        </p:spPr>
        <p:txBody>
          <a:bodyPr wrap="square">
            <a:spAutoFit/>
          </a:bodyPr>
          <a:lstStyle/>
          <a:p>
            <a:pPr>
              <a:defRPr sz="1000">
                <a:solidFill>
                  <a:srgbClr val="333333"/>
                </a:solidFill>
              </a:defRPr>
            </a:pPr>
            <a:r>
              <a:rPr>
                <a:latin typeface="Arial"/>
              </a:rPr>
              <a:t>Delete</a:t>
            </a:r>
          </a:p>
        </p:txBody>
      </p:sp>
      <p:sp>
        <p:nvSpPr>
          <p:cNvPr id="139" name="Rectangle 138"/>
          <p:cNvSpPr/>
          <p:nvPr/>
        </p:nvSpPr>
        <p:spPr>
          <a:xfrm>
            <a:off x="7498079" y="6035040"/>
            <a:ext cx="146304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7589519" y="6080759"/>
            <a:ext cx="1280160" cy="365760"/>
          </a:xfrm>
          <a:prstGeom prst="rect">
            <a:avLst/>
          </a:prstGeom>
          <a:noFill/>
        </p:spPr>
        <p:txBody>
          <a:bodyPr wrap="square">
            <a:spAutoFit/>
          </a:bodyPr>
          <a:lstStyle/>
          <a:p>
            <a:pPr>
              <a:defRPr sz="1000">
                <a:solidFill>
                  <a:srgbClr val="333333"/>
                </a:solidFill>
              </a:defRPr>
            </a:pPr>
            <a:r>
              <a:rPr>
                <a:latin typeface="Arial"/>
              </a:rPr>
              <a:t>—</a:t>
            </a:r>
          </a:p>
        </p:txBody>
      </p:sp>
      <p:sp>
        <p:nvSpPr>
          <p:cNvPr id="141" name="Rectangle 140"/>
          <p:cNvSpPr/>
          <p:nvPr/>
        </p:nvSpPr>
        <p:spPr>
          <a:xfrm>
            <a:off x="8961119" y="60350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9052559" y="6080759"/>
            <a:ext cx="1188720" cy="365760"/>
          </a:xfrm>
          <a:prstGeom prst="rect">
            <a:avLst/>
          </a:prstGeom>
          <a:noFill/>
        </p:spPr>
        <p:txBody>
          <a:bodyPr wrap="square">
            <a:spAutoFit/>
          </a:bodyPr>
          <a:lstStyle/>
          <a:p>
            <a:pPr>
              <a:defRPr sz="1000">
                <a:solidFill>
                  <a:srgbClr val="333333"/>
                </a:solidFill>
              </a:defRPr>
            </a:pPr>
            <a:r>
              <a:rPr>
                <a:latin typeface="Arial"/>
              </a:rPr>
              <a:t>—</a:t>
            </a:r>
          </a:p>
        </p:txBody>
      </p:sp>
      <p:sp>
        <p:nvSpPr>
          <p:cNvPr id="143" name="Rectangle 142"/>
          <p:cNvSpPr/>
          <p:nvPr/>
        </p:nvSpPr>
        <p:spPr>
          <a:xfrm>
            <a:off x="10332719" y="6035040"/>
            <a:ext cx="13716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10424159" y="6080759"/>
            <a:ext cx="1188720" cy="365760"/>
          </a:xfrm>
          <a:prstGeom prst="rect">
            <a:avLst/>
          </a:prstGeom>
          <a:noFill/>
        </p:spPr>
        <p:txBody>
          <a:bodyPr wrap="square">
            <a:spAutoFit/>
          </a:bodyPr>
          <a:lstStyle/>
          <a:p>
            <a:pPr>
              <a:defRPr sz="1000">
                <a:solidFill>
                  <a:srgbClr val="333333"/>
                </a:solidFill>
              </a:defRPr>
            </a:pPr>
            <a:r>
              <a:rPr>
                <a:latin typeface="Aria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Glossary: Security Terms in Plain Language</a:t>
            </a:r>
          </a:p>
        </p:txBody>
      </p:sp>
      <p:sp>
        <p:nvSpPr>
          <p:cNvPr id="4" name="TextBox 3"/>
          <p:cNvSpPr txBox="1"/>
          <p:nvPr/>
        </p:nvSpPr>
        <p:spPr>
          <a:xfrm>
            <a:off x="548640" y="1097280"/>
            <a:ext cx="10972800" cy="365760"/>
          </a:xfrm>
          <a:prstGeom prst="rect">
            <a:avLst/>
          </a:prstGeom>
          <a:noFill/>
        </p:spPr>
        <p:txBody>
          <a:bodyPr wrap="none">
            <a:spAutoFit/>
          </a:bodyPr>
          <a:lstStyle/>
          <a:p>
            <a:pPr>
              <a:defRPr sz="1500" b="1">
                <a:solidFill>
                  <a:srgbClr val="2E6EBF"/>
                </a:solidFill>
              </a:defRPr>
            </a:pPr>
            <a:r>
              <a:rPr>
                <a:latin typeface="Arial"/>
              </a:rPr>
              <a:t>PKCE — Proof Key for Code Exchange</a:t>
            </a:r>
          </a:p>
        </p:txBody>
      </p:sp>
      <p:sp>
        <p:nvSpPr>
          <p:cNvPr id="5" name="TextBox 4"/>
          <p:cNvSpPr txBox="1"/>
          <p:nvPr/>
        </p:nvSpPr>
        <p:spPr>
          <a:xfrm>
            <a:off x="548640" y="1463040"/>
            <a:ext cx="10972800" cy="320040"/>
          </a:xfrm>
          <a:prstGeom prst="rect">
            <a:avLst/>
          </a:prstGeom>
          <a:noFill/>
        </p:spPr>
        <p:txBody>
          <a:bodyPr wrap="square">
            <a:spAutoFit/>
          </a:bodyPr>
          <a:lstStyle/>
          <a:p>
            <a:pPr>
              <a:defRPr sz="1100" b="0">
                <a:solidFill>
                  <a:srgbClr val="333333"/>
                </a:solidFill>
              </a:defRPr>
            </a:pPr>
            <a:r>
              <a:rPr>
                <a:latin typeface="Arial"/>
              </a:rPr>
              <a:t>A security add-on for login flows that prevents someone from stealing your login code mid-transit. The system creates a fresh secret for every login attempt. Only the matching puzzle (not the secret itself) is sent to the login provider. If an attacker intercepts the login code, they can't use it because they don't have the secret.</a:t>
            </a:r>
          </a:p>
        </p:txBody>
      </p:sp>
      <p:sp>
        <p:nvSpPr>
          <p:cNvPr id="6" name="TextBox 5"/>
          <p:cNvSpPr txBox="1"/>
          <p:nvPr/>
        </p:nvSpPr>
        <p:spPr>
          <a:xfrm>
            <a:off x="548640" y="2286000"/>
            <a:ext cx="10972800" cy="320040"/>
          </a:xfrm>
          <a:prstGeom prst="rect">
            <a:avLst/>
          </a:prstGeom>
          <a:noFill/>
        </p:spPr>
        <p:txBody>
          <a:bodyPr wrap="square">
            <a:spAutoFit/>
          </a:bodyPr>
          <a:lstStyle/>
          <a:p>
            <a:pPr>
              <a:defRPr sz="1100" b="0">
                <a:solidFill>
                  <a:srgbClr val="2E6EBF"/>
                </a:solidFill>
              </a:defRPr>
            </a:pPr>
            <a:r>
              <a:rPr>
                <a:latin typeface="Arial"/>
              </a:rPr>
              <a:t>In CRM Sync: Used when customers sign in with Shopify. A new secret is created and destroyed for every single login.</a:t>
            </a:r>
          </a:p>
        </p:txBody>
      </p:sp>
      <p:sp>
        <p:nvSpPr>
          <p:cNvPr id="7" name="TextBox 6"/>
          <p:cNvSpPr txBox="1"/>
          <p:nvPr/>
        </p:nvSpPr>
        <p:spPr>
          <a:xfrm>
            <a:off x="548640" y="2926080"/>
            <a:ext cx="10972800" cy="365760"/>
          </a:xfrm>
          <a:prstGeom prst="rect">
            <a:avLst/>
          </a:prstGeom>
          <a:noFill/>
        </p:spPr>
        <p:txBody>
          <a:bodyPr wrap="none">
            <a:spAutoFit/>
          </a:bodyPr>
          <a:lstStyle/>
          <a:p>
            <a:pPr>
              <a:defRPr sz="1500" b="1">
                <a:solidFill>
                  <a:srgbClr val="2E6EBF"/>
                </a:solidFill>
              </a:defRPr>
            </a:pPr>
            <a:r>
              <a:rPr>
                <a:latin typeface="Arial"/>
              </a:rPr>
              <a:t>TLS — Transport Layer Security</a:t>
            </a:r>
          </a:p>
        </p:txBody>
      </p:sp>
      <p:sp>
        <p:nvSpPr>
          <p:cNvPr id="8" name="TextBox 7"/>
          <p:cNvSpPr txBox="1"/>
          <p:nvPr/>
        </p:nvSpPr>
        <p:spPr>
          <a:xfrm>
            <a:off x="548640" y="3291840"/>
            <a:ext cx="10972800" cy="320040"/>
          </a:xfrm>
          <a:prstGeom prst="rect">
            <a:avLst/>
          </a:prstGeom>
          <a:noFill/>
        </p:spPr>
        <p:txBody>
          <a:bodyPr wrap="square">
            <a:spAutoFit/>
          </a:bodyPr>
          <a:lstStyle/>
          <a:p>
            <a:pPr>
              <a:defRPr sz="1100" b="0">
                <a:solidFill>
                  <a:srgbClr val="333333"/>
                </a:solidFill>
              </a:defRPr>
            </a:pPr>
            <a:r>
              <a:rPr>
                <a:latin typeface="Arial"/>
              </a:rPr>
              <a:t>The encryption that protects data as it moves between your browser and the server. It's the 'S' in HTTPS. Everything in transit — passwords, tokens, customer data — is scrambled so that anyone intercepting the traffic sees only random noise. The lock icon in your browser means TLS is active.</a:t>
            </a:r>
          </a:p>
        </p:txBody>
      </p:sp>
      <p:sp>
        <p:nvSpPr>
          <p:cNvPr id="9" name="TextBox 8"/>
          <p:cNvSpPr txBox="1"/>
          <p:nvPr/>
        </p:nvSpPr>
        <p:spPr>
          <a:xfrm>
            <a:off x="548640" y="4114800"/>
            <a:ext cx="10972800" cy="320040"/>
          </a:xfrm>
          <a:prstGeom prst="rect">
            <a:avLst/>
          </a:prstGeom>
          <a:noFill/>
        </p:spPr>
        <p:txBody>
          <a:bodyPr wrap="square">
            <a:spAutoFit/>
          </a:bodyPr>
          <a:lstStyle/>
          <a:p>
            <a:pPr>
              <a:defRPr sz="1100" b="0">
                <a:solidFill>
                  <a:srgbClr val="2E6EBF"/>
                </a:solidFill>
              </a:defRPr>
            </a:pPr>
            <a:r>
              <a:rPr>
                <a:latin typeface="Arial"/>
              </a:rPr>
              <a:t>In CRM Sync: All connections enforce TLS 1.2+. All data between services (database, Shopify, Google, Adobe) is always encrypted in transit.</a:t>
            </a:r>
          </a:p>
        </p:txBody>
      </p:sp>
      <p:sp>
        <p:nvSpPr>
          <p:cNvPr id="10" name="TextBox 9"/>
          <p:cNvSpPr txBox="1"/>
          <p:nvPr/>
        </p:nvSpPr>
        <p:spPr>
          <a:xfrm>
            <a:off x="548640" y="4754880"/>
            <a:ext cx="10972800" cy="365760"/>
          </a:xfrm>
          <a:prstGeom prst="rect">
            <a:avLst/>
          </a:prstGeom>
          <a:noFill/>
        </p:spPr>
        <p:txBody>
          <a:bodyPr wrap="none">
            <a:spAutoFit/>
          </a:bodyPr>
          <a:lstStyle/>
          <a:p>
            <a:pPr>
              <a:defRPr sz="1500" b="1">
                <a:solidFill>
                  <a:srgbClr val="2E6EBF"/>
                </a:solidFill>
              </a:defRPr>
            </a:pPr>
            <a:r>
              <a:rPr>
                <a:latin typeface="Arial"/>
              </a:rPr>
              <a:t>OIDC — OpenID Connect</a:t>
            </a:r>
          </a:p>
        </p:txBody>
      </p:sp>
      <p:sp>
        <p:nvSpPr>
          <p:cNvPr id="11" name="TextBox 10"/>
          <p:cNvSpPr txBox="1"/>
          <p:nvPr/>
        </p:nvSpPr>
        <p:spPr>
          <a:xfrm>
            <a:off x="548640" y="5120640"/>
            <a:ext cx="10972800" cy="320040"/>
          </a:xfrm>
          <a:prstGeom prst="rect">
            <a:avLst/>
          </a:prstGeom>
          <a:noFill/>
        </p:spPr>
        <p:txBody>
          <a:bodyPr wrap="square">
            <a:spAutoFit/>
          </a:bodyPr>
          <a:lstStyle/>
          <a:p>
            <a:pPr>
              <a:defRPr sz="1100" b="0">
                <a:solidFill>
                  <a:srgbClr val="333333"/>
                </a:solidFill>
              </a:defRPr>
            </a:pPr>
            <a:r>
              <a:rPr>
                <a:latin typeface="Arial"/>
              </a:rPr>
              <a:t>A standard that lets users sign in using an account they already have (like Google or Shopify) without sharing their password with you. The provider verifies who they are and sends back a signed ID card. Your system trusts the ID card because it's signed by the provider. The user's external password never touches your system.</a:t>
            </a:r>
          </a:p>
        </p:txBody>
      </p:sp>
      <p:sp>
        <p:nvSpPr>
          <p:cNvPr id="12" name="TextBox 11"/>
          <p:cNvSpPr txBox="1"/>
          <p:nvPr/>
        </p:nvSpPr>
        <p:spPr>
          <a:xfrm>
            <a:off x="548640" y="5943600"/>
            <a:ext cx="10972800" cy="320040"/>
          </a:xfrm>
          <a:prstGeom prst="rect">
            <a:avLst/>
          </a:prstGeom>
          <a:noFill/>
        </p:spPr>
        <p:txBody>
          <a:bodyPr wrap="square">
            <a:spAutoFit/>
          </a:bodyPr>
          <a:lstStyle/>
          <a:p>
            <a:pPr>
              <a:defRPr sz="1100" b="0">
                <a:solidFill>
                  <a:srgbClr val="2E6EBF"/>
                </a:solidFill>
              </a:defRPr>
            </a:pPr>
            <a:r>
              <a:rPr>
                <a:latin typeface="Arial"/>
              </a:rPr>
              <a:t>In CRM Sync: Both 'Sign in with Google' and 'Sign in with Shopify' use OIDC. The system receives a signed identity, not a password.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Glossary (continued)</a:t>
            </a:r>
          </a:p>
        </p:txBody>
      </p:sp>
      <p:sp>
        <p:nvSpPr>
          <p:cNvPr id="4" name="TextBox 3"/>
          <p:cNvSpPr txBox="1"/>
          <p:nvPr/>
        </p:nvSpPr>
        <p:spPr>
          <a:xfrm>
            <a:off x="548640" y="1097280"/>
            <a:ext cx="10972800" cy="365760"/>
          </a:xfrm>
          <a:prstGeom prst="rect">
            <a:avLst/>
          </a:prstGeom>
          <a:noFill/>
        </p:spPr>
        <p:txBody>
          <a:bodyPr wrap="none">
            <a:spAutoFit/>
          </a:bodyPr>
          <a:lstStyle/>
          <a:p>
            <a:pPr>
              <a:defRPr sz="1500" b="1">
                <a:solidFill>
                  <a:srgbClr val="2E6EBF"/>
                </a:solidFill>
              </a:defRPr>
            </a:pPr>
            <a:r>
              <a:rPr>
                <a:latin typeface="Arial"/>
              </a:rPr>
              <a:t>JWT — JSON Web Token (Session Pass)</a:t>
            </a:r>
          </a:p>
        </p:txBody>
      </p:sp>
      <p:sp>
        <p:nvSpPr>
          <p:cNvPr id="5" name="TextBox 4"/>
          <p:cNvSpPr txBox="1"/>
          <p:nvPr/>
        </p:nvSpPr>
        <p:spPr>
          <a:xfrm>
            <a:off x="548640" y="1463040"/>
            <a:ext cx="10972800" cy="320040"/>
          </a:xfrm>
          <a:prstGeom prst="rect">
            <a:avLst/>
          </a:prstGeom>
          <a:noFill/>
        </p:spPr>
        <p:txBody>
          <a:bodyPr wrap="square">
            <a:spAutoFit/>
          </a:bodyPr>
          <a:lstStyle/>
          <a:p>
            <a:pPr>
              <a:defRPr sz="1100" b="0">
                <a:solidFill>
                  <a:srgbClr val="333333"/>
                </a:solidFill>
              </a:defRPr>
            </a:pPr>
            <a:r>
              <a:rPr>
                <a:latin typeface="Arial"/>
              </a:rPr>
              <a:t>A tamper-proof digital wristband. After you log in, the server creates a small signed packet with your identity (user ID, email, name). This packet is stored in your browser as a secure cookie. Every time you visit a protected page, your browser sends it back automatically. The server checks that the signature hasn't been tampered with and the pass hasn't expired — no need to log in again.</a:t>
            </a:r>
          </a:p>
        </p:txBody>
      </p:sp>
      <p:sp>
        <p:nvSpPr>
          <p:cNvPr id="6" name="TextBox 5"/>
          <p:cNvSpPr txBox="1"/>
          <p:nvPr/>
        </p:nvSpPr>
        <p:spPr>
          <a:xfrm>
            <a:off x="548640" y="2286000"/>
            <a:ext cx="10972800" cy="320040"/>
          </a:xfrm>
          <a:prstGeom prst="rect">
            <a:avLst/>
          </a:prstGeom>
          <a:noFill/>
        </p:spPr>
        <p:txBody>
          <a:bodyPr wrap="square">
            <a:spAutoFit/>
          </a:bodyPr>
          <a:lstStyle/>
          <a:p>
            <a:pPr>
              <a:defRPr sz="1100" b="0">
                <a:solidFill>
                  <a:srgbClr val="2E6EBF"/>
                </a:solidFill>
              </a:defRPr>
            </a:pPr>
            <a:r>
              <a:rPr>
                <a:latin typeface="Arial"/>
              </a:rPr>
              <a:t>In CRM Sync: The server issues all session passes using encrypted signing. They expire after 7 days. JavaScript on the page cannot read or steal them.</a:t>
            </a:r>
          </a:p>
        </p:txBody>
      </p:sp>
      <p:sp>
        <p:nvSpPr>
          <p:cNvPr id="7" name="TextBox 6"/>
          <p:cNvSpPr txBox="1"/>
          <p:nvPr/>
        </p:nvSpPr>
        <p:spPr>
          <a:xfrm>
            <a:off x="548640" y="2926080"/>
            <a:ext cx="10972800" cy="365760"/>
          </a:xfrm>
          <a:prstGeom prst="rect">
            <a:avLst/>
          </a:prstGeom>
          <a:noFill/>
        </p:spPr>
        <p:txBody>
          <a:bodyPr wrap="none">
            <a:spAutoFit/>
          </a:bodyPr>
          <a:lstStyle/>
          <a:p>
            <a:pPr>
              <a:defRPr sz="1500" b="1">
                <a:solidFill>
                  <a:srgbClr val="2E6EBF"/>
                </a:solidFill>
              </a:defRPr>
            </a:pPr>
            <a:r>
              <a:rPr>
                <a:latin typeface="Arial"/>
              </a:rPr>
              <a:t>HMAC — Hash-Based Message Authentication Code</a:t>
            </a:r>
          </a:p>
        </p:txBody>
      </p:sp>
      <p:sp>
        <p:nvSpPr>
          <p:cNvPr id="8" name="TextBox 7"/>
          <p:cNvSpPr txBox="1"/>
          <p:nvPr/>
        </p:nvSpPr>
        <p:spPr>
          <a:xfrm>
            <a:off x="548640" y="3291840"/>
            <a:ext cx="10972800" cy="320040"/>
          </a:xfrm>
          <a:prstGeom prst="rect">
            <a:avLst/>
          </a:prstGeom>
          <a:noFill/>
        </p:spPr>
        <p:txBody>
          <a:bodyPr wrap="square">
            <a:spAutoFit/>
          </a:bodyPr>
          <a:lstStyle/>
          <a:p>
            <a:pPr>
              <a:defRPr sz="1100" b="0">
                <a:solidFill>
                  <a:srgbClr val="333333"/>
                </a:solidFill>
              </a:defRPr>
            </a:pPr>
            <a:r>
              <a:rPr>
                <a:latin typeface="Arial"/>
              </a:rPr>
              <a:t>A way to verify that a message (like an update from Shopify) actually came from Shopify and wasn't altered in transit. Both sides share a secret key. When Shopify sends an update, it creates a fingerprint of the message using the shared key. The server creates its own fingerprint and compares — if they match, the message is authentic.</a:t>
            </a:r>
          </a:p>
        </p:txBody>
      </p:sp>
      <p:sp>
        <p:nvSpPr>
          <p:cNvPr id="9" name="TextBox 8"/>
          <p:cNvSpPr txBox="1"/>
          <p:nvPr/>
        </p:nvSpPr>
        <p:spPr>
          <a:xfrm>
            <a:off x="548640" y="4114800"/>
            <a:ext cx="10972800" cy="320040"/>
          </a:xfrm>
          <a:prstGeom prst="rect">
            <a:avLst/>
          </a:prstGeom>
          <a:noFill/>
        </p:spPr>
        <p:txBody>
          <a:bodyPr wrap="square">
            <a:spAutoFit/>
          </a:bodyPr>
          <a:lstStyle/>
          <a:p>
            <a:pPr>
              <a:defRPr sz="1100" b="0">
                <a:solidFill>
                  <a:srgbClr val="2E6EBF"/>
                </a:solidFill>
              </a:defRPr>
            </a:pPr>
            <a:r>
              <a:rPr>
                <a:latin typeface="Arial"/>
              </a:rPr>
              <a:t>In CRM Sync: All Shopify updates and privacy compliance requests are verified this way. If the fingerprint doesn't match, the request is rejected.</a:t>
            </a:r>
          </a:p>
        </p:txBody>
      </p:sp>
      <p:sp>
        <p:nvSpPr>
          <p:cNvPr id="10" name="TextBox 9"/>
          <p:cNvSpPr txBox="1"/>
          <p:nvPr/>
        </p:nvSpPr>
        <p:spPr>
          <a:xfrm>
            <a:off x="548640" y="4754880"/>
            <a:ext cx="10972800" cy="365760"/>
          </a:xfrm>
          <a:prstGeom prst="rect">
            <a:avLst/>
          </a:prstGeom>
          <a:noFill/>
        </p:spPr>
        <p:txBody>
          <a:bodyPr wrap="none">
            <a:spAutoFit/>
          </a:bodyPr>
          <a:lstStyle/>
          <a:p>
            <a:pPr>
              <a:defRPr sz="1500" b="1">
                <a:solidFill>
                  <a:srgbClr val="2E6EBF"/>
                </a:solidFill>
              </a:defRPr>
            </a:pPr>
            <a:r>
              <a:rPr>
                <a:latin typeface="Arial"/>
              </a:rPr>
              <a:t>Zero Trust — Never Trust, Always Verify</a:t>
            </a:r>
          </a:p>
        </p:txBody>
      </p:sp>
      <p:sp>
        <p:nvSpPr>
          <p:cNvPr id="11" name="TextBox 10"/>
          <p:cNvSpPr txBox="1"/>
          <p:nvPr/>
        </p:nvSpPr>
        <p:spPr>
          <a:xfrm>
            <a:off x="548640" y="5120640"/>
            <a:ext cx="10972800" cy="320040"/>
          </a:xfrm>
          <a:prstGeom prst="rect">
            <a:avLst/>
          </a:prstGeom>
          <a:noFill/>
        </p:spPr>
        <p:txBody>
          <a:bodyPr wrap="square">
            <a:spAutoFit/>
          </a:bodyPr>
          <a:lstStyle/>
          <a:p>
            <a:pPr>
              <a:defRPr sz="1100" b="0">
                <a:solidFill>
                  <a:srgbClr val="333333"/>
                </a:solidFill>
              </a:defRPr>
            </a:pPr>
            <a:r>
              <a:rPr>
                <a:latin typeface="Arial"/>
              </a:rPr>
              <a:t>A security philosophy that says every request must prove it's authorized — even from inside the network. Traditional security is like a building with one locked front door: once inside, you can go anywhere. Zero Trust is like a building where every room has its own lock and every person must badge in at every door, every time.</a:t>
            </a:r>
          </a:p>
        </p:txBody>
      </p:sp>
      <p:sp>
        <p:nvSpPr>
          <p:cNvPr id="12" name="TextBox 11"/>
          <p:cNvSpPr txBox="1"/>
          <p:nvPr/>
        </p:nvSpPr>
        <p:spPr>
          <a:xfrm>
            <a:off x="548640" y="5943600"/>
            <a:ext cx="10972800" cy="320040"/>
          </a:xfrm>
          <a:prstGeom prst="rect">
            <a:avLst/>
          </a:prstGeom>
          <a:noFill/>
        </p:spPr>
        <p:txBody>
          <a:bodyPr wrap="square">
            <a:spAutoFit/>
          </a:bodyPr>
          <a:lstStyle/>
          <a:p>
            <a:pPr>
              <a:defRPr sz="1100" b="0">
                <a:solidFill>
                  <a:srgbClr val="2E6EBF"/>
                </a:solidFill>
              </a:defRPr>
            </a:pPr>
            <a:r>
              <a:rPr>
                <a:latin typeface="Arial"/>
              </a:rPr>
              <a:t>In CRM Sync: Cloudflare implements Zero Trust for admin pages. API connections use their own independent security layers. No single credential grants access to everything.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AI-Native Security Requirements</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defRPr>
            </a:pPr>
            <a:r>
              <a:rPr>
                <a:latin typeface="Arial"/>
              </a:rPr>
              <a:t>Modern applications that use AI assistants, chat agents, and automated tools need additional security safeguards beyond traditional login protection. These requirements apply to any AI-powered features in CRM Sync.</a:t>
            </a:r>
          </a:p>
        </p:txBody>
      </p:sp>
      <p:sp>
        <p:nvSpPr>
          <p:cNvPr id="5" name="Rectangle 4"/>
          <p:cNvSpPr/>
          <p:nvPr/>
        </p:nvSpPr>
        <p:spPr>
          <a:xfrm>
            <a:off x="548640" y="1828800"/>
            <a:ext cx="457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01952"/>
            <a:ext cx="274320" cy="320040"/>
          </a:xfrm>
          <a:prstGeom prst="rect">
            <a:avLst/>
          </a:prstGeom>
          <a:noFill/>
        </p:spPr>
        <p:txBody>
          <a:bodyPr wrap="square">
            <a:spAutoFit/>
          </a:bodyPr>
          <a:lstStyle/>
          <a:p>
            <a:pPr>
              <a:defRPr sz="1100" b="1">
                <a:solidFill>
                  <a:srgbClr val="FFFFFF"/>
                </a:solidFill>
              </a:defRPr>
            </a:pPr>
            <a:r>
              <a:rPr>
                <a:latin typeface="Arial"/>
              </a:rPr>
              <a:t>#</a:t>
            </a:r>
          </a:p>
        </p:txBody>
      </p:sp>
      <p:sp>
        <p:nvSpPr>
          <p:cNvPr id="7" name="Rectangle 6"/>
          <p:cNvSpPr/>
          <p:nvPr/>
        </p:nvSpPr>
        <p:spPr>
          <a:xfrm>
            <a:off x="1005840" y="1828800"/>
            <a:ext cx="2286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901952"/>
            <a:ext cx="2103120" cy="320040"/>
          </a:xfrm>
          <a:prstGeom prst="rect">
            <a:avLst/>
          </a:prstGeom>
          <a:noFill/>
        </p:spPr>
        <p:txBody>
          <a:bodyPr wrap="square">
            <a:spAutoFit/>
          </a:bodyPr>
          <a:lstStyle/>
          <a:p>
            <a:pPr>
              <a:defRPr sz="1100" b="1">
                <a:solidFill>
                  <a:srgbClr val="FFFFFF"/>
                </a:solidFill>
              </a:defRPr>
            </a:pPr>
            <a:r>
              <a:rPr>
                <a:latin typeface="Arial"/>
              </a:rPr>
              <a:t>Requirement</a:t>
            </a:r>
          </a:p>
        </p:txBody>
      </p:sp>
      <p:sp>
        <p:nvSpPr>
          <p:cNvPr id="9" name="Rectangle 8"/>
          <p:cNvSpPr/>
          <p:nvPr/>
        </p:nvSpPr>
        <p:spPr>
          <a:xfrm>
            <a:off x="3291840" y="1828800"/>
            <a:ext cx="41148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83280" y="1901952"/>
            <a:ext cx="3931920" cy="320040"/>
          </a:xfrm>
          <a:prstGeom prst="rect">
            <a:avLst/>
          </a:prstGeom>
          <a:noFill/>
        </p:spPr>
        <p:txBody>
          <a:bodyPr wrap="square">
            <a:spAutoFit/>
          </a:bodyPr>
          <a:lstStyle/>
          <a:p>
            <a:pPr>
              <a:defRPr sz="1100" b="1">
                <a:solidFill>
                  <a:srgbClr val="FFFFFF"/>
                </a:solidFill>
              </a:defRPr>
            </a:pPr>
            <a:r>
              <a:rPr>
                <a:latin typeface="Arial"/>
              </a:rPr>
              <a:t>What This Means</a:t>
            </a:r>
          </a:p>
        </p:txBody>
      </p:sp>
      <p:sp>
        <p:nvSpPr>
          <p:cNvPr id="11" name="Rectangle 10"/>
          <p:cNvSpPr/>
          <p:nvPr/>
        </p:nvSpPr>
        <p:spPr>
          <a:xfrm>
            <a:off x="7406640" y="1828800"/>
            <a:ext cx="429768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1901952"/>
            <a:ext cx="4114800" cy="320040"/>
          </a:xfrm>
          <a:prstGeom prst="rect">
            <a:avLst/>
          </a:prstGeom>
          <a:noFill/>
        </p:spPr>
        <p:txBody>
          <a:bodyPr wrap="square">
            <a:spAutoFit/>
          </a:bodyPr>
          <a:lstStyle/>
          <a:p>
            <a:pPr>
              <a:defRPr sz="1100" b="1">
                <a:solidFill>
                  <a:srgbClr val="FFFFFF"/>
                </a:solidFill>
              </a:defRPr>
            </a:pPr>
            <a:r>
              <a:rPr>
                <a:latin typeface="Arial"/>
              </a:rPr>
              <a:t>How CRM Sync Addresses It</a:t>
            </a:r>
          </a:p>
        </p:txBody>
      </p:sp>
      <p:sp>
        <p:nvSpPr>
          <p:cNvPr id="13" name="Rectangle 12"/>
          <p:cNvSpPr/>
          <p:nvPr/>
        </p:nvSpPr>
        <p:spPr>
          <a:xfrm>
            <a:off x="548640" y="2286000"/>
            <a:ext cx="457200" cy="13716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331720"/>
            <a:ext cx="274320" cy="1280160"/>
          </a:xfrm>
          <a:prstGeom prst="rect">
            <a:avLst/>
          </a:prstGeom>
          <a:noFill/>
        </p:spPr>
        <p:txBody>
          <a:bodyPr wrap="square">
            <a:spAutoFit/>
          </a:bodyPr>
          <a:lstStyle/>
          <a:p>
            <a:pPr>
              <a:defRPr sz="1000">
                <a:solidFill>
                  <a:srgbClr val="333333"/>
                </a:solidFill>
              </a:defRPr>
            </a:pPr>
            <a:r>
              <a:rPr>
                <a:latin typeface="Arial"/>
              </a:rPr>
              <a:t>1</a:t>
            </a:r>
          </a:p>
        </p:txBody>
      </p:sp>
      <p:sp>
        <p:nvSpPr>
          <p:cNvPr id="15" name="Rectangle 14"/>
          <p:cNvSpPr/>
          <p:nvPr/>
        </p:nvSpPr>
        <p:spPr>
          <a:xfrm>
            <a:off x="1005840" y="2286000"/>
            <a:ext cx="2286000" cy="13716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2331720"/>
            <a:ext cx="2103120" cy="1280160"/>
          </a:xfrm>
          <a:prstGeom prst="rect">
            <a:avLst/>
          </a:prstGeom>
          <a:noFill/>
        </p:spPr>
        <p:txBody>
          <a:bodyPr wrap="square">
            <a:spAutoFit/>
          </a:bodyPr>
          <a:lstStyle/>
          <a:p>
            <a:pPr>
              <a:defRPr sz="1000">
                <a:solidFill>
                  <a:srgbClr val="333333"/>
                </a:solidFill>
              </a:defRPr>
            </a:pPr>
            <a:r>
              <a:rPr>
                <a:latin typeface="Arial"/>
              </a:rPr>
              <a:t>Credential Isolation</a:t>
            </a:r>
            <a:br/>
            <a:r>
              <a:rPr>
                <a:latin typeface="Arial"/>
              </a:rPr>
              <a:t>for AI Agents</a:t>
            </a:r>
          </a:p>
        </p:txBody>
      </p:sp>
      <p:sp>
        <p:nvSpPr>
          <p:cNvPr id="17" name="Rectangle 16"/>
          <p:cNvSpPr/>
          <p:nvPr/>
        </p:nvSpPr>
        <p:spPr>
          <a:xfrm>
            <a:off x="3291840" y="2286000"/>
            <a:ext cx="4114800" cy="13716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83280" y="2331720"/>
            <a:ext cx="3931920" cy="1280160"/>
          </a:xfrm>
          <a:prstGeom prst="rect">
            <a:avLst/>
          </a:prstGeom>
          <a:noFill/>
        </p:spPr>
        <p:txBody>
          <a:bodyPr wrap="square">
            <a:spAutoFit/>
          </a:bodyPr>
          <a:lstStyle/>
          <a:p>
            <a:pPr>
              <a:defRPr sz="1000">
                <a:solidFill>
                  <a:srgbClr val="333333"/>
                </a:solidFill>
              </a:defRPr>
            </a:pPr>
            <a:r>
              <a:rPr>
                <a:latin typeface="Arial"/>
              </a:rPr>
              <a:t>AI tools and automated assistants must never have direct access to production passwords, API keys, or admin credentials.</a:t>
            </a:r>
          </a:p>
        </p:txBody>
      </p:sp>
      <p:sp>
        <p:nvSpPr>
          <p:cNvPr id="19" name="Rectangle 18"/>
          <p:cNvSpPr/>
          <p:nvPr/>
        </p:nvSpPr>
        <p:spPr>
          <a:xfrm>
            <a:off x="7406640" y="2286000"/>
            <a:ext cx="4297680" cy="13716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79" y="2331720"/>
            <a:ext cx="4114800" cy="1280160"/>
          </a:xfrm>
          <a:prstGeom prst="rect">
            <a:avLst/>
          </a:prstGeom>
          <a:noFill/>
        </p:spPr>
        <p:txBody>
          <a:bodyPr wrap="square">
            <a:spAutoFit/>
          </a:bodyPr>
          <a:lstStyle/>
          <a:p>
            <a:pPr>
              <a:defRPr sz="1000">
                <a:solidFill>
                  <a:srgbClr val="333333"/>
                </a:solidFill>
              </a:defRPr>
            </a:pPr>
            <a:r>
              <a:rPr>
                <a:latin typeface="Arial"/>
              </a:rPr>
              <a:t>AI tools receive only the specific credentials they need — never the full set. Admin keys, encryption secrets, and app passwords are stored separately and never exposed to AI contexts.</a:t>
            </a:r>
          </a:p>
        </p:txBody>
      </p:sp>
      <p:sp>
        <p:nvSpPr>
          <p:cNvPr id="21" name="Rectangle 20"/>
          <p:cNvSpPr/>
          <p:nvPr/>
        </p:nvSpPr>
        <p:spPr>
          <a:xfrm>
            <a:off x="548640" y="3657600"/>
            <a:ext cx="457200" cy="13716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703320"/>
            <a:ext cx="274320" cy="1280160"/>
          </a:xfrm>
          <a:prstGeom prst="rect">
            <a:avLst/>
          </a:prstGeom>
          <a:noFill/>
        </p:spPr>
        <p:txBody>
          <a:bodyPr wrap="square">
            <a:spAutoFit/>
          </a:bodyPr>
          <a:lstStyle/>
          <a:p>
            <a:pPr>
              <a:defRPr sz="1000">
                <a:solidFill>
                  <a:srgbClr val="333333"/>
                </a:solidFill>
              </a:defRPr>
            </a:pPr>
            <a:r>
              <a:rPr>
                <a:latin typeface="Arial"/>
              </a:rPr>
              <a:t>2</a:t>
            </a:r>
          </a:p>
        </p:txBody>
      </p:sp>
      <p:sp>
        <p:nvSpPr>
          <p:cNvPr id="23" name="Rectangle 22"/>
          <p:cNvSpPr/>
          <p:nvPr/>
        </p:nvSpPr>
        <p:spPr>
          <a:xfrm>
            <a:off x="1005840" y="3657600"/>
            <a:ext cx="2286000" cy="13716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3703320"/>
            <a:ext cx="2103120" cy="1280160"/>
          </a:xfrm>
          <a:prstGeom prst="rect">
            <a:avLst/>
          </a:prstGeom>
          <a:noFill/>
        </p:spPr>
        <p:txBody>
          <a:bodyPr wrap="square">
            <a:spAutoFit/>
          </a:bodyPr>
          <a:lstStyle/>
          <a:p>
            <a:pPr>
              <a:defRPr sz="1000">
                <a:solidFill>
                  <a:srgbClr val="333333"/>
                </a:solidFill>
              </a:defRPr>
            </a:pPr>
            <a:r>
              <a:rPr>
                <a:latin typeface="Arial"/>
              </a:rPr>
              <a:t>Prompt Injection</a:t>
            </a:r>
            <a:br/>
            <a:r>
              <a:rPr>
                <a:latin typeface="Arial"/>
              </a:rPr>
              <a:t>Defense</a:t>
            </a:r>
          </a:p>
        </p:txBody>
      </p:sp>
      <p:sp>
        <p:nvSpPr>
          <p:cNvPr id="25" name="Rectangle 24"/>
          <p:cNvSpPr/>
          <p:nvPr/>
        </p:nvSpPr>
        <p:spPr>
          <a:xfrm>
            <a:off x="3291840" y="3657600"/>
            <a:ext cx="4114800" cy="13716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83280" y="3703320"/>
            <a:ext cx="3931920" cy="1280160"/>
          </a:xfrm>
          <a:prstGeom prst="rect">
            <a:avLst/>
          </a:prstGeom>
          <a:noFill/>
        </p:spPr>
        <p:txBody>
          <a:bodyPr wrap="square">
            <a:spAutoFit/>
          </a:bodyPr>
          <a:lstStyle/>
          <a:p>
            <a:pPr>
              <a:defRPr sz="1000">
                <a:solidFill>
                  <a:srgbClr val="333333"/>
                </a:solidFill>
              </a:defRPr>
            </a:pPr>
            <a:r>
              <a:rPr>
                <a:latin typeface="Arial"/>
              </a:rPr>
              <a:t>Customer-entered data (names, tags, form inputs) must never be mistakenly treated as instructions by AI systems.</a:t>
            </a:r>
          </a:p>
        </p:txBody>
      </p:sp>
      <p:sp>
        <p:nvSpPr>
          <p:cNvPr id="27" name="Rectangle 26"/>
          <p:cNvSpPr/>
          <p:nvPr/>
        </p:nvSpPr>
        <p:spPr>
          <a:xfrm>
            <a:off x="7406640" y="3657600"/>
            <a:ext cx="4297680" cy="137160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79" y="3703320"/>
            <a:ext cx="4114800" cy="1280160"/>
          </a:xfrm>
          <a:prstGeom prst="rect">
            <a:avLst/>
          </a:prstGeom>
          <a:noFill/>
        </p:spPr>
        <p:txBody>
          <a:bodyPr wrap="square">
            <a:spAutoFit/>
          </a:bodyPr>
          <a:lstStyle/>
          <a:p>
            <a:pPr>
              <a:defRPr sz="1000">
                <a:solidFill>
                  <a:srgbClr val="333333"/>
                </a:solidFill>
              </a:defRPr>
            </a:pPr>
            <a:r>
              <a:rPr>
                <a:latin typeface="Arial"/>
              </a:rPr>
              <a:t>All customer inputs are stored as structured data, not free text. Tag names are sanitized before storage. All data displayed to users is escaped to prevent code execution.</a:t>
            </a:r>
          </a:p>
        </p:txBody>
      </p:sp>
      <p:sp>
        <p:nvSpPr>
          <p:cNvPr id="29" name="Rectangle 28"/>
          <p:cNvSpPr/>
          <p:nvPr/>
        </p:nvSpPr>
        <p:spPr>
          <a:xfrm>
            <a:off x="548640" y="5029200"/>
            <a:ext cx="457200" cy="13716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5074920"/>
            <a:ext cx="274320" cy="1280160"/>
          </a:xfrm>
          <a:prstGeom prst="rect">
            <a:avLst/>
          </a:prstGeom>
          <a:noFill/>
        </p:spPr>
        <p:txBody>
          <a:bodyPr wrap="square">
            <a:spAutoFit/>
          </a:bodyPr>
          <a:lstStyle/>
          <a:p>
            <a:pPr>
              <a:defRPr sz="1000">
                <a:solidFill>
                  <a:srgbClr val="333333"/>
                </a:solidFill>
              </a:defRPr>
            </a:pPr>
            <a:r>
              <a:rPr>
                <a:latin typeface="Arial"/>
              </a:rPr>
              <a:t>3</a:t>
            </a:r>
          </a:p>
        </p:txBody>
      </p:sp>
      <p:sp>
        <p:nvSpPr>
          <p:cNvPr id="31" name="Rectangle 30"/>
          <p:cNvSpPr/>
          <p:nvPr/>
        </p:nvSpPr>
        <p:spPr>
          <a:xfrm>
            <a:off x="1005840" y="5029200"/>
            <a:ext cx="2286000" cy="13716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97280" y="5074920"/>
            <a:ext cx="2103120" cy="1280160"/>
          </a:xfrm>
          <a:prstGeom prst="rect">
            <a:avLst/>
          </a:prstGeom>
          <a:noFill/>
        </p:spPr>
        <p:txBody>
          <a:bodyPr wrap="square">
            <a:spAutoFit/>
          </a:bodyPr>
          <a:lstStyle/>
          <a:p>
            <a:pPr>
              <a:defRPr sz="1000">
                <a:solidFill>
                  <a:srgbClr val="333333"/>
                </a:solidFill>
              </a:defRPr>
            </a:pPr>
            <a:r>
              <a:rPr>
                <a:latin typeface="Arial"/>
              </a:rPr>
              <a:t>Short-Lived Tokens</a:t>
            </a:r>
            <a:br/>
            <a:r>
              <a:rPr>
                <a:latin typeface="Arial"/>
              </a:rPr>
              <a:t>for AI Workflows</a:t>
            </a:r>
          </a:p>
        </p:txBody>
      </p:sp>
      <p:sp>
        <p:nvSpPr>
          <p:cNvPr id="33" name="Rectangle 32"/>
          <p:cNvSpPr/>
          <p:nvPr/>
        </p:nvSpPr>
        <p:spPr>
          <a:xfrm>
            <a:off x="3291840" y="5029200"/>
            <a:ext cx="4114800" cy="13716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383280" y="5074920"/>
            <a:ext cx="3931920" cy="1280160"/>
          </a:xfrm>
          <a:prstGeom prst="rect">
            <a:avLst/>
          </a:prstGeom>
          <a:noFill/>
        </p:spPr>
        <p:txBody>
          <a:bodyPr wrap="square">
            <a:spAutoFit/>
          </a:bodyPr>
          <a:lstStyle/>
          <a:p>
            <a:pPr>
              <a:defRPr sz="1000">
                <a:solidFill>
                  <a:srgbClr val="333333"/>
                </a:solidFill>
              </a:defRPr>
            </a:pPr>
            <a:r>
              <a:rPr>
                <a:latin typeface="Arial"/>
              </a:rPr>
              <a:t>AI tools acting on behalf of users must use temporary, limited-permission credentials — not long-lived admin keys.</a:t>
            </a:r>
          </a:p>
        </p:txBody>
      </p:sp>
      <p:sp>
        <p:nvSpPr>
          <p:cNvPr id="35" name="Rectangle 34"/>
          <p:cNvSpPr/>
          <p:nvPr/>
        </p:nvSpPr>
        <p:spPr>
          <a:xfrm>
            <a:off x="7406640" y="5029200"/>
            <a:ext cx="4297680" cy="13716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98079" y="5074920"/>
            <a:ext cx="4114800" cy="1280160"/>
          </a:xfrm>
          <a:prstGeom prst="rect">
            <a:avLst/>
          </a:prstGeom>
          <a:noFill/>
        </p:spPr>
        <p:txBody>
          <a:bodyPr wrap="square">
            <a:spAutoFit/>
          </a:bodyPr>
          <a:lstStyle/>
          <a:p>
            <a:pPr>
              <a:defRPr sz="1000">
                <a:solidFill>
                  <a:srgbClr val="333333"/>
                </a:solidFill>
              </a:defRPr>
            </a:pPr>
            <a:r>
              <a:rPr>
                <a:latin typeface="Arial"/>
              </a:rPr>
              <a:t>Session tokens expire in 7 days. Login codes expire in 5–10 minutes and are single-use. Per-store admin keys limit access to one store, not the entire platform.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AI-Native Security Requirements (continued)</a:t>
            </a:r>
          </a:p>
        </p:txBody>
      </p:sp>
      <p:sp>
        <p:nvSpPr>
          <p:cNvPr id="4" name="Rectangle 3"/>
          <p:cNvSpPr/>
          <p:nvPr/>
        </p:nvSpPr>
        <p:spPr>
          <a:xfrm>
            <a:off x="548640" y="1097280"/>
            <a:ext cx="457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170432"/>
            <a:ext cx="274320" cy="320040"/>
          </a:xfrm>
          <a:prstGeom prst="rect">
            <a:avLst/>
          </a:prstGeom>
          <a:noFill/>
        </p:spPr>
        <p:txBody>
          <a:bodyPr wrap="square">
            <a:spAutoFit/>
          </a:bodyPr>
          <a:lstStyle/>
          <a:p>
            <a:pPr>
              <a:defRPr sz="1100" b="1">
                <a:solidFill>
                  <a:srgbClr val="FFFFFF"/>
                </a:solidFill>
              </a:defRPr>
            </a:pPr>
            <a:r>
              <a:rPr>
                <a:latin typeface="Arial"/>
              </a:rPr>
              <a:t>#</a:t>
            </a:r>
          </a:p>
        </p:txBody>
      </p:sp>
      <p:sp>
        <p:nvSpPr>
          <p:cNvPr id="6" name="Rectangle 5"/>
          <p:cNvSpPr/>
          <p:nvPr/>
        </p:nvSpPr>
        <p:spPr>
          <a:xfrm>
            <a:off x="1005840" y="1097280"/>
            <a:ext cx="2286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170432"/>
            <a:ext cx="2103120" cy="320040"/>
          </a:xfrm>
          <a:prstGeom prst="rect">
            <a:avLst/>
          </a:prstGeom>
          <a:noFill/>
        </p:spPr>
        <p:txBody>
          <a:bodyPr wrap="square">
            <a:spAutoFit/>
          </a:bodyPr>
          <a:lstStyle/>
          <a:p>
            <a:pPr>
              <a:defRPr sz="1100" b="1">
                <a:solidFill>
                  <a:srgbClr val="FFFFFF"/>
                </a:solidFill>
              </a:defRPr>
            </a:pPr>
            <a:r>
              <a:rPr>
                <a:latin typeface="Arial"/>
              </a:rPr>
              <a:t>Requirement</a:t>
            </a:r>
          </a:p>
        </p:txBody>
      </p:sp>
      <p:sp>
        <p:nvSpPr>
          <p:cNvPr id="8" name="Rectangle 7"/>
          <p:cNvSpPr/>
          <p:nvPr/>
        </p:nvSpPr>
        <p:spPr>
          <a:xfrm>
            <a:off x="3291840" y="1097280"/>
            <a:ext cx="41148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83280" y="1170432"/>
            <a:ext cx="3931920" cy="320040"/>
          </a:xfrm>
          <a:prstGeom prst="rect">
            <a:avLst/>
          </a:prstGeom>
          <a:noFill/>
        </p:spPr>
        <p:txBody>
          <a:bodyPr wrap="square">
            <a:spAutoFit/>
          </a:bodyPr>
          <a:lstStyle/>
          <a:p>
            <a:pPr>
              <a:defRPr sz="1100" b="1">
                <a:solidFill>
                  <a:srgbClr val="FFFFFF"/>
                </a:solidFill>
              </a:defRPr>
            </a:pPr>
            <a:r>
              <a:rPr>
                <a:latin typeface="Arial"/>
              </a:rPr>
              <a:t>What This Means</a:t>
            </a:r>
          </a:p>
        </p:txBody>
      </p:sp>
      <p:sp>
        <p:nvSpPr>
          <p:cNvPr id="10" name="Rectangle 9"/>
          <p:cNvSpPr/>
          <p:nvPr/>
        </p:nvSpPr>
        <p:spPr>
          <a:xfrm>
            <a:off x="7406640" y="1097280"/>
            <a:ext cx="429768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79" y="1170432"/>
            <a:ext cx="4114800" cy="320040"/>
          </a:xfrm>
          <a:prstGeom prst="rect">
            <a:avLst/>
          </a:prstGeom>
          <a:noFill/>
        </p:spPr>
        <p:txBody>
          <a:bodyPr wrap="square">
            <a:spAutoFit/>
          </a:bodyPr>
          <a:lstStyle/>
          <a:p>
            <a:pPr>
              <a:defRPr sz="1100" b="1">
                <a:solidFill>
                  <a:srgbClr val="FFFFFF"/>
                </a:solidFill>
              </a:defRPr>
            </a:pPr>
            <a:r>
              <a:rPr>
                <a:latin typeface="Arial"/>
              </a:rPr>
              <a:t>How CRM Sync Addresses It</a:t>
            </a:r>
          </a:p>
        </p:txBody>
      </p:sp>
      <p:sp>
        <p:nvSpPr>
          <p:cNvPr id="12" name="Rectangle 11"/>
          <p:cNvSpPr/>
          <p:nvPr/>
        </p:nvSpPr>
        <p:spPr>
          <a:xfrm>
            <a:off x="548640" y="1554480"/>
            <a:ext cx="457200" cy="1554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1600200"/>
            <a:ext cx="274320" cy="1463039"/>
          </a:xfrm>
          <a:prstGeom prst="rect">
            <a:avLst/>
          </a:prstGeom>
          <a:noFill/>
        </p:spPr>
        <p:txBody>
          <a:bodyPr wrap="square">
            <a:spAutoFit/>
          </a:bodyPr>
          <a:lstStyle/>
          <a:p>
            <a:pPr>
              <a:defRPr sz="1000">
                <a:solidFill>
                  <a:srgbClr val="333333"/>
                </a:solidFill>
              </a:defRPr>
            </a:pPr>
            <a:r>
              <a:rPr>
                <a:latin typeface="Arial"/>
              </a:rPr>
              <a:t>4</a:t>
            </a:r>
          </a:p>
        </p:txBody>
      </p:sp>
      <p:sp>
        <p:nvSpPr>
          <p:cNvPr id="14" name="Rectangle 13"/>
          <p:cNvSpPr/>
          <p:nvPr/>
        </p:nvSpPr>
        <p:spPr>
          <a:xfrm>
            <a:off x="1005840" y="1554480"/>
            <a:ext cx="2286000" cy="1554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1600200"/>
            <a:ext cx="2103120" cy="1463039"/>
          </a:xfrm>
          <a:prstGeom prst="rect">
            <a:avLst/>
          </a:prstGeom>
          <a:noFill/>
        </p:spPr>
        <p:txBody>
          <a:bodyPr wrap="square">
            <a:spAutoFit/>
          </a:bodyPr>
          <a:lstStyle/>
          <a:p>
            <a:pPr>
              <a:defRPr sz="1000">
                <a:solidFill>
                  <a:srgbClr val="333333"/>
                </a:solidFill>
              </a:defRPr>
            </a:pPr>
            <a:r>
              <a:rPr>
                <a:latin typeface="Arial"/>
              </a:rPr>
              <a:t>Audit Trail for</a:t>
            </a:r>
            <a:br/>
            <a:r>
              <a:rPr>
                <a:latin typeface="Arial"/>
              </a:rPr>
              <a:t>AI Actions</a:t>
            </a:r>
          </a:p>
        </p:txBody>
      </p:sp>
      <p:sp>
        <p:nvSpPr>
          <p:cNvPr id="16" name="Rectangle 15"/>
          <p:cNvSpPr/>
          <p:nvPr/>
        </p:nvSpPr>
        <p:spPr>
          <a:xfrm>
            <a:off x="3291840" y="1554480"/>
            <a:ext cx="4114800" cy="1554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1600200"/>
            <a:ext cx="3931920" cy="1463039"/>
          </a:xfrm>
          <a:prstGeom prst="rect">
            <a:avLst/>
          </a:prstGeom>
          <a:noFill/>
        </p:spPr>
        <p:txBody>
          <a:bodyPr wrap="square">
            <a:spAutoFit/>
          </a:bodyPr>
          <a:lstStyle/>
          <a:p>
            <a:pPr>
              <a:defRPr sz="1000">
                <a:solidFill>
                  <a:srgbClr val="333333"/>
                </a:solidFill>
              </a:defRPr>
            </a:pPr>
            <a:r>
              <a:rPr>
                <a:latin typeface="Arial"/>
              </a:rPr>
              <a:t>Every action taken by an AI tool must be logged with the same detail as human actions — including which tool acted and who authorized it.</a:t>
            </a:r>
          </a:p>
        </p:txBody>
      </p:sp>
      <p:sp>
        <p:nvSpPr>
          <p:cNvPr id="18" name="Rectangle 17"/>
          <p:cNvSpPr/>
          <p:nvPr/>
        </p:nvSpPr>
        <p:spPr>
          <a:xfrm>
            <a:off x="7406640" y="1554480"/>
            <a:ext cx="4297680" cy="1554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79" y="1600200"/>
            <a:ext cx="4114800" cy="1463039"/>
          </a:xfrm>
          <a:prstGeom prst="rect">
            <a:avLst/>
          </a:prstGeom>
          <a:noFill/>
        </p:spPr>
        <p:txBody>
          <a:bodyPr wrap="square">
            <a:spAutoFit/>
          </a:bodyPr>
          <a:lstStyle/>
          <a:p>
            <a:pPr>
              <a:defRPr sz="1000">
                <a:solidFill>
                  <a:srgbClr val="333333"/>
                </a:solidFill>
              </a:defRPr>
            </a:pPr>
            <a:r>
              <a:rPr>
                <a:latin typeface="Arial"/>
              </a:rPr>
              <a:t>Every consent change, tag update, and admin operation is logged with method, timestamp, browser info, and session ID. The 'source' field identifies whether the action came from Shopify, the dashboard, an admin, or the system.</a:t>
            </a:r>
          </a:p>
        </p:txBody>
      </p:sp>
      <p:sp>
        <p:nvSpPr>
          <p:cNvPr id="20" name="Rectangle 19"/>
          <p:cNvSpPr/>
          <p:nvPr/>
        </p:nvSpPr>
        <p:spPr>
          <a:xfrm>
            <a:off x="548640" y="3108960"/>
            <a:ext cx="457200" cy="155448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154679"/>
            <a:ext cx="274320" cy="1463039"/>
          </a:xfrm>
          <a:prstGeom prst="rect">
            <a:avLst/>
          </a:prstGeom>
          <a:noFill/>
        </p:spPr>
        <p:txBody>
          <a:bodyPr wrap="square">
            <a:spAutoFit/>
          </a:bodyPr>
          <a:lstStyle/>
          <a:p>
            <a:pPr>
              <a:defRPr sz="1000">
                <a:solidFill>
                  <a:srgbClr val="333333"/>
                </a:solidFill>
              </a:defRPr>
            </a:pPr>
            <a:r>
              <a:rPr>
                <a:latin typeface="Arial"/>
              </a:rPr>
              <a:t>5</a:t>
            </a:r>
          </a:p>
        </p:txBody>
      </p:sp>
      <p:sp>
        <p:nvSpPr>
          <p:cNvPr id="22" name="Rectangle 21"/>
          <p:cNvSpPr/>
          <p:nvPr/>
        </p:nvSpPr>
        <p:spPr>
          <a:xfrm>
            <a:off x="1005840" y="3108960"/>
            <a:ext cx="2286000" cy="155448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3154679"/>
            <a:ext cx="2103120" cy="1463039"/>
          </a:xfrm>
          <a:prstGeom prst="rect">
            <a:avLst/>
          </a:prstGeom>
          <a:noFill/>
        </p:spPr>
        <p:txBody>
          <a:bodyPr wrap="square">
            <a:spAutoFit/>
          </a:bodyPr>
          <a:lstStyle/>
          <a:p>
            <a:pPr>
              <a:defRPr sz="1000">
                <a:solidFill>
                  <a:srgbClr val="333333"/>
                </a:solidFill>
              </a:defRPr>
            </a:pPr>
            <a:r>
              <a:rPr>
                <a:latin typeface="Arial"/>
              </a:rPr>
              <a:t>AI Tool Access</a:t>
            </a:r>
            <a:br/>
            <a:r>
              <a:rPr>
                <a:latin typeface="Arial"/>
              </a:rPr>
              <a:t>Boundaries</a:t>
            </a:r>
          </a:p>
        </p:txBody>
      </p:sp>
      <p:sp>
        <p:nvSpPr>
          <p:cNvPr id="24" name="Rectangle 23"/>
          <p:cNvSpPr/>
          <p:nvPr/>
        </p:nvSpPr>
        <p:spPr>
          <a:xfrm>
            <a:off x="3291840" y="3108960"/>
            <a:ext cx="4114800" cy="155448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83280" y="3154679"/>
            <a:ext cx="3931920" cy="1463039"/>
          </a:xfrm>
          <a:prstGeom prst="rect">
            <a:avLst/>
          </a:prstGeom>
          <a:noFill/>
        </p:spPr>
        <p:txBody>
          <a:bodyPr wrap="square">
            <a:spAutoFit/>
          </a:bodyPr>
          <a:lstStyle/>
          <a:p>
            <a:pPr>
              <a:defRPr sz="1000">
                <a:solidFill>
                  <a:srgbClr val="333333"/>
                </a:solidFill>
              </a:defRPr>
            </a:pPr>
            <a:r>
              <a:rPr>
                <a:latin typeface="Arial"/>
              </a:rPr>
              <a:t>AI tools connecting to external services (like Shopify or your database) must follow the same security rules as direct human access.</a:t>
            </a:r>
          </a:p>
        </p:txBody>
      </p:sp>
      <p:sp>
        <p:nvSpPr>
          <p:cNvPr id="26" name="Rectangle 25"/>
          <p:cNvSpPr/>
          <p:nvPr/>
        </p:nvSpPr>
        <p:spPr>
          <a:xfrm>
            <a:off x="7406640" y="3108960"/>
            <a:ext cx="4297680" cy="155448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98079" y="3154679"/>
            <a:ext cx="4114800" cy="1463039"/>
          </a:xfrm>
          <a:prstGeom prst="rect">
            <a:avLst/>
          </a:prstGeom>
          <a:noFill/>
        </p:spPr>
        <p:txBody>
          <a:bodyPr wrap="square">
            <a:spAutoFit/>
          </a:bodyPr>
          <a:lstStyle/>
          <a:p>
            <a:pPr>
              <a:defRPr sz="1000">
                <a:solidFill>
                  <a:srgbClr val="333333"/>
                </a:solidFill>
              </a:defRPr>
            </a:pPr>
            <a:r>
              <a:rPr>
                <a:latin typeface="Arial"/>
              </a:rPr>
              <a:t>Each AI tool receives only the credentials it needs (principle of least privilege). The Shopify tool gets store access only — not admin keys or encryption secrets. Tool actions are logged automatically.</a:t>
            </a:r>
          </a:p>
        </p:txBody>
      </p:sp>
      <p:sp>
        <p:nvSpPr>
          <p:cNvPr id="28" name="Rectangle 27"/>
          <p:cNvSpPr/>
          <p:nvPr/>
        </p:nvSpPr>
        <p:spPr>
          <a:xfrm>
            <a:off x="548640" y="4663440"/>
            <a:ext cx="457200" cy="1554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4709159"/>
            <a:ext cx="274320" cy="1463039"/>
          </a:xfrm>
          <a:prstGeom prst="rect">
            <a:avLst/>
          </a:prstGeom>
          <a:noFill/>
        </p:spPr>
        <p:txBody>
          <a:bodyPr wrap="square">
            <a:spAutoFit/>
          </a:bodyPr>
          <a:lstStyle/>
          <a:p>
            <a:pPr>
              <a:defRPr sz="1000">
                <a:solidFill>
                  <a:srgbClr val="333333"/>
                </a:solidFill>
              </a:defRPr>
            </a:pPr>
            <a:r>
              <a:rPr>
                <a:latin typeface="Arial"/>
              </a:rPr>
              <a:t>6</a:t>
            </a:r>
          </a:p>
        </p:txBody>
      </p:sp>
      <p:sp>
        <p:nvSpPr>
          <p:cNvPr id="30" name="Rectangle 29"/>
          <p:cNvSpPr/>
          <p:nvPr/>
        </p:nvSpPr>
        <p:spPr>
          <a:xfrm>
            <a:off x="1005840" y="4663440"/>
            <a:ext cx="2286000" cy="1554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97280" y="4709159"/>
            <a:ext cx="2103120" cy="1463039"/>
          </a:xfrm>
          <a:prstGeom prst="rect">
            <a:avLst/>
          </a:prstGeom>
          <a:noFill/>
        </p:spPr>
        <p:txBody>
          <a:bodyPr wrap="square">
            <a:spAutoFit/>
          </a:bodyPr>
          <a:lstStyle/>
          <a:p>
            <a:pPr>
              <a:defRPr sz="1000">
                <a:solidFill>
                  <a:srgbClr val="333333"/>
                </a:solidFill>
              </a:defRPr>
            </a:pPr>
            <a:r>
              <a:rPr>
                <a:latin typeface="Arial"/>
              </a:rPr>
              <a:t>Data Minimization</a:t>
            </a:r>
            <a:br/>
            <a:r>
              <a:rPr>
                <a:latin typeface="Arial"/>
              </a:rPr>
              <a:t>for AI Contexts</a:t>
            </a:r>
          </a:p>
        </p:txBody>
      </p:sp>
      <p:sp>
        <p:nvSpPr>
          <p:cNvPr id="32" name="Rectangle 31"/>
          <p:cNvSpPr/>
          <p:nvPr/>
        </p:nvSpPr>
        <p:spPr>
          <a:xfrm>
            <a:off x="3291840" y="4663440"/>
            <a:ext cx="4114800" cy="1554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83280" y="4709159"/>
            <a:ext cx="3931920" cy="1463039"/>
          </a:xfrm>
          <a:prstGeom prst="rect">
            <a:avLst/>
          </a:prstGeom>
          <a:noFill/>
        </p:spPr>
        <p:txBody>
          <a:bodyPr wrap="square">
            <a:spAutoFit/>
          </a:bodyPr>
          <a:lstStyle/>
          <a:p>
            <a:pPr>
              <a:defRPr sz="1000">
                <a:solidFill>
                  <a:srgbClr val="333333"/>
                </a:solidFill>
              </a:defRPr>
            </a:pPr>
            <a:r>
              <a:rPr>
                <a:latin typeface="Arial"/>
              </a:rPr>
              <a:t>AI tools should receive only the data they need to complete the task — not full customer records, passwords, or personal information.</a:t>
            </a:r>
          </a:p>
        </p:txBody>
      </p:sp>
      <p:sp>
        <p:nvSpPr>
          <p:cNvPr id="34" name="Rectangle 33"/>
          <p:cNvSpPr/>
          <p:nvPr/>
        </p:nvSpPr>
        <p:spPr>
          <a:xfrm>
            <a:off x="7406640" y="4663440"/>
            <a:ext cx="4297680" cy="155448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79" y="4709159"/>
            <a:ext cx="4114800" cy="1463039"/>
          </a:xfrm>
          <a:prstGeom prst="rect">
            <a:avLst/>
          </a:prstGeom>
          <a:noFill/>
        </p:spPr>
        <p:txBody>
          <a:bodyPr wrap="square">
            <a:spAutoFit/>
          </a:bodyPr>
          <a:lstStyle/>
          <a:p>
            <a:pPr>
              <a:defRPr sz="1000">
                <a:solidFill>
                  <a:srgbClr val="333333"/>
                </a:solidFill>
              </a:defRPr>
            </a:pPr>
            <a:r>
              <a:rPr>
                <a:latin typeface="Arial"/>
              </a:rPr>
              <a:t>Configuration views mask all credentials (showing only first and last 4 characters). Adobe integration encrypts all personal data before sending. Public-facing pages receive only non-sensitive configuration.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640080"/>
          </a:xfrm>
          <a:prstGeom prst="rect">
            <a:avLst/>
          </a:prstGeom>
          <a:noFill/>
        </p:spPr>
        <p:txBody>
          <a:bodyPr wrap="square">
            <a:spAutoFit/>
          </a:bodyPr>
          <a:lstStyle/>
          <a:p>
            <a:pPr algn="l">
              <a:defRPr sz="2800" b="1">
                <a:solidFill>
                  <a:srgbClr val="FFFFFF"/>
                </a:solidFill>
              </a:defRPr>
            </a:pPr>
            <a:r>
              <a:rPr>
                <a:latin typeface="Arial"/>
              </a:rPr>
              <a:t>Security Layers Summary</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defRPr>
            </a:pPr>
            <a:r>
              <a:rPr>
                <a:latin typeface="Arial"/>
              </a:rPr>
              <a:t>CRM Sync uses six independent security layers. Each layer protects a different part of the system. Compromising one layer does not give access to the others — there is no single key that unlocks everything.</a:t>
            </a:r>
          </a:p>
        </p:txBody>
      </p:sp>
      <p:sp>
        <p:nvSpPr>
          <p:cNvPr id="5" name="Rectangle 4"/>
          <p:cNvSpPr/>
          <p:nvPr/>
        </p:nvSpPr>
        <p:spPr>
          <a:xfrm>
            <a:off x="548640" y="1828800"/>
            <a:ext cx="2286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01952"/>
            <a:ext cx="2103120" cy="320040"/>
          </a:xfrm>
          <a:prstGeom prst="rect">
            <a:avLst/>
          </a:prstGeom>
          <a:noFill/>
        </p:spPr>
        <p:txBody>
          <a:bodyPr wrap="square">
            <a:spAutoFit/>
          </a:bodyPr>
          <a:lstStyle/>
          <a:p>
            <a:pPr>
              <a:defRPr sz="1100" b="1">
                <a:solidFill>
                  <a:srgbClr val="FFFFFF"/>
                </a:solidFill>
              </a:defRPr>
            </a:pPr>
            <a:r>
              <a:rPr>
                <a:latin typeface="Arial"/>
              </a:rPr>
              <a:t>Security Layer</a:t>
            </a:r>
          </a:p>
        </p:txBody>
      </p:sp>
      <p:sp>
        <p:nvSpPr>
          <p:cNvPr id="7" name="Rectangle 6"/>
          <p:cNvSpPr/>
          <p:nvPr/>
        </p:nvSpPr>
        <p:spPr>
          <a:xfrm>
            <a:off x="2834640" y="1828800"/>
            <a:ext cx="36576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0" y="1901952"/>
            <a:ext cx="3474720" cy="320040"/>
          </a:xfrm>
          <a:prstGeom prst="rect">
            <a:avLst/>
          </a:prstGeom>
          <a:noFill/>
        </p:spPr>
        <p:txBody>
          <a:bodyPr wrap="square">
            <a:spAutoFit/>
          </a:bodyPr>
          <a:lstStyle/>
          <a:p>
            <a:pPr>
              <a:defRPr sz="1100" b="1">
                <a:solidFill>
                  <a:srgbClr val="FFFFFF"/>
                </a:solidFill>
              </a:defRPr>
            </a:pPr>
            <a:r>
              <a:rPr>
                <a:latin typeface="Arial"/>
              </a:rPr>
              <a:t>How It Works</a:t>
            </a:r>
          </a:p>
        </p:txBody>
      </p:sp>
      <p:sp>
        <p:nvSpPr>
          <p:cNvPr id="9" name="Rectangle 8"/>
          <p:cNvSpPr/>
          <p:nvPr/>
        </p:nvSpPr>
        <p:spPr>
          <a:xfrm>
            <a:off x="6492240" y="1828800"/>
            <a:ext cx="2743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79" y="1901952"/>
            <a:ext cx="2560320" cy="320040"/>
          </a:xfrm>
          <a:prstGeom prst="rect">
            <a:avLst/>
          </a:prstGeom>
          <a:noFill/>
        </p:spPr>
        <p:txBody>
          <a:bodyPr wrap="square">
            <a:spAutoFit/>
          </a:bodyPr>
          <a:lstStyle/>
          <a:p>
            <a:pPr>
              <a:defRPr sz="1100" b="1">
                <a:solidFill>
                  <a:srgbClr val="FFFFFF"/>
                </a:solidFill>
              </a:defRPr>
            </a:pPr>
            <a:r>
              <a:rPr>
                <a:latin typeface="Arial"/>
              </a:rPr>
              <a:t>What It Protects</a:t>
            </a:r>
          </a:p>
        </p:txBody>
      </p:sp>
      <p:sp>
        <p:nvSpPr>
          <p:cNvPr id="11" name="Rectangle 10"/>
          <p:cNvSpPr/>
          <p:nvPr/>
        </p:nvSpPr>
        <p:spPr>
          <a:xfrm>
            <a:off x="9235440" y="1828800"/>
            <a:ext cx="246888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0" y="1901952"/>
            <a:ext cx="2286000" cy="320040"/>
          </a:xfrm>
          <a:prstGeom prst="rect">
            <a:avLst/>
          </a:prstGeom>
          <a:noFill/>
        </p:spPr>
        <p:txBody>
          <a:bodyPr wrap="square">
            <a:spAutoFit/>
          </a:bodyPr>
          <a:lstStyle/>
          <a:p>
            <a:pPr>
              <a:defRPr sz="1100" b="1">
                <a:solidFill>
                  <a:srgbClr val="FFFFFF"/>
                </a:solidFill>
              </a:defRPr>
            </a:pPr>
            <a:r>
              <a:rPr>
                <a:latin typeface="Arial"/>
              </a:rPr>
              <a:t>Who It Applies To</a:t>
            </a:r>
          </a:p>
        </p:txBody>
      </p:sp>
      <p:sp>
        <p:nvSpPr>
          <p:cNvPr id="13" name="Rectangle 12"/>
          <p:cNvSpPr/>
          <p:nvPr/>
        </p:nvSpPr>
        <p:spPr>
          <a:xfrm>
            <a:off x="548640" y="2286000"/>
            <a:ext cx="22860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331720"/>
            <a:ext cx="2103120" cy="621792"/>
          </a:xfrm>
          <a:prstGeom prst="rect">
            <a:avLst/>
          </a:prstGeom>
          <a:noFill/>
        </p:spPr>
        <p:txBody>
          <a:bodyPr wrap="square">
            <a:spAutoFit/>
          </a:bodyPr>
          <a:lstStyle/>
          <a:p>
            <a:pPr>
              <a:defRPr sz="1000">
                <a:solidFill>
                  <a:srgbClr val="333333"/>
                </a:solidFill>
              </a:defRPr>
            </a:pPr>
            <a:r>
              <a:rPr>
                <a:latin typeface="Arial"/>
              </a:rPr>
              <a:t>Cloudflare Zero Trust</a:t>
            </a:r>
          </a:p>
        </p:txBody>
      </p:sp>
      <p:sp>
        <p:nvSpPr>
          <p:cNvPr id="15" name="Rectangle 14"/>
          <p:cNvSpPr/>
          <p:nvPr/>
        </p:nvSpPr>
        <p:spPr>
          <a:xfrm>
            <a:off x="2834640" y="2286000"/>
            <a:ext cx="36576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26080" y="2331720"/>
            <a:ext cx="3474720" cy="621792"/>
          </a:xfrm>
          <a:prstGeom prst="rect">
            <a:avLst/>
          </a:prstGeom>
          <a:noFill/>
        </p:spPr>
        <p:txBody>
          <a:bodyPr wrap="square">
            <a:spAutoFit/>
          </a:bodyPr>
          <a:lstStyle/>
          <a:p>
            <a:pPr>
              <a:defRPr sz="1000">
                <a:solidFill>
                  <a:srgbClr val="333333"/>
                </a:solidFill>
              </a:defRPr>
            </a:pPr>
            <a:r>
              <a:rPr>
                <a:latin typeface="Arial"/>
              </a:rPr>
              <a:t>Email verification via one-time code before any admin page loads</a:t>
            </a:r>
          </a:p>
        </p:txBody>
      </p:sp>
      <p:sp>
        <p:nvSpPr>
          <p:cNvPr id="17" name="Rectangle 16"/>
          <p:cNvSpPr/>
          <p:nvPr/>
        </p:nvSpPr>
        <p:spPr>
          <a:xfrm>
            <a:off x="6492240" y="2286000"/>
            <a:ext cx="27432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79" y="2331720"/>
            <a:ext cx="2560320" cy="621792"/>
          </a:xfrm>
          <a:prstGeom prst="rect">
            <a:avLst/>
          </a:prstGeom>
          <a:noFill/>
        </p:spPr>
        <p:txBody>
          <a:bodyPr wrap="square">
            <a:spAutoFit/>
          </a:bodyPr>
          <a:lstStyle/>
          <a:p>
            <a:pPr>
              <a:defRPr sz="1000">
                <a:solidFill>
                  <a:srgbClr val="333333"/>
                </a:solidFill>
              </a:defRPr>
            </a:pPr>
            <a:r>
              <a:rPr>
                <a:latin typeface="Arial"/>
              </a:rPr>
              <a:t>Setup, Settings, Onboarding pages</a:t>
            </a:r>
          </a:p>
        </p:txBody>
      </p:sp>
      <p:sp>
        <p:nvSpPr>
          <p:cNvPr id="19" name="Rectangle 18"/>
          <p:cNvSpPr/>
          <p:nvPr/>
        </p:nvSpPr>
        <p:spPr>
          <a:xfrm>
            <a:off x="9235440" y="2286000"/>
            <a:ext cx="246888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0" y="2331720"/>
            <a:ext cx="2286000" cy="621792"/>
          </a:xfrm>
          <a:prstGeom prst="rect">
            <a:avLst/>
          </a:prstGeom>
          <a:noFill/>
        </p:spPr>
        <p:txBody>
          <a:bodyPr wrap="square">
            <a:spAutoFit/>
          </a:bodyPr>
          <a:lstStyle/>
          <a:p>
            <a:pPr>
              <a:defRPr sz="1000">
                <a:solidFill>
                  <a:srgbClr val="333333"/>
                </a:solidFill>
              </a:defRPr>
            </a:pPr>
            <a:r>
              <a:rPr>
                <a:latin typeface="Arial"/>
              </a:rPr>
              <a:t>Your team only</a:t>
            </a:r>
          </a:p>
        </p:txBody>
      </p:sp>
      <p:sp>
        <p:nvSpPr>
          <p:cNvPr id="21" name="Rectangle 20"/>
          <p:cNvSpPr/>
          <p:nvPr/>
        </p:nvSpPr>
        <p:spPr>
          <a:xfrm>
            <a:off x="548640" y="2999232"/>
            <a:ext cx="22860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044952"/>
            <a:ext cx="2103120" cy="621792"/>
          </a:xfrm>
          <a:prstGeom prst="rect">
            <a:avLst/>
          </a:prstGeom>
          <a:noFill/>
        </p:spPr>
        <p:txBody>
          <a:bodyPr wrap="square">
            <a:spAutoFit/>
          </a:bodyPr>
          <a:lstStyle/>
          <a:p>
            <a:pPr>
              <a:defRPr sz="1000">
                <a:solidFill>
                  <a:srgbClr val="333333"/>
                </a:solidFill>
              </a:defRPr>
            </a:pPr>
            <a:r>
              <a:rPr>
                <a:latin typeface="Arial"/>
              </a:rPr>
              <a:t>Admin API Keys</a:t>
            </a:r>
          </a:p>
        </p:txBody>
      </p:sp>
      <p:sp>
        <p:nvSpPr>
          <p:cNvPr id="23" name="Rectangle 22"/>
          <p:cNvSpPr/>
          <p:nvPr/>
        </p:nvSpPr>
        <p:spPr>
          <a:xfrm>
            <a:off x="2834640" y="2999232"/>
            <a:ext cx="36576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6080" y="3044952"/>
            <a:ext cx="3474720" cy="621792"/>
          </a:xfrm>
          <a:prstGeom prst="rect">
            <a:avLst/>
          </a:prstGeom>
          <a:noFill/>
        </p:spPr>
        <p:txBody>
          <a:bodyPr wrap="square">
            <a:spAutoFit/>
          </a:bodyPr>
          <a:lstStyle/>
          <a:p>
            <a:pPr>
              <a:defRPr sz="1000">
                <a:solidFill>
                  <a:srgbClr val="333333"/>
                </a:solidFill>
              </a:defRPr>
            </a:pPr>
            <a:r>
              <a:rPr>
                <a:latin typeface="Arial"/>
              </a:rPr>
              <a:t>Secret key in request header; per-store keys checked first, then platform key</a:t>
            </a:r>
          </a:p>
        </p:txBody>
      </p:sp>
      <p:sp>
        <p:nvSpPr>
          <p:cNvPr id="25" name="Rectangle 24"/>
          <p:cNvSpPr/>
          <p:nvPr/>
        </p:nvSpPr>
        <p:spPr>
          <a:xfrm>
            <a:off x="6492240" y="2999232"/>
            <a:ext cx="27432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79" y="3044952"/>
            <a:ext cx="2560320" cy="621792"/>
          </a:xfrm>
          <a:prstGeom prst="rect">
            <a:avLst/>
          </a:prstGeom>
          <a:noFill/>
        </p:spPr>
        <p:txBody>
          <a:bodyPr wrap="square">
            <a:spAutoFit/>
          </a:bodyPr>
          <a:lstStyle/>
          <a:p>
            <a:pPr>
              <a:defRPr sz="1000">
                <a:solidFill>
                  <a:srgbClr val="333333"/>
                </a:solidFill>
              </a:defRPr>
            </a:pPr>
            <a:r>
              <a:rPr>
                <a:latin typeface="Arial"/>
              </a:rPr>
              <a:t>All admin and sync operations</a:t>
            </a:r>
          </a:p>
        </p:txBody>
      </p:sp>
      <p:sp>
        <p:nvSpPr>
          <p:cNvPr id="27" name="Rectangle 26"/>
          <p:cNvSpPr/>
          <p:nvPr/>
        </p:nvSpPr>
        <p:spPr>
          <a:xfrm>
            <a:off x="9235440" y="2999232"/>
            <a:ext cx="246888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26880" y="3044952"/>
            <a:ext cx="2286000" cy="621792"/>
          </a:xfrm>
          <a:prstGeom prst="rect">
            <a:avLst/>
          </a:prstGeom>
          <a:noFill/>
        </p:spPr>
        <p:txBody>
          <a:bodyPr wrap="square">
            <a:spAutoFit/>
          </a:bodyPr>
          <a:lstStyle/>
          <a:p>
            <a:pPr>
              <a:defRPr sz="1000">
                <a:solidFill>
                  <a:srgbClr val="333333"/>
                </a:solidFill>
              </a:defRPr>
            </a:pPr>
            <a:r>
              <a:rPr>
                <a:latin typeface="Arial"/>
              </a:rPr>
              <a:t>Your team, Webflow extension, automated jobs</a:t>
            </a:r>
          </a:p>
        </p:txBody>
      </p:sp>
      <p:sp>
        <p:nvSpPr>
          <p:cNvPr id="29" name="Rectangle 28"/>
          <p:cNvSpPr/>
          <p:nvPr/>
        </p:nvSpPr>
        <p:spPr>
          <a:xfrm>
            <a:off x="548640" y="3712464"/>
            <a:ext cx="22860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3758184"/>
            <a:ext cx="2103120" cy="621792"/>
          </a:xfrm>
          <a:prstGeom prst="rect">
            <a:avLst/>
          </a:prstGeom>
          <a:noFill/>
        </p:spPr>
        <p:txBody>
          <a:bodyPr wrap="square">
            <a:spAutoFit/>
          </a:bodyPr>
          <a:lstStyle/>
          <a:p>
            <a:pPr>
              <a:defRPr sz="1000">
                <a:solidFill>
                  <a:srgbClr val="333333"/>
                </a:solidFill>
              </a:defRPr>
            </a:pPr>
            <a:r>
              <a:rPr>
                <a:latin typeface="Arial"/>
              </a:rPr>
              <a:t>Session Tokens (JWT)</a:t>
            </a:r>
          </a:p>
        </p:txBody>
      </p:sp>
      <p:sp>
        <p:nvSpPr>
          <p:cNvPr id="31" name="Rectangle 30"/>
          <p:cNvSpPr/>
          <p:nvPr/>
        </p:nvSpPr>
        <p:spPr>
          <a:xfrm>
            <a:off x="2834640" y="3712464"/>
            <a:ext cx="36576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0" y="3758184"/>
            <a:ext cx="3474720" cy="621792"/>
          </a:xfrm>
          <a:prstGeom prst="rect">
            <a:avLst/>
          </a:prstGeom>
          <a:noFill/>
        </p:spPr>
        <p:txBody>
          <a:bodyPr wrap="square">
            <a:spAutoFit/>
          </a:bodyPr>
          <a:lstStyle/>
          <a:p>
            <a:pPr>
              <a:defRPr sz="1000">
                <a:solidFill>
                  <a:srgbClr val="333333"/>
                </a:solidFill>
              </a:defRPr>
            </a:pPr>
            <a:r>
              <a:rPr>
                <a:latin typeface="Arial"/>
              </a:rPr>
              <a:t>Encrypted, tamper-proof pass issued after login; expires in 7 days</a:t>
            </a:r>
          </a:p>
        </p:txBody>
      </p:sp>
      <p:sp>
        <p:nvSpPr>
          <p:cNvPr id="33" name="Rectangle 32"/>
          <p:cNvSpPr/>
          <p:nvPr/>
        </p:nvSpPr>
        <p:spPr>
          <a:xfrm>
            <a:off x="6492240" y="3712464"/>
            <a:ext cx="27432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79" y="3758184"/>
            <a:ext cx="2560320" cy="621792"/>
          </a:xfrm>
          <a:prstGeom prst="rect">
            <a:avLst/>
          </a:prstGeom>
          <a:noFill/>
        </p:spPr>
        <p:txBody>
          <a:bodyPr wrap="square">
            <a:spAutoFit/>
          </a:bodyPr>
          <a:lstStyle/>
          <a:p>
            <a:pPr>
              <a:defRPr sz="1000">
                <a:solidFill>
                  <a:srgbClr val="333333"/>
                </a:solidFill>
              </a:defRPr>
            </a:pPr>
            <a:r>
              <a:rPr>
                <a:latin typeface="Arial"/>
              </a:rPr>
              <a:t>Customer dashboard, profile, consent, tags</a:t>
            </a:r>
          </a:p>
        </p:txBody>
      </p:sp>
      <p:sp>
        <p:nvSpPr>
          <p:cNvPr id="35" name="Rectangle 34"/>
          <p:cNvSpPr/>
          <p:nvPr/>
        </p:nvSpPr>
        <p:spPr>
          <a:xfrm>
            <a:off x="9235440" y="3712464"/>
            <a:ext cx="246888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26880" y="3758184"/>
            <a:ext cx="2286000" cy="621792"/>
          </a:xfrm>
          <a:prstGeom prst="rect">
            <a:avLst/>
          </a:prstGeom>
          <a:noFill/>
        </p:spPr>
        <p:txBody>
          <a:bodyPr wrap="square">
            <a:spAutoFit/>
          </a:bodyPr>
          <a:lstStyle/>
          <a:p>
            <a:pPr>
              <a:defRPr sz="1000">
                <a:solidFill>
                  <a:srgbClr val="333333"/>
                </a:solidFill>
              </a:defRPr>
            </a:pPr>
            <a:r>
              <a:rPr>
                <a:latin typeface="Arial"/>
              </a:rPr>
              <a:t>Logged-in customers</a:t>
            </a:r>
          </a:p>
        </p:txBody>
      </p:sp>
      <p:sp>
        <p:nvSpPr>
          <p:cNvPr id="37" name="Rectangle 36"/>
          <p:cNvSpPr/>
          <p:nvPr/>
        </p:nvSpPr>
        <p:spPr>
          <a:xfrm>
            <a:off x="548640" y="4425696"/>
            <a:ext cx="22860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4471416"/>
            <a:ext cx="2103120" cy="621792"/>
          </a:xfrm>
          <a:prstGeom prst="rect">
            <a:avLst/>
          </a:prstGeom>
          <a:noFill/>
        </p:spPr>
        <p:txBody>
          <a:bodyPr wrap="square">
            <a:spAutoFit/>
          </a:bodyPr>
          <a:lstStyle/>
          <a:p>
            <a:pPr>
              <a:defRPr sz="1000">
                <a:solidFill>
                  <a:srgbClr val="333333"/>
                </a:solidFill>
              </a:defRPr>
            </a:pPr>
            <a:r>
              <a:rPr>
                <a:latin typeface="Arial"/>
              </a:rPr>
              <a:t>Shopify HMAC Signatures</a:t>
            </a:r>
          </a:p>
        </p:txBody>
      </p:sp>
      <p:sp>
        <p:nvSpPr>
          <p:cNvPr id="39" name="Rectangle 38"/>
          <p:cNvSpPr/>
          <p:nvPr/>
        </p:nvSpPr>
        <p:spPr>
          <a:xfrm>
            <a:off x="2834640" y="4425696"/>
            <a:ext cx="36576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26080" y="4471416"/>
            <a:ext cx="3474720" cy="621792"/>
          </a:xfrm>
          <a:prstGeom prst="rect">
            <a:avLst/>
          </a:prstGeom>
          <a:noFill/>
        </p:spPr>
        <p:txBody>
          <a:bodyPr wrap="square">
            <a:spAutoFit/>
          </a:bodyPr>
          <a:lstStyle/>
          <a:p>
            <a:pPr>
              <a:defRPr sz="1000">
                <a:solidFill>
                  <a:srgbClr val="333333"/>
                </a:solidFill>
              </a:defRPr>
            </a:pPr>
            <a:r>
              <a:rPr>
                <a:latin typeface="Arial"/>
              </a:rPr>
              <a:t>Shopify signs every update with a shared secret; server verifies the signature</a:t>
            </a:r>
          </a:p>
        </p:txBody>
      </p:sp>
      <p:sp>
        <p:nvSpPr>
          <p:cNvPr id="41" name="Rectangle 40"/>
          <p:cNvSpPr/>
          <p:nvPr/>
        </p:nvSpPr>
        <p:spPr>
          <a:xfrm>
            <a:off x="6492240" y="4425696"/>
            <a:ext cx="27432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83679" y="4471416"/>
            <a:ext cx="2560320" cy="621792"/>
          </a:xfrm>
          <a:prstGeom prst="rect">
            <a:avLst/>
          </a:prstGeom>
          <a:noFill/>
        </p:spPr>
        <p:txBody>
          <a:bodyPr wrap="square">
            <a:spAutoFit/>
          </a:bodyPr>
          <a:lstStyle/>
          <a:p>
            <a:pPr>
              <a:defRPr sz="1000">
                <a:solidFill>
                  <a:srgbClr val="333333"/>
                </a:solidFill>
              </a:defRPr>
            </a:pPr>
            <a:r>
              <a:rPr>
                <a:latin typeface="Arial"/>
              </a:rPr>
              <a:t>Customer updates, order events, GDPR requests</a:t>
            </a:r>
          </a:p>
        </p:txBody>
      </p:sp>
      <p:sp>
        <p:nvSpPr>
          <p:cNvPr id="43" name="Rectangle 42"/>
          <p:cNvSpPr/>
          <p:nvPr/>
        </p:nvSpPr>
        <p:spPr>
          <a:xfrm>
            <a:off x="9235440" y="4425696"/>
            <a:ext cx="246888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326880" y="4471416"/>
            <a:ext cx="2286000" cy="621792"/>
          </a:xfrm>
          <a:prstGeom prst="rect">
            <a:avLst/>
          </a:prstGeom>
          <a:noFill/>
        </p:spPr>
        <p:txBody>
          <a:bodyPr wrap="square">
            <a:spAutoFit/>
          </a:bodyPr>
          <a:lstStyle/>
          <a:p>
            <a:pPr>
              <a:defRPr sz="1000">
                <a:solidFill>
                  <a:srgbClr val="333333"/>
                </a:solidFill>
              </a:defRPr>
            </a:pPr>
            <a:r>
              <a:rPr>
                <a:latin typeface="Arial"/>
              </a:rPr>
              <a:t>Shopify webhooks only</a:t>
            </a:r>
          </a:p>
        </p:txBody>
      </p:sp>
      <p:sp>
        <p:nvSpPr>
          <p:cNvPr id="45" name="Rectangle 44"/>
          <p:cNvSpPr/>
          <p:nvPr/>
        </p:nvSpPr>
        <p:spPr>
          <a:xfrm>
            <a:off x="548640" y="5138928"/>
            <a:ext cx="22860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5184648"/>
            <a:ext cx="2103120" cy="621792"/>
          </a:xfrm>
          <a:prstGeom prst="rect">
            <a:avLst/>
          </a:prstGeom>
          <a:noFill/>
        </p:spPr>
        <p:txBody>
          <a:bodyPr wrap="square">
            <a:spAutoFit/>
          </a:bodyPr>
          <a:lstStyle/>
          <a:p>
            <a:pPr>
              <a:defRPr sz="1000">
                <a:solidFill>
                  <a:srgbClr val="333333"/>
                </a:solidFill>
              </a:defRPr>
            </a:pPr>
            <a:r>
              <a:rPr>
                <a:latin typeface="Arial"/>
              </a:rPr>
              <a:t>OAuth Anti-Forgery Tokens</a:t>
            </a:r>
          </a:p>
        </p:txBody>
      </p:sp>
      <p:sp>
        <p:nvSpPr>
          <p:cNvPr id="47" name="Rectangle 46"/>
          <p:cNvSpPr/>
          <p:nvPr/>
        </p:nvSpPr>
        <p:spPr>
          <a:xfrm>
            <a:off x="2834640" y="5138928"/>
            <a:ext cx="36576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926080" y="5184648"/>
            <a:ext cx="3474720" cy="621792"/>
          </a:xfrm>
          <a:prstGeom prst="rect">
            <a:avLst/>
          </a:prstGeom>
          <a:noFill/>
        </p:spPr>
        <p:txBody>
          <a:bodyPr wrap="square">
            <a:spAutoFit/>
          </a:bodyPr>
          <a:lstStyle/>
          <a:p>
            <a:pPr>
              <a:defRPr sz="1000">
                <a:solidFill>
                  <a:srgbClr val="333333"/>
                </a:solidFill>
              </a:defRPr>
            </a:pPr>
            <a:r>
              <a:rPr>
                <a:latin typeface="Arial"/>
              </a:rPr>
              <a:t>Unique single-use code for every Google/Shopify login; expires in 10 minutes</a:t>
            </a:r>
          </a:p>
        </p:txBody>
      </p:sp>
      <p:sp>
        <p:nvSpPr>
          <p:cNvPr id="49" name="Rectangle 48"/>
          <p:cNvSpPr/>
          <p:nvPr/>
        </p:nvSpPr>
        <p:spPr>
          <a:xfrm>
            <a:off x="6492240" y="5138928"/>
            <a:ext cx="274320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83679" y="5184648"/>
            <a:ext cx="2560320" cy="621792"/>
          </a:xfrm>
          <a:prstGeom prst="rect">
            <a:avLst/>
          </a:prstGeom>
          <a:noFill/>
        </p:spPr>
        <p:txBody>
          <a:bodyPr wrap="square">
            <a:spAutoFit/>
          </a:bodyPr>
          <a:lstStyle/>
          <a:p>
            <a:pPr>
              <a:defRPr sz="1000">
                <a:solidFill>
                  <a:srgbClr val="333333"/>
                </a:solidFill>
              </a:defRPr>
            </a:pPr>
            <a:r>
              <a:rPr>
                <a:latin typeface="Arial"/>
              </a:rPr>
              <a:t>Login flows (prevents hijacking and replay attacks)</a:t>
            </a:r>
          </a:p>
        </p:txBody>
      </p:sp>
      <p:sp>
        <p:nvSpPr>
          <p:cNvPr id="51" name="Rectangle 50"/>
          <p:cNvSpPr/>
          <p:nvPr/>
        </p:nvSpPr>
        <p:spPr>
          <a:xfrm>
            <a:off x="9235440" y="5138928"/>
            <a:ext cx="2468880" cy="71323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326880" y="5184648"/>
            <a:ext cx="2286000" cy="621792"/>
          </a:xfrm>
          <a:prstGeom prst="rect">
            <a:avLst/>
          </a:prstGeom>
          <a:noFill/>
        </p:spPr>
        <p:txBody>
          <a:bodyPr wrap="square">
            <a:spAutoFit/>
          </a:bodyPr>
          <a:lstStyle/>
          <a:p>
            <a:pPr>
              <a:defRPr sz="1000">
                <a:solidFill>
                  <a:srgbClr val="333333"/>
                </a:solidFill>
              </a:defRPr>
            </a:pPr>
            <a:r>
              <a:rPr>
                <a:latin typeface="Arial"/>
              </a:rPr>
              <a:t>Customers using Google or Shopify login</a:t>
            </a:r>
          </a:p>
        </p:txBody>
      </p:sp>
      <p:sp>
        <p:nvSpPr>
          <p:cNvPr id="53" name="Rectangle 52"/>
          <p:cNvSpPr/>
          <p:nvPr/>
        </p:nvSpPr>
        <p:spPr>
          <a:xfrm>
            <a:off x="548640" y="5852160"/>
            <a:ext cx="22860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 y="5897880"/>
            <a:ext cx="2103120" cy="621792"/>
          </a:xfrm>
          <a:prstGeom prst="rect">
            <a:avLst/>
          </a:prstGeom>
          <a:noFill/>
        </p:spPr>
        <p:txBody>
          <a:bodyPr wrap="square">
            <a:spAutoFit/>
          </a:bodyPr>
          <a:lstStyle/>
          <a:p>
            <a:pPr>
              <a:defRPr sz="1000">
                <a:solidFill>
                  <a:srgbClr val="333333"/>
                </a:solidFill>
              </a:defRPr>
            </a:pPr>
            <a:r>
              <a:rPr>
                <a:latin typeface="Arial"/>
              </a:rPr>
              <a:t>TLS Encryption</a:t>
            </a:r>
          </a:p>
        </p:txBody>
      </p:sp>
      <p:sp>
        <p:nvSpPr>
          <p:cNvPr id="55" name="Rectangle 54"/>
          <p:cNvSpPr/>
          <p:nvPr/>
        </p:nvSpPr>
        <p:spPr>
          <a:xfrm>
            <a:off x="2834640" y="5852160"/>
            <a:ext cx="36576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26080" y="5897880"/>
            <a:ext cx="3474720" cy="621792"/>
          </a:xfrm>
          <a:prstGeom prst="rect">
            <a:avLst/>
          </a:prstGeom>
          <a:noFill/>
        </p:spPr>
        <p:txBody>
          <a:bodyPr wrap="square">
            <a:spAutoFit/>
          </a:bodyPr>
          <a:lstStyle/>
          <a:p>
            <a:pPr>
              <a:defRPr sz="1000">
                <a:solidFill>
                  <a:srgbClr val="333333"/>
                </a:solidFill>
              </a:defRPr>
            </a:pPr>
            <a:r>
              <a:rPr>
                <a:latin typeface="Arial"/>
              </a:rPr>
              <a:t>All data encrypted in transit between browser, server, and all connected services</a:t>
            </a:r>
          </a:p>
        </p:txBody>
      </p:sp>
      <p:sp>
        <p:nvSpPr>
          <p:cNvPr id="57" name="Rectangle 56"/>
          <p:cNvSpPr/>
          <p:nvPr/>
        </p:nvSpPr>
        <p:spPr>
          <a:xfrm>
            <a:off x="6492240" y="5852160"/>
            <a:ext cx="274320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83679" y="5897880"/>
            <a:ext cx="2560320" cy="621792"/>
          </a:xfrm>
          <a:prstGeom prst="rect">
            <a:avLst/>
          </a:prstGeom>
          <a:noFill/>
        </p:spPr>
        <p:txBody>
          <a:bodyPr wrap="square">
            <a:spAutoFit/>
          </a:bodyPr>
          <a:lstStyle/>
          <a:p>
            <a:pPr>
              <a:defRPr sz="1000">
                <a:solidFill>
                  <a:srgbClr val="333333"/>
                </a:solidFill>
              </a:defRPr>
            </a:pPr>
            <a:r>
              <a:rPr>
                <a:latin typeface="Arial"/>
              </a:rPr>
              <a:t>Everything — passwords, tokens, customer data, API calls</a:t>
            </a:r>
          </a:p>
        </p:txBody>
      </p:sp>
      <p:sp>
        <p:nvSpPr>
          <p:cNvPr id="59" name="Rectangle 58"/>
          <p:cNvSpPr/>
          <p:nvPr/>
        </p:nvSpPr>
        <p:spPr>
          <a:xfrm>
            <a:off x="9235440" y="5852160"/>
            <a:ext cx="2468880" cy="71323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326880" y="5897880"/>
            <a:ext cx="2286000" cy="621792"/>
          </a:xfrm>
          <a:prstGeom prst="rect">
            <a:avLst/>
          </a:prstGeom>
          <a:noFill/>
        </p:spPr>
        <p:txBody>
          <a:bodyPr wrap="square">
            <a:spAutoFit/>
          </a:bodyPr>
          <a:lstStyle/>
          <a:p>
            <a:pPr>
              <a:defRPr sz="1000">
                <a:solidFill>
                  <a:srgbClr val="333333"/>
                </a:solidFill>
              </a:defRPr>
            </a:pPr>
            <a:r>
              <a:rPr>
                <a:latin typeface="Arial"/>
              </a:rPr>
              <a:t>All users and all services</a:t>
            </a:r>
          </a:p>
        </p:txBody>
      </p:sp>
      <p:sp>
        <p:nvSpPr>
          <p:cNvPr id="61" name="TextBox 60"/>
          <p:cNvSpPr txBox="1"/>
          <p:nvPr/>
        </p:nvSpPr>
        <p:spPr>
          <a:xfrm>
            <a:off x="548640" y="6400800"/>
            <a:ext cx="10515600" cy="320040"/>
          </a:xfrm>
          <a:prstGeom prst="rect">
            <a:avLst/>
          </a:prstGeom>
          <a:noFill/>
        </p:spPr>
        <p:txBody>
          <a:bodyPr wrap="square">
            <a:spAutoFit/>
          </a:bodyPr>
          <a:lstStyle/>
          <a:p>
            <a:pPr>
              <a:defRPr sz="1100" b="1">
                <a:solidFill>
                  <a:srgbClr val="2E6EBF"/>
                </a:solidFill>
              </a:defRPr>
            </a:pPr>
            <a:r>
              <a:rPr>
                <a:latin typeface="Arial"/>
              </a:rPr>
              <a:t>Key principle: Each security layer operates independently. No single credential grants access to everything. All customer data is encrypted in transit (TLS) and sensitive fields are encrypted at rest.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640080"/>
          </a:xfrm>
          <a:prstGeom prst="rect">
            <a:avLst/>
          </a:prstGeom>
          <a:noFill/>
        </p:spPr>
        <p:txBody>
          <a:bodyPr wrap="square">
            <a:spAutoFit/>
          </a:bodyPr>
          <a:lstStyle/>
          <a:p>
            <a:pPr>
              <a:defRPr sz="2800" b="1">
                <a:solidFill>
                  <a:srgbClr val="FFFFFF"/>
                </a:solidFill>
                <a:latin typeface="Arial"/>
              </a:defRPr>
            </a:pPr>
            <a:r>
              <a:t>What Traditional CRMs Miss</a:t>
            </a:r>
          </a:p>
        </p:txBody>
      </p:sp>
      <p:sp>
        <p:nvSpPr>
          <p:cNvPr id="4" name="TextBox 3"/>
          <p:cNvSpPr txBox="1"/>
          <p:nvPr/>
        </p:nvSpPr>
        <p:spPr>
          <a:xfrm>
            <a:off x="548640" y="1097280"/>
            <a:ext cx="10515600" cy="320040"/>
          </a:xfrm>
          <a:prstGeom prst="rect">
            <a:avLst/>
          </a:prstGeom>
          <a:noFill/>
        </p:spPr>
        <p:txBody>
          <a:bodyPr wrap="square">
            <a:spAutoFit/>
          </a:bodyPr>
          <a:lstStyle/>
          <a:p>
            <a:pPr>
              <a:defRPr sz="1300" b="0">
                <a:solidFill>
                  <a:srgbClr val="333333"/>
                </a:solidFill>
                <a:latin typeface="Arial"/>
              </a:defRPr>
            </a:pPr>
            <a:r>
              <a:t>Salesforce, HubSpot, and Klaviyo were built for a pre-AI, pre-privacy world. CRM Sync is designed from the ground up for real-time, consent-first, AI-native customer data orchestration.</a:t>
            </a:r>
          </a:p>
        </p:txBody>
      </p:sp>
      <p:sp>
        <p:nvSpPr>
          <p:cNvPr id="5" name="Rectangle 4"/>
          <p:cNvSpPr/>
          <p:nvPr/>
        </p:nvSpPr>
        <p:spPr>
          <a:xfrm>
            <a:off x="548640" y="1737360"/>
            <a:ext cx="457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10512"/>
            <a:ext cx="274320" cy="320040"/>
          </a:xfrm>
          <a:prstGeom prst="rect">
            <a:avLst/>
          </a:prstGeom>
          <a:noFill/>
        </p:spPr>
        <p:txBody>
          <a:bodyPr wrap="square">
            <a:spAutoFit/>
          </a:bodyPr>
          <a:lstStyle/>
          <a:p>
            <a:pPr>
              <a:defRPr sz="1000" b="1">
                <a:solidFill>
                  <a:srgbClr val="FFFFFF"/>
                </a:solidFill>
                <a:latin typeface="Arial"/>
              </a:defRPr>
            </a:pPr>
            <a:r>
              <a:t>#</a:t>
            </a:r>
          </a:p>
        </p:txBody>
      </p:sp>
      <p:sp>
        <p:nvSpPr>
          <p:cNvPr id="7" name="Rectangle 6"/>
          <p:cNvSpPr/>
          <p:nvPr/>
        </p:nvSpPr>
        <p:spPr>
          <a:xfrm>
            <a:off x="1005840" y="1737360"/>
            <a:ext cx="2286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10512"/>
            <a:ext cx="2103120" cy="320040"/>
          </a:xfrm>
          <a:prstGeom prst="rect">
            <a:avLst/>
          </a:prstGeom>
          <a:noFill/>
        </p:spPr>
        <p:txBody>
          <a:bodyPr wrap="square">
            <a:spAutoFit/>
          </a:bodyPr>
          <a:lstStyle/>
          <a:p>
            <a:pPr>
              <a:defRPr sz="1000" b="1">
                <a:solidFill>
                  <a:srgbClr val="FFFFFF"/>
                </a:solidFill>
                <a:latin typeface="Arial"/>
              </a:defRPr>
            </a:pPr>
            <a:r>
              <a:t>Gap in Traditional CRMs</a:t>
            </a:r>
          </a:p>
        </p:txBody>
      </p:sp>
      <p:sp>
        <p:nvSpPr>
          <p:cNvPr id="9" name="Rectangle 8"/>
          <p:cNvSpPr/>
          <p:nvPr/>
        </p:nvSpPr>
        <p:spPr>
          <a:xfrm>
            <a:off x="3291840" y="1737360"/>
            <a:ext cx="384048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810512"/>
            <a:ext cx="3657600" cy="320040"/>
          </a:xfrm>
          <a:prstGeom prst="rect">
            <a:avLst/>
          </a:prstGeom>
          <a:noFill/>
        </p:spPr>
        <p:txBody>
          <a:bodyPr wrap="square">
            <a:spAutoFit/>
          </a:bodyPr>
          <a:lstStyle/>
          <a:p>
            <a:pPr>
              <a:defRPr sz="1000" b="1">
                <a:solidFill>
                  <a:srgbClr val="FFFFFF"/>
                </a:solidFill>
                <a:latin typeface="Arial"/>
              </a:defRPr>
            </a:pPr>
            <a:r>
              <a:t>The Problem</a:t>
            </a:r>
          </a:p>
        </p:txBody>
      </p:sp>
      <p:sp>
        <p:nvSpPr>
          <p:cNvPr id="11" name="Rectangle 10"/>
          <p:cNvSpPr/>
          <p:nvPr/>
        </p:nvSpPr>
        <p:spPr>
          <a:xfrm>
            <a:off x="7132320" y="1737360"/>
            <a:ext cx="4572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1810512"/>
            <a:ext cx="4389120" cy="320040"/>
          </a:xfrm>
          <a:prstGeom prst="rect">
            <a:avLst/>
          </a:prstGeom>
          <a:noFill/>
        </p:spPr>
        <p:txBody>
          <a:bodyPr wrap="square">
            <a:spAutoFit/>
          </a:bodyPr>
          <a:lstStyle/>
          <a:p>
            <a:pPr>
              <a:defRPr sz="1000" b="1">
                <a:solidFill>
                  <a:srgbClr val="FFFFFF"/>
                </a:solidFill>
                <a:latin typeface="Arial"/>
              </a:defRPr>
            </a:pPr>
            <a:r>
              <a:t>How CRM Sync Solves It</a:t>
            </a:r>
          </a:p>
        </p:txBody>
      </p:sp>
      <p:sp>
        <p:nvSpPr>
          <p:cNvPr id="13" name="Rectangle 12"/>
          <p:cNvSpPr/>
          <p:nvPr/>
        </p:nvSpPr>
        <p:spPr>
          <a:xfrm>
            <a:off x="548640" y="2194560"/>
            <a:ext cx="4572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240279"/>
            <a:ext cx="274320" cy="804672"/>
          </a:xfrm>
          <a:prstGeom prst="rect">
            <a:avLst/>
          </a:prstGeom>
          <a:noFill/>
        </p:spPr>
        <p:txBody>
          <a:bodyPr wrap="square">
            <a:spAutoFit/>
          </a:bodyPr>
          <a:lstStyle/>
          <a:p>
            <a:pPr>
              <a:defRPr sz="1000">
                <a:solidFill>
                  <a:srgbClr val="333333"/>
                </a:solidFill>
                <a:latin typeface="Arial"/>
              </a:defRPr>
            </a:pPr>
            <a:r>
              <a:t>1</a:t>
            </a:r>
          </a:p>
        </p:txBody>
      </p:sp>
      <p:sp>
        <p:nvSpPr>
          <p:cNvPr id="15" name="Rectangle 14"/>
          <p:cNvSpPr/>
          <p:nvPr/>
        </p:nvSpPr>
        <p:spPr>
          <a:xfrm>
            <a:off x="1005840" y="2194560"/>
            <a:ext cx="22860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240279"/>
            <a:ext cx="2103120" cy="804672"/>
          </a:xfrm>
          <a:prstGeom prst="rect">
            <a:avLst/>
          </a:prstGeom>
          <a:noFill/>
        </p:spPr>
        <p:txBody>
          <a:bodyPr wrap="square">
            <a:spAutoFit/>
          </a:bodyPr>
          <a:lstStyle/>
          <a:p>
            <a:pPr>
              <a:defRPr sz="1000">
                <a:solidFill>
                  <a:srgbClr val="333333"/>
                </a:solidFill>
                <a:latin typeface="Arial"/>
              </a:defRPr>
            </a:pPr>
            <a:r>
              <a:t>Consent is a</a:t>
            </a:r>
            <a:br/>
            <a:r>
              <a:t>checkbox, not a gate</a:t>
            </a:r>
          </a:p>
        </p:txBody>
      </p:sp>
      <p:sp>
        <p:nvSpPr>
          <p:cNvPr id="17" name="Rectangle 16"/>
          <p:cNvSpPr/>
          <p:nvPr/>
        </p:nvSpPr>
        <p:spPr>
          <a:xfrm>
            <a:off x="3291840" y="2194560"/>
            <a:ext cx="384048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2240279"/>
            <a:ext cx="3657600" cy="804672"/>
          </a:xfrm>
          <a:prstGeom prst="rect">
            <a:avLst/>
          </a:prstGeom>
          <a:noFill/>
        </p:spPr>
        <p:txBody>
          <a:bodyPr wrap="square">
            <a:spAutoFit/>
          </a:bodyPr>
          <a:lstStyle/>
          <a:p>
            <a:pPr>
              <a:defRPr sz="1000">
                <a:solidFill>
                  <a:srgbClr val="333333"/>
                </a:solidFill>
                <a:latin typeface="Arial"/>
              </a:defRPr>
            </a:pPr>
            <a:r>
              <a:t>Salesforce and HubSpot store consent as a field. The marketing team decides whether to check it. Nothing stops data from flowing if they forget.</a:t>
            </a:r>
          </a:p>
        </p:txBody>
      </p:sp>
      <p:sp>
        <p:nvSpPr>
          <p:cNvPr id="19" name="Rectangle 18"/>
          <p:cNvSpPr/>
          <p:nvPr/>
        </p:nvSpPr>
        <p:spPr>
          <a:xfrm>
            <a:off x="7132320" y="2194560"/>
            <a:ext cx="45720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0" y="2240279"/>
            <a:ext cx="4389120" cy="804672"/>
          </a:xfrm>
          <a:prstGeom prst="rect">
            <a:avLst/>
          </a:prstGeom>
          <a:noFill/>
        </p:spPr>
        <p:txBody>
          <a:bodyPr wrap="square">
            <a:spAutoFit/>
          </a:bodyPr>
          <a:lstStyle/>
          <a:p>
            <a:pPr>
              <a:defRPr sz="1000">
                <a:solidFill>
                  <a:srgbClr val="333333"/>
                </a:solidFill>
                <a:latin typeface="Arial"/>
              </a:defRPr>
            </a:pPr>
            <a:r>
              <a:t>Consent is enforced at the infrastructure level. No data moves to any channel until consent is verified. Full audit trail: timestamp, method, browser, session ID.</a:t>
            </a:r>
          </a:p>
        </p:txBody>
      </p:sp>
      <p:sp>
        <p:nvSpPr>
          <p:cNvPr id="21" name="Rectangle 20"/>
          <p:cNvSpPr/>
          <p:nvPr/>
        </p:nvSpPr>
        <p:spPr>
          <a:xfrm>
            <a:off x="548640" y="3090672"/>
            <a:ext cx="457200" cy="89611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136391"/>
            <a:ext cx="274320" cy="804672"/>
          </a:xfrm>
          <a:prstGeom prst="rect">
            <a:avLst/>
          </a:prstGeom>
          <a:noFill/>
        </p:spPr>
        <p:txBody>
          <a:bodyPr wrap="square">
            <a:spAutoFit/>
          </a:bodyPr>
          <a:lstStyle/>
          <a:p>
            <a:pPr>
              <a:defRPr sz="1000">
                <a:solidFill>
                  <a:srgbClr val="333333"/>
                </a:solidFill>
                <a:latin typeface="Arial"/>
              </a:defRPr>
            </a:pPr>
            <a:r>
              <a:t>2</a:t>
            </a:r>
          </a:p>
        </p:txBody>
      </p:sp>
      <p:sp>
        <p:nvSpPr>
          <p:cNvPr id="23" name="Rectangle 22"/>
          <p:cNvSpPr/>
          <p:nvPr/>
        </p:nvSpPr>
        <p:spPr>
          <a:xfrm>
            <a:off x="1005840" y="3090672"/>
            <a:ext cx="2286000" cy="89611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3136391"/>
            <a:ext cx="2103120" cy="804672"/>
          </a:xfrm>
          <a:prstGeom prst="rect">
            <a:avLst/>
          </a:prstGeom>
          <a:noFill/>
        </p:spPr>
        <p:txBody>
          <a:bodyPr wrap="square">
            <a:spAutoFit/>
          </a:bodyPr>
          <a:lstStyle/>
          <a:p>
            <a:pPr>
              <a:defRPr sz="1000">
                <a:solidFill>
                  <a:srgbClr val="333333"/>
                </a:solidFill>
                <a:latin typeface="Arial"/>
              </a:defRPr>
            </a:pPr>
            <a:r>
              <a:t>Batch sync,</a:t>
            </a:r>
            <a:br/>
            <a:r>
              <a:t>not real-time</a:t>
            </a:r>
          </a:p>
        </p:txBody>
      </p:sp>
      <p:sp>
        <p:nvSpPr>
          <p:cNvPr id="25" name="Rectangle 24"/>
          <p:cNvSpPr/>
          <p:nvPr/>
        </p:nvSpPr>
        <p:spPr>
          <a:xfrm>
            <a:off x="3291840" y="3090672"/>
            <a:ext cx="3840480" cy="89611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83280" y="3136391"/>
            <a:ext cx="3657600" cy="804672"/>
          </a:xfrm>
          <a:prstGeom prst="rect">
            <a:avLst/>
          </a:prstGeom>
          <a:noFill/>
        </p:spPr>
        <p:txBody>
          <a:bodyPr wrap="square">
            <a:spAutoFit/>
          </a:bodyPr>
          <a:lstStyle/>
          <a:p>
            <a:pPr>
              <a:defRPr sz="1000">
                <a:solidFill>
                  <a:srgbClr val="333333"/>
                </a:solidFill>
                <a:latin typeface="Arial"/>
              </a:defRPr>
            </a:pPr>
            <a:r>
              <a:t>Klaviyo syncs segments hourly or daily. HubSpot workflows run sequentially. A customer can opt out and still get an email before the next batch runs.</a:t>
            </a:r>
          </a:p>
        </p:txBody>
      </p:sp>
      <p:sp>
        <p:nvSpPr>
          <p:cNvPr id="27" name="Rectangle 26"/>
          <p:cNvSpPr/>
          <p:nvPr/>
        </p:nvSpPr>
        <p:spPr>
          <a:xfrm>
            <a:off x="7132320" y="3090672"/>
            <a:ext cx="4572000" cy="89611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0" y="3136391"/>
            <a:ext cx="4389120" cy="804672"/>
          </a:xfrm>
          <a:prstGeom prst="rect">
            <a:avLst/>
          </a:prstGeom>
          <a:noFill/>
        </p:spPr>
        <p:txBody>
          <a:bodyPr wrap="square">
            <a:spAutoFit/>
          </a:bodyPr>
          <a:lstStyle/>
          <a:p>
            <a:pPr>
              <a:defRPr sz="1000">
                <a:solidFill>
                  <a:srgbClr val="333333"/>
                </a:solidFill>
                <a:latin typeface="Arial"/>
              </a:defRPr>
            </a:pPr>
            <a:r>
              <a:t>All 7 services are updated in the same request — database, CMS, store, analytics, CDP, email, consent log. Zero delay between action and sync.</a:t>
            </a:r>
          </a:p>
        </p:txBody>
      </p:sp>
      <p:sp>
        <p:nvSpPr>
          <p:cNvPr id="29" name="Rectangle 28"/>
          <p:cNvSpPr/>
          <p:nvPr/>
        </p:nvSpPr>
        <p:spPr>
          <a:xfrm>
            <a:off x="548640" y="3986783"/>
            <a:ext cx="4572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032503"/>
            <a:ext cx="274320" cy="804672"/>
          </a:xfrm>
          <a:prstGeom prst="rect">
            <a:avLst/>
          </a:prstGeom>
          <a:noFill/>
        </p:spPr>
        <p:txBody>
          <a:bodyPr wrap="square">
            <a:spAutoFit/>
          </a:bodyPr>
          <a:lstStyle/>
          <a:p>
            <a:pPr>
              <a:defRPr sz="1000">
                <a:solidFill>
                  <a:srgbClr val="333333"/>
                </a:solidFill>
                <a:latin typeface="Arial"/>
              </a:defRPr>
            </a:pPr>
            <a:r>
              <a:t>3</a:t>
            </a:r>
          </a:p>
        </p:txBody>
      </p:sp>
      <p:sp>
        <p:nvSpPr>
          <p:cNvPr id="31" name="Rectangle 30"/>
          <p:cNvSpPr/>
          <p:nvPr/>
        </p:nvSpPr>
        <p:spPr>
          <a:xfrm>
            <a:off x="1005840" y="3986783"/>
            <a:ext cx="22860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4032503"/>
            <a:ext cx="2103120" cy="804672"/>
          </a:xfrm>
          <a:prstGeom prst="rect">
            <a:avLst/>
          </a:prstGeom>
          <a:noFill/>
        </p:spPr>
        <p:txBody>
          <a:bodyPr wrap="square">
            <a:spAutoFit/>
          </a:bodyPr>
          <a:lstStyle/>
          <a:p>
            <a:pPr>
              <a:defRPr sz="1000">
                <a:solidFill>
                  <a:srgbClr val="333333"/>
                </a:solidFill>
                <a:latin typeface="Arial"/>
              </a:defRPr>
            </a:pPr>
            <a:r>
              <a:t>Vendor-locked</a:t>
            </a:r>
            <a:br/>
            <a:r>
              <a:t>identity</a:t>
            </a:r>
          </a:p>
        </p:txBody>
      </p:sp>
      <p:sp>
        <p:nvSpPr>
          <p:cNvPr id="33" name="Rectangle 32"/>
          <p:cNvSpPr/>
          <p:nvPr/>
        </p:nvSpPr>
        <p:spPr>
          <a:xfrm>
            <a:off x="3291840" y="3986783"/>
            <a:ext cx="384048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80" y="4032503"/>
            <a:ext cx="3657600" cy="804672"/>
          </a:xfrm>
          <a:prstGeom prst="rect">
            <a:avLst/>
          </a:prstGeom>
          <a:noFill/>
        </p:spPr>
        <p:txBody>
          <a:bodyPr wrap="square">
            <a:spAutoFit/>
          </a:bodyPr>
          <a:lstStyle/>
          <a:p>
            <a:pPr>
              <a:defRPr sz="1000">
                <a:solidFill>
                  <a:srgbClr val="333333"/>
                </a:solidFill>
                <a:latin typeface="Arial"/>
              </a:defRPr>
            </a:pPr>
            <a:r>
              <a:t>Salesforce owns your customer identity inside their platform. Exporting means CSV dumps and months of field mapping.</a:t>
            </a:r>
          </a:p>
        </p:txBody>
      </p:sp>
      <p:sp>
        <p:nvSpPr>
          <p:cNvPr id="35" name="Rectangle 34"/>
          <p:cNvSpPr/>
          <p:nvPr/>
        </p:nvSpPr>
        <p:spPr>
          <a:xfrm>
            <a:off x="7132320" y="3986783"/>
            <a:ext cx="45720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23760" y="4032503"/>
            <a:ext cx="4389120" cy="804672"/>
          </a:xfrm>
          <a:prstGeom prst="rect">
            <a:avLst/>
          </a:prstGeom>
          <a:noFill/>
        </p:spPr>
        <p:txBody>
          <a:bodyPr wrap="square">
            <a:spAutoFit/>
          </a:bodyPr>
          <a:lstStyle/>
          <a:p>
            <a:pPr>
              <a:defRPr sz="1000">
                <a:solidFill>
                  <a:srgbClr val="333333"/>
                </a:solidFill>
                <a:latin typeface="Arial"/>
              </a:defRPr>
            </a:pPr>
            <a:r>
              <a:t>Identity lives in your own database (Xano) with an open schema. You control the data, not the CRM vendor. Export anytime.</a:t>
            </a:r>
          </a:p>
        </p:txBody>
      </p:sp>
      <p:sp>
        <p:nvSpPr>
          <p:cNvPr id="37" name="Rectangle 36"/>
          <p:cNvSpPr/>
          <p:nvPr/>
        </p:nvSpPr>
        <p:spPr>
          <a:xfrm>
            <a:off x="548640" y="4882896"/>
            <a:ext cx="457200" cy="89611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928616"/>
            <a:ext cx="274320" cy="804672"/>
          </a:xfrm>
          <a:prstGeom prst="rect">
            <a:avLst/>
          </a:prstGeom>
          <a:noFill/>
        </p:spPr>
        <p:txBody>
          <a:bodyPr wrap="square">
            <a:spAutoFit/>
          </a:bodyPr>
          <a:lstStyle/>
          <a:p>
            <a:pPr>
              <a:defRPr sz="1000">
                <a:solidFill>
                  <a:srgbClr val="333333"/>
                </a:solidFill>
                <a:latin typeface="Arial"/>
              </a:defRPr>
            </a:pPr>
            <a:r>
              <a:t>4</a:t>
            </a:r>
          </a:p>
        </p:txBody>
      </p:sp>
      <p:sp>
        <p:nvSpPr>
          <p:cNvPr id="39" name="Rectangle 38"/>
          <p:cNvSpPr/>
          <p:nvPr/>
        </p:nvSpPr>
        <p:spPr>
          <a:xfrm>
            <a:off x="1005840" y="4882896"/>
            <a:ext cx="2286000" cy="89611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 y="4928616"/>
            <a:ext cx="2103120" cy="804672"/>
          </a:xfrm>
          <a:prstGeom prst="rect">
            <a:avLst/>
          </a:prstGeom>
          <a:noFill/>
        </p:spPr>
        <p:txBody>
          <a:bodyPr wrap="square">
            <a:spAutoFit/>
          </a:bodyPr>
          <a:lstStyle/>
          <a:p>
            <a:pPr>
              <a:defRPr sz="1000">
                <a:solidFill>
                  <a:srgbClr val="333333"/>
                </a:solidFill>
                <a:latin typeface="Arial"/>
              </a:defRPr>
            </a:pPr>
            <a:r>
              <a:t>Centralized</a:t>
            </a:r>
            <a:br/>
            <a:r>
              <a:t>cloud servers</a:t>
            </a:r>
          </a:p>
        </p:txBody>
      </p:sp>
      <p:sp>
        <p:nvSpPr>
          <p:cNvPr id="41" name="Rectangle 40"/>
          <p:cNvSpPr/>
          <p:nvPr/>
        </p:nvSpPr>
        <p:spPr>
          <a:xfrm>
            <a:off x="3291840" y="4882896"/>
            <a:ext cx="3840480" cy="89611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83280" y="4928616"/>
            <a:ext cx="3657600" cy="804672"/>
          </a:xfrm>
          <a:prstGeom prst="rect">
            <a:avLst/>
          </a:prstGeom>
          <a:noFill/>
        </p:spPr>
        <p:txBody>
          <a:bodyPr wrap="square">
            <a:spAutoFit/>
          </a:bodyPr>
          <a:lstStyle/>
          <a:p>
            <a:pPr>
              <a:defRPr sz="1000">
                <a:solidFill>
                  <a:srgbClr val="333333"/>
                </a:solidFill>
                <a:latin typeface="Arial"/>
              </a:defRPr>
            </a:pPr>
            <a:r>
              <a:t>HubSpot and Salesforce run from centralized data centers. Auth checks and page loads travel to one region, then back.</a:t>
            </a:r>
          </a:p>
        </p:txBody>
      </p:sp>
      <p:sp>
        <p:nvSpPr>
          <p:cNvPr id="43" name="Rectangle 42"/>
          <p:cNvSpPr/>
          <p:nvPr/>
        </p:nvSpPr>
        <p:spPr>
          <a:xfrm>
            <a:off x="7132320" y="4882896"/>
            <a:ext cx="4572000" cy="896112"/>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4928616"/>
            <a:ext cx="4389120" cy="804672"/>
          </a:xfrm>
          <a:prstGeom prst="rect">
            <a:avLst/>
          </a:prstGeom>
          <a:noFill/>
        </p:spPr>
        <p:txBody>
          <a:bodyPr wrap="square">
            <a:spAutoFit/>
          </a:bodyPr>
          <a:lstStyle/>
          <a:p>
            <a:pPr>
              <a:defRPr sz="1000">
                <a:solidFill>
                  <a:srgbClr val="333333"/>
                </a:solidFill>
                <a:latin typeface="Arial"/>
              </a:defRPr>
            </a:pPr>
            <a:r>
              <a:t>Runs on Cloudflare's edge (300+ cities). Auth and consent checks happen in milliseconds, close to the user. No cold starts.</a:t>
            </a:r>
          </a:p>
        </p:txBody>
      </p:sp>
      <p:sp>
        <p:nvSpPr>
          <p:cNvPr id="45" name="Rectangle 44"/>
          <p:cNvSpPr/>
          <p:nvPr/>
        </p:nvSpPr>
        <p:spPr>
          <a:xfrm>
            <a:off x="548640" y="5779008"/>
            <a:ext cx="4572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824728"/>
            <a:ext cx="274320" cy="804672"/>
          </a:xfrm>
          <a:prstGeom prst="rect">
            <a:avLst/>
          </a:prstGeom>
          <a:noFill/>
        </p:spPr>
        <p:txBody>
          <a:bodyPr wrap="square">
            <a:spAutoFit/>
          </a:bodyPr>
          <a:lstStyle/>
          <a:p>
            <a:pPr>
              <a:defRPr sz="1000">
                <a:solidFill>
                  <a:srgbClr val="333333"/>
                </a:solidFill>
                <a:latin typeface="Arial"/>
              </a:defRPr>
            </a:pPr>
            <a:r>
              <a:t>5</a:t>
            </a:r>
          </a:p>
        </p:txBody>
      </p:sp>
      <p:sp>
        <p:nvSpPr>
          <p:cNvPr id="47" name="Rectangle 46"/>
          <p:cNvSpPr/>
          <p:nvPr/>
        </p:nvSpPr>
        <p:spPr>
          <a:xfrm>
            <a:off x="1005840" y="5779008"/>
            <a:ext cx="22860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824728"/>
            <a:ext cx="2103120" cy="804672"/>
          </a:xfrm>
          <a:prstGeom prst="rect">
            <a:avLst/>
          </a:prstGeom>
          <a:noFill/>
        </p:spPr>
        <p:txBody>
          <a:bodyPr wrap="square">
            <a:spAutoFit/>
          </a:bodyPr>
          <a:lstStyle/>
          <a:p>
            <a:pPr>
              <a:defRPr sz="1000">
                <a:solidFill>
                  <a:srgbClr val="333333"/>
                </a:solidFill>
                <a:latin typeface="Arial"/>
              </a:defRPr>
            </a:pPr>
            <a:r>
              <a:t>Multi-tenant</a:t>
            </a:r>
            <a:br/>
            <a:r>
              <a:t>is a premium add-on</a:t>
            </a:r>
          </a:p>
        </p:txBody>
      </p:sp>
      <p:sp>
        <p:nvSpPr>
          <p:cNvPr id="49" name="Rectangle 48"/>
          <p:cNvSpPr/>
          <p:nvPr/>
        </p:nvSpPr>
        <p:spPr>
          <a:xfrm>
            <a:off x="3291840" y="5779008"/>
            <a:ext cx="384048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83280" y="5824728"/>
            <a:ext cx="3657600" cy="804672"/>
          </a:xfrm>
          <a:prstGeom prst="rect">
            <a:avLst/>
          </a:prstGeom>
          <a:noFill/>
        </p:spPr>
        <p:txBody>
          <a:bodyPr wrap="square">
            <a:spAutoFit/>
          </a:bodyPr>
          <a:lstStyle/>
          <a:p>
            <a:pPr>
              <a:defRPr sz="1000">
                <a:solidFill>
                  <a:srgbClr val="333333"/>
                </a:solidFill>
                <a:latin typeface="Arial"/>
              </a:defRPr>
            </a:pPr>
            <a:r>
              <a:t>Salesforce multi-org requires Enterprise licensing. HubSpot business units are a paid upgrade. Klaviyo doesn't offer it.</a:t>
            </a:r>
          </a:p>
        </p:txBody>
      </p:sp>
      <p:sp>
        <p:nvSpPr>
          <p:cNvPr id="51" name="Rectangle 50"/>
          <p:cNvSpPr/>
          <p:nvPr/>
        </p:nvSpPr>
        <p:spPr>
          <a:xfrm>
            <a:off x="7132320" y="5779008"/>
            <a:ext cx="4572000" cy="89611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5824728"/>
            <a:ext cx="4389120" cy="804672"/>
          </a:xfrm>
          <a:prstGeom prst="rect">
            <a:avLst/>
          </a:prstGeom>
          <a:noFill/>
        </p:spPr>
        <p:txBody>
          <a:bodyPr wrap="square">
            <a:spAutoFit/>
          </a:bodyPr>
          <a:lstStyle/>
          <a:p>
            <a:pPr>
              <a:defRPr sz="1000">
                <a:solidFill>
                  <a:srgbClr val="333333"/>
                </a:solidFill>
                <a:latin typeface="Arial"/>
              </a:defRPr>
            </a:pPr>
            <a:r>
              <a:t>Every store is isolated at the data key level — separate credentials, admin keys, and config — included on the base plan.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640080"/>
          </a:xfrm>
          <a:prstGeom prst="rect">
            <a:avLst/>
          </a:prstGeom>
          <a:noFill/>
        </p:spPr>
        <p:txBody>
          <a:bodyPr wrap="square">
            <a:spAutoFit/>
          </a:bodyPr>
          <a:lstStyle/>
          <a:p>
            <a:pPr>
              <a:defRPr sz="2800" b="1">
                <a:solidFill>
                  <a:srgbClr val="FFFFFF"/>
                </a:solidFill>
                <a:latin typeface="Arial"/>
              </a:defRPr>
            </a:pPr>
            <a:r>
              <a:t>What Traditional CRMs Miss (continued)</a:t>
            </a:r>
          </a:p>
        </p:txBody>
      </p:sp>
      <p:sp>
        <p:nvSpPr>
          <p:cNvPr id="4" name="Rectangle 3"/>
          <p:cNvSpPr/>
          <p:nvPr/>
        </p:nvSpPr>
        <p:spPr>
          <a:xfrm>
            <a:off x="548640" y="1097280"/>
            <a:ext cx="4572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70432"/>
            <a:ext cx="274320" cy="320040"/>
          </a:xfrm>
          <a:prstGeom prst="rect">
            <a:avLst/>
          </a:prstGeom>
          <a:noFill/>
        </p:spPr>
        <p:txBody>
          <a:bodyPr wrap="square">
            <a:spAutoFit/>
          </a:bodyPr>
          <a:lstStyle/>
          <a:p>
            <a:pPr>
              <a:defRPr sz="1000" b="1">
                <a:solidFill>
                  <a:srgbClr val="FFFFFF"/>
                </a:solidFill>
                <a:latin typeface="Arial"/>
              </a:defRPr>
            </a:pPr>
            <a:r>
              <a:t>#</a:t>
            </a:r>
          </a:p>
        </p:txBody>
      </p:sp>
      <p:sp>
        <p:nvSpPr>
          <p:cNvPr id="6" name="Rectangle 5"/>
          <p:cNvSpPr/>
          <p:nvPr/>
        </p:nvSpPr>
        <p:spPr>
          <a:xfrm>
            <a:off x="1005840" y="1097280"/>
            <a:ext cx="2286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170432"/>
            <a:ext cx="2103120" cy="320040"/>
          </a:xfrm>
          <a:prstGeom prst="rect">
            <a:avLst/>
          </a:prstGeom>
          <a:noFill/>
        </p:spPr>
        <p:txBody>
          <a:bodyPr wrap="square">
            <a:spAutoFit/>
          </a:bodyPr>
          <a:lstStyle/>
          <a:p>
            <a:pPr>
              <a:defRPr sz="1000" b="1">
                <a:solidFill>
                  <a:srgbClr val="FFFFFF"/>
                </a:solidFill>
                <a:latin typeface="Arial"/>
              </a:defRPr>
            </a:pPr>
            <a:r>
              <a:t>Gap in Traditional CRMs</a:t>
            </a:r>
          </a:p>
        </p:txBody>
      </p:sp>
      <p:sp>
        <p:nvSpPr>
          <p:cNvPr id="8" name="Rectangle 7"/>
          <p:cNvSpPr/>
          <p:nvPr/>
        </p:nvSpPr>
        <p:spPr>
          <a:xfrm>
            <a:off x="3291840" y="1097280"/>
            <a:ext cx="384048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170432"/>
            <a:ext cx="3657600" cy="320040"/>
          </a:xfrm>
          <a:prstGeom prst="rect">
            <a:avLst/>
          </a:prstGeom>
          <a:noFill/>
        </p:spPr>
        <p:txBody>
          <a:bodyPr wrap="square">
            <a:spAutoFit/>
          </a:bodyPr>
          <a:lstStyle/>
          <a:p>
            <a:pPr>
              <a:defRPr sz="1000" b="1">
                <a:solidFill>
                  <a:srgbClr val="FFFFFF"/>
                </a:solidFill>
                <a:latin typeface="Arial"/>
              </a:defRPr>
            </a:pPr>
            <a:r>
              <a:t>The Problem</a:t>
            </a:r>
          </a:p>
        </p:txBody>
      </p:sp>
      <p:sp>
        <p:nvSpPr>
          <p:cNvPr id="10" name="Rectangle 9"/>
          <p:cNvSpPr/>
          <p:nvPr/>
        </p:nvSpPr>
        <p:spPr>
          <a:xfrm>
            <a:off x="7132320" y="1097280"/>
            <a:ext cx="4572000" cy="45720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0" y="1170432"/>
            <a:ext cx="4389120" cy="320040"/>
          </a:xfrm>
          <a:prstGeom prst="rect">
            <a:avLst/>
          </a:prstGeom>
          <a:noFill/>
        </p:spPr>
        <p:txBody>
          <a:bodyPr wrap="square">
            <a:spAutoFit/>
          </a:bodyPr>
          <a:lstStyle/>
          <a:p>
            <a:pPr>
              <a:defRPr sz="1000" b="1">
                <a:solidFill>
                  <a:srgbClr val="FFFFFF"/>
                </a:solidFill>
                <a:latin typeface="Arial"/>
              </a:defRPr>
            </a:pPr>
            <a:r>
              <a:t>How CRM Sync Solves It</a:t>
            </a:r>
          </a:p>
        </p:txBody>
      </p:sp>
      <p:sp>
        <p:nvSpPr>
          <p:cNvPr id="12" name="Rectangle 11"/>
          <p:cNvSpPr/>
          <p:nvPr/>
        </p:nvSpPr>
        <p:spPr>
          <a:xfrm>
            <a:off x="548640" y="1554480"/>
            <a:ext cx="4572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600200"/>
            <a:ext cx="274320" cy="914400"/>
          </a:xfrm>
          <a:prstGeom prst="rect">
            <a:avLst/>
          </a:prstGeom>
          <a:noFill/>
        </p:spPr>
        <p:txBody>
          <a:bodyPr wrap="square">
            <a:spAutoFit/>
          </a:bodyPr>
          <a:lstStyle/>
          <a:p>
            <a:pPr>
              <a:defRPr sz="1000">
                <a:solidFill>
                  <a:srgbClr val="333333"/>
                </a:solidFill>
                <a:latin typeface="Arial"/>
              </a:defRPr>
            </a:pPr>
            <a:r>
              <a:t>6</a:t>
            </a:r>
          </a:p>
        </p:txBody>
      </p:sp>
      <p:sp>
        <p:nvSpPr>
          <p:cNvPr id="14" name="Rectangle 13"/>
          <p:cNvSpPr/>
          <p:nvPr/>
        </p:nvSpPr>
        <p:spPr>
          <a:xfrm>
            <a:off x="1005840" y="1554480"/>
            <a:ext cx="22860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1600200"/>
            <a:ext cx="2103120" cy="914400"/>
          </a:xfrm>
          <a:prstGeom prst="rect">
            <a:avLst/>
          </a:prstGeom>
          <a:noFill/>
        </p:spPr>
        <p:txBody>
          <a:bodyPr wrap="square">
            <a:spAutoFit/>
          </a:bodyPr>
          <a:lstStyle/>
          <a:p>
            <a:pPr>
              <a:defRPr sz="1000">
                <a:solidFill>
                  <a:srgbClr val="333333"/>
                </a:solidFill>
                <a:latin typeface="Arial"/>
              </a:defRPr>
            </a:pPr>
            <a:r>
              <a:t>No AI agent</a:t>
            </a:r>
            <a:br/>
            <a:r>
              <a:t>security model</a:t>
            </a:r>
          </a:p>
        </p:txBody>
      </p:sp>
      <p:sp>
        <p:nvSpPr>
          <p:cNvPr id="16" name="Rectangle 15"/>
          <p:cNvSpPr/>
          <p:nvPr/>
        </p:nvSpPr>
        <p:spPr>
          <a:xfrm>
            <a:off x="3291840" y="1554480"/>
            <a:ext cx="384048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600200"/>
            <a:ext cx="3657600" cy="914400"/>
          </a:xfrm>
          <a:prstGeom prst="rect">
            <a:avLst/>
          </a:prstGeom>
          <a:noFill/>
        </p:spPr>
        <p:txBody>
          <a:bodyPr wrap="square">
            <a:spAutoFit/>
          </a:bodyPr>
          <a:lstStyle/>
          <a:p>
            <a:pPr>
              <a:defRPr sz="1000">
                <a:solidFill>
                  <a:srgbClr val="333333"/>
                </a:solidFill>
                <a:latin typeface="Arial"/>
              </a:defRPr>
            </a:pPr>
            <a:r>
              <a:t>A Salesforce API key with full scope can read and write everything. No CRM distinguishes between human and AI-initiated actions.</a:t>
            </a:r>
          </a:p>
        </p:txBody>
      </p:sp>
      <p:sp>
        <p:nvSpPr>
          <p:cNvPr id="18" name="Rectangle 17"/>
          <p:cNvSpPr/>
          <p:nvPr/>
        </p:nvSpPr>
        <p:spPr>
          <a:xfrm>
            <a:off x="7132320" y="1554480"/>
            <a:ext cx="45720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1600200"/>
            <a:ext cx="4389120" cy="914400"/>
          </a:xfrm>
          <a:prstGeom prst="rect">
            <a:avLst/>
          </a:prstGeom>
          <a:noFill/>
        </p:spPr>
        <p:txBody>
          <a:bodyPr wrap="square">
            <a:spAutoFit/>
          </a:bodyPr>
          <a:lstStyle/>
          <a:p>
            <a:pPr>
              <a:defRPr sz="1000">
                <a:solidFill>
                  <a:srgbClr val="333333"/>
                </a:solidFill>
                <a:latin typeface="Arial"/>
              </a:defRPr>
            </a:pPr>
            <a:r>
              <a:t>AI tools get scoped credentials only. Every agent action is logged with source attribution. Secrets are masked in all diagnostic views.</a:t>
            </a:r>
          </a:p>
        </p:txBody>
      </p:sp>
      <p:sp>
        <p:nvSpPr>
          <p:cNvPr id="20" name="Rectangle 19"/>
          <p:cNvSpPr/>
          <p:nvPr/>
        </p:nvSpPr>
        <p:spPr>
          <a:xfrm>
            <a:off x="548640" y="2560320"/>
            <a:ext cx="4572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606039"/>
            <a:ext cx="274320" cy="914400"/>
          </a:xfrm>
          <a:prstGeom prst="rect">
            <a:avLst/>
          </a:prstGeom>
          <a:noFill/>
        </p:spPr>
        <p:txBody>
          <a:bodyPr wrap="square">
            <a:spAutoFit/>
          </a:bodyPr>
          <a:lstStyle/>
          <a:p>
            <a:pPr>
              <a:defRPr sz="1000">
                <a:solidFill>
                  <a:srgbClr val="333333"/>
                </a:solidFill>
                <a:latin typeface="Arial"/>
              </a:defRPr>
            </a:pPr>
            <a:r>
              <a:t>7</a:t>
            </a:r>
          </a:p>
        </p:txBody>
      </p:sp>
      <p:sp>
        <p:nvSpPr>
          <p:cNvPr id="22" name="Rectangle 21"/>
          <p:cNvSpPr/>
          <p:nvPr/>
        </p:nvSpPr>
        <p:spPr>
          <a:xfrm>
            <a:off x="1005840" y="2560320"/>
            <a:ext cx="22860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2606039"/>
            <a:ext cx="2103120" cy="914400"/>
          </a:xfrm>
          <a:prstGeom prst="rect">
            <a:avLst/>
          </a:prstGeom>
          <a:noFill/>
        </p:spPr>
        <p:txBody>
          <a:bodyPr wrap="square">
            <a:spAutoFit/>
          </a:bodyPr>
          <a:lstStyle/>
          <a:p>
            <a:pPr>
              <a:defRPr sz="1000">
                <a:solidFill>
                  <a:srgbClr val="333333"/>
                </a:solidFill>
                <a:latin typeface="Arial"/>
              </a:defRPr>
            </a:pPr>
            <a:r>
              <a:t>Monolithic</a:t>
            </a:r>
            <a:br/>
            <a:r>
              <a:t>platform</a:t>
            </a:r>
          </a:p>
        </p:txBody>
      </p:sp>
      <p:sp>
        <p:nvSpPr>
          <p:cNvPr id="24" name="Rectangle 23"/>
          <p:cNvSpPr/>
          <p:nvPr/>
        </p:nvSpPr>
        <p:spPr>
          <a:xfrm>
            <a:off x="3291840" y="2560320"/>
            <a:ext cx="384048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83280" y="2606039"/>
            <a:ext cx="3657600" cy="914400"/>
          </a:xfrm>
          <a:prstGeom prst="rect">
            <a:avLst/>
          </a:prstGeom>
          <a:noFill/>
        </p:spPr>
        <p:txBody>
          <a:bodyPr wrap="square">
            <a:spAutoFit/>
          </a:bodyPr>
          <a:lstStyle/>
          <a:p>
            <a:pPr>
              <a:defRPr sz="1000">
                <a:solidFill>
                  <a:srgbClr val="333333"/>
                </a:solidFill>
                <a:latin typeface="Arial"/>
              </a:defRPr>
            </a:pPr>
            <a:r>
              <a:t>HubSpot bundles CMS + CRM + email + analytics into one product. You pay for all of it whether you use it or not.</a:t>
            </a:r>
          </a:p>
        </p:txBody>
      </p:sp>
      <p:sp>
        <p:nvSpPr>
          <p:cNvPr id="26" name="Rectangle 25"/>
          <p:cNvSpPr/>
          <p:nvPr/>
        </p:nvSpPr>
        <p:spPr>
          <a:xfrm>
            <a:off x="7132320" y="2560320"/>
            <a:ext cx="45720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2606039"/>
            <a:ext cx="4389120" cy="914400"/>
          </a:xfrm>
          <a:prstGeom prst="rect">
            <a:avLst/>
          </a:prstGeom>
          <a:noFill/>
        </p:spPr>
        <p:txBody>
          <a:bodyPr wrap="square">
            <a:spAutoFit/>
          </a:bodyPr>
          <a:lstStyle/>
          <a:p>
            <a:pPr>
              <a:defRPr sz="1000">
                <a:solidFill>
                  <a:srgbClr val="333333"/>
                </a:solidFill>
                <a:latin typeface="Arial"/>
              </a:defRPr>
            </a:pPr>
            <a:r>
              <a:t>Thin orchestration layer connecting tools you already use: Shopify, Webflow, GA4, Adobe, Resend. Swap any service without re-platforming.</a:t>
            </a:r>
          </a:p>
        </p:txBody>
      </p:sp>
      <p:sp>
        <p:nvSpPr>
          <p:cNvPr id="28" name="Rectangle 27"/>
          <p:cNvSpPr/>
          <p:nvPr/>
        </p:nvSpPr>
        <p:spPr>
          <a:xfrm>
            <a:off x="548640" y="3566160"/>
            <a:ext cx="4572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611880"/>
            <a:ext cx="274320" cy="914400"/>
          </a:xfrm>
          <a:prstGeom prst="rect">
            <a:avLst/>
          </a:prstGeom>
          <a:noFill/>
        </p:spPr>
        <p:txBody>
          <a:bodyPr wrap="square">
            <a:spAutoFit/>
          </a:bodyPr>
          <a:lstStyle/>
          <a:p>
            <a:pPr>
              <a:defRPr sz="1000">
                <a:solidFill>
                  <a:srgbClr val="333333"/>
                </a:solidFill>
                <a:latin typeface="Arial"/>
              </a:defRPr>
            </a:pPr>
            <a:r>
              <a:t>8</a:t>
            </a:r>
          </a:p>
        </p:txBody>
      </p:sp>
      <p:sp>
        <p:nvSpPr>
          <p:cNvPr id="30" name="Rectangle 29"/>
          <p:cNvSpPr/>
          <p:nvPr/>
        </p:nvSpPr>
        <p:spPr>
          <a:xfrm>
            <a:off x="1005840" y="3566160"/>
            <a:ext cx="22860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3611880"/>
            <a:ext cx="2103120" cy="914400"/>
          </a:xfrm>
          <a:prstGeom prst="rect">
            <a:avLst/>
          </a:prstGeom>
          <a:noFill/>
        </p:spPr>
        <p:txBody>
          <a:bodyPr wrap="square">
            <a:spAutoFit/>
          </a:bodyPr>
          <a:lstStyle/>
          <a:p>
            <a:pPr>
              <a:defRPr sz="1000">
                <a:solidFill>
                  <a:srgbClr val="333333"/>
                </a:solidFill>
                <a:latin typeface="Arial"/>
              </a:defRPr>
            </a:pPr>
            <a:r>
              <a:t>GDPR is an</a:t>
            </a:r>
            <a:br/>
            <a:r>
              <a:t>add-on</a:t>
            </a:r>
          </a:p>
        </p:txBody>
      </p:sp>
      <p:sp>
        <p:nvSpPr>
          <p:cNvPr id="32" name="Rectangle 31"/>
          <p:cNvSpPr/>
          <p:nvPr/>
        </p:nvSpPr>
        <p:spPr>
          <a:xfrm>
            <a:off x="3291840" y="3566160"/>
            <a:ext cx="384048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83280" y="3611880"/>
            <a:ext cx="3657600" cy="914400"/>
          </a:xfrm>
          <a:prstGeom prst="rect">
            <a:avLst/>
          </a:prstGeom>
          <a:noFill/>
        </p:spPr>
        <p:txBody>
          <a:bodyPr wrap="square">
            <a:spAutoFit/>
          </a:bodyPr>
          <a:lstStyle/>
          <a:p>
            <a:pPr>
              <a:defRPr sz="1000">
                <a:solidFill>
                  <a:srgbClr val="333333"/>
                </a:solidFill>
                <a:latin typeface="Arial"/>
              </a:defRPr>
            </a:pPr>
            <a:r>
              <a:t>Salesforce charges extra for Privacy Center. HubSpot offers basic consent banners and deletion requests. Neither covers the full regulation.</a:t>
            </a:r>
          </a:p>
        </p:txBody>
      </p:sp>
      <p:sp>
        <p:nvSpPr>
          <p:cNvPr id="34" name="Rectangle 33"/>
          <p:cNvSpPr/>
          <p:nvPr/>
        </p:nvSpPr>
        <p:spPr>
          <a:xfrm>
            <a:off x="7132320" y="3566160"/>
            <a:ext cx="45720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60" y="3611880"/>
            <a:ext cx="4389120" cy="914400"/>
          </a:xfrm>
          <a:prstGeom prst="rect">
            <a:avLst/>
          </a:prstGeom>
          <a:noFill/>
        </p:spPr>
        <p:txBody>
          <a:bodyPr wrap="square">
            <a:spAutoFit/>
          </a:bodyPr>
          <a:lstStyle/>
          <a:p>
            <a:pPr>
              <a:defRPr sz="1000">
                <a:solidFill>
                  <a:srgbClr val="333333"/>
                </a:solidFill>
                <a:latin typeface="Arial"/>
              </a:defRPr>
            </a:pPr>
            <a:r>
              <a:t>GDPR built into the data model: Art. 7 consent provenance, Art. 15 data export, Art. 17 erasure, Art. 20 portability — all standard, with cryptographically verified webhooks.</a:t>
            </a:r>
          </a:p>
        </p:txBody>
      </p:sp>
      <p:sp>
        <p:nvSpPr>
          <p:cNvPr id="36" name="Rectangle 35"/>
          <p:cNvSpPr/>
          <p:nvPr/>
        </p:nvSpPr>
        <p:spPr>
          <a:xfrm>
            <a:off x="548640" y="4572000"/>
            <a:ext cx="4572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617720"/>
            <a:ext cx="274320" cy="914400"/>
          </a:xfrm>
          <a:prstGeom prst="rect">
            <a:avLst/>
          </a:prstGeom>
          <a:noFill/>
        </p:spPr>
        <p:txBody>
          <a:bodyPr wrap="square">
            <a:spAutoFit/>
          </a:bodyPr>
          <a:lstStyle/>
          <a:p>
            <a:pPr>
              <a:defRPr sz="1000">
                <a:solidFill>
                  <a:srgbClr val="333333"/>
                </a:solidFill>
                <a:latin typeface="Arial"/>
              </a:defRPr>
            </a:pPr>
            <a:r>
              <a:t>9</a:t>
            </a:r>
          </a:p>
        </p:txBody>
      </p:sp>
      <p:sp>
        <p:nvSpPr>
          <p:cNvPr id="38" name="Rectangle 37"/>
          <p:cNvSpPr/>
          <p:nvPr/>
        </p:nvSpPr>
        <p:spPr>
          <a:xfrm>
            <a:off x="1005840" y="4572000"/>
            <a:ext cx="22860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4617720"/>
            <a:ext cx="2103120" cy="914400"/>
          </a:xfrm>
          <a:prstGeom prst="rect">
            <a:avLst/>
          </a:prstGeom>
          <a:noFill/>
        </p:spPr>
        <p:txBody>
          <a:bodyPr wrap="square">
            <a:spAutoFit/>
          </a:bodyPr>
          <a:lstStyle/>
          <a:p>
            <a:pPr>
              <a:defRPr sz="1000">
                <a:solidFill>
                  <a:srgbClr val="333333"/>
                </a:solidFill>
                <a:latin typeface="Arial"/>
              </a:defRPr>
            </a:pPr>
            <a:r>
              <a:t>Client-side analytics</a:t>
            </a:r>
            <a:br/>
            <a:r>
              <a:t>only</a:t>
            </a:r>
          </a:p>
        </p:txBody>
      </p:sp>
      <p:sp>
        <p:nvSpPr>
          <p:cNvPr id="40" name="Rectangle 39"/>
          <p:cNvSpPr/>
          <p:nvPr/>
        </p:nvSpPr>
        <p:spPr>
          <a:xfrm>
            <a:off x="3291840" y="4572000"/>
            <a:ext cx="384048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83280" y="4617720"/>
            <a:ext cx="3657600" cy="914400"/>
          </a:xfrm>
          <a:prstGeom prst="rect">
            <a:avLst/>
          </a:prstGeom>
          <a:noFill/>
        </p:spPr>
        <p:txBody>
          <a:bodyPr wrap="square">
            <a:spAutoFit/>
          </a:bodyPr>
          <a:lstStyle/>
          <a:p>
            <a:pPr>
              <a:defRPr sz="1000">
                <a:solidFill>
                  <a:srgbClr val="333333"/>
                </a:solidFill>
                <a:latin typeface="Arial"/>
              </a:defRPr>
            </a:pPr>
            <a:r>
              <a:t>Klaviyo and HubSpot depend on browser JavaScript for tracking. Ad blockers defeat it — you lose 30-40% of analytics data.</a:t>
            </a:r>
          </a:p>
        </p:txBody>
      </p:sp>
      <p:sp>
        <p:nvSpPr>
          <p:cNvPr id="42" name="Rectangle 41"/>
          <p:cNvSpPr/>
          <p:nvPr/>
        </p:nvSpPr>
        <p:spPr>
          <a:xfrm>
            <a:off x="7132320" y="4572000"/>
            <a:ext cx="4572000" cy="1005840"/>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3760" y="4617720"/>
            <a:ext cx="4389120" cy="914400"/>
          </a:xfrm>
          <a:prstGeom prst="rect">
            <a:avLst/>
          </a:prstGeom>
          <a:noFill/>
        </p:spPr>
        <p:txBody>
          <a:bodyPr wrap="square">
            <a:spAutoFit/>
          </a:bodyPr>
          <a:lstStyle/>
          <a:p>
            <a:pPr>
              <a:defRPr sz="1000">
                <a:solidFill>
                  <a:srgbClr val="333333"/>
                </a:solidFill>
                <a:latin typeface="Arial"/>
              </a:defRPr>
            </a:pPr>
            <a:r>
              <a:t>Server-side GA4 Measurement Protocol pushes user properties and events directly. Immune to ad blockers, consistent data regardless of browser.</a:t>
            </a:r>
          </a:p>
        </p:txBody>
      </p:sp>
      <p:sp>
        <p:nvSpPr>
          <p:cNvPr id="44" name="Rectangle 43"/>
          <p:cNvSpPr/>
          <p:nvPr/>
        </p:nvSpPr>
        <p:spPr>
          <a:xfrm>
            <a:off x="548640" y="5577840"/>
            <a:ext cx="4572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5623560"/>
            <a:ext cx="274320" cy="914400"/>
          </a:xfrm>
          <a:prstGeom prst="rect">
            <a:avLst/>
          </a:prstGeom>
          <a:noFill/>
        </p:spPr>
        <p:txBody>
          <a:bodyPr wrap="square">
            <a:spAutoFit/>
          </a:bodyPr>
          <a:lstStyle/>
          <a:p>
            <a:pPr>
              <a:defRPr sz="1000">
                <a:solidFill>
                  <a:srgbClr val="333333"/>
                </a:solidFill>
                <a:latin typeface="Arial"/>
              </a:defRPr>
            </a:pPr>
            <a:r>
              <a:t>10</a:t>
            </a:r>
          </a:p>
        </p:txBody>
      </p:sp>
      <p:sp>
        <p:nvSpPr>
          <p:cNvPr id="46" name="Rectangle 45"/>
          <p:cNvSpPr/>
          <p:nvPr/>
        </p:nvSpPr>
        <p:spPr>
          <a:xfrm>
            <a:off x="1005840" y="5577840"/>
            <a:ext cx="22860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623560"/>
            <a:ext cx="2103120" cy="914400"/>
          </a:xfrm>
          <a:prstGeom prst="rect">
            <a:avLst/>
          </a:prstGeom>
          <a:noFill/>
        </p:spPr>
        <p:txBody>
          <a:bodyPr wrap="square">
            <a:spAutoFit/>
          </a:bodyPr>
          <a:lstStyle/>
          <a:p>
            <a:pPr>
              <a:defRPr sz="1000">
                <a:solidFill>
                  <a:srgbClr val="333333"/>
                </a:solidFill>
                <a:latin typeface="Arial"/>
              </a:defRPr>
            </a:pPr>
            <a:r>
              <a:t>Per-contact</a:t>
            </a:r>
            <a:br/>
            <a:r>
              <a:t>pricing</a:t>
            </a:r>
          </a:p>
        </p:txBody>
      </p:sp>
      <p:sp>
        <p:nvSpPr>
          <p:cNvPr id="48" name="Rectangle 47"/>
          <p:cNvSpPr/>
          <p:nvPr/>
        </p:nvSpPr>
        <p:spPr>
          <a:xfrm>
            <a:off x="3291840" y="5577840"/>
            <a:ext cx="384048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3280" y="5623560"/>
            <a:ext cx="3657600" cy="914400"/>
          </a:xfrm>
          <a:prstGeom prst="rect">
            <a:avLst/>
          </a:prstGeom>
          <a:noFill/>
        </p:spPr>
        <p:txBody>
          <a:bodyPr wrap="square">
            <a:spAutoFit/>
          </a:bodyPr>
          <a:lstStyle/>
          <a:p>
            <a:pPr>
              <a:defRPr sz="1000">
                <a:solidFill>
                  <a:srgbClr val="333333"/>
                </a:solidFill>
                <a:latin typeface="Arial"/>
              </a:defRPr>
            </a:pPr>
            <a:r>
              <a:t>HubSpot: $800/mo at 2,000 contacts. Klaviyo: per profile. Salesforce: per seat + per-feature. Costs scale with your customer base.</a:t>
            </a:r>
          </a:p>
        </p:txBody>
      </p:sp>
      <p:sp>
        <p:nvSpPr>
          <p:cNvPr id="50" name="Rectangle 49"/>
          <p:cNvSpPr/>
          <p:nvPr/>
        </p:nvSpPr>
        <p:spPr>
          <a:xfrm>
            <a:off x="7132320" y="5577840"/>
            <a:ext cx="4572000" cy="10058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23760" y="5623560"/>
            <a:ext cx="4389120" cy="914400"/>
          </a:xfrm>
          <a:prstGeom prst="rect">
            <a:avLst/>
          </a:prstGeom>
          <a:noFill/>
        </p:spPr>
        <p:txBody>
          <a:bodyPr wrap="square">
            <a:spAutoFit/>
          </a:bodyPr>
          <a:lstStyle/>
          <a:p>
            <a:pPr>
              <a:defRPr sz="1000">
                <a:solidFill>
                  <a:srgbClr val="333333"/>
                </a:solidFill>
                <a:latin typeface="Arial"/>
              </a:defRPr>
            </a:pPr>
            <a:r>
              <a:t>Per infrastructure tier: $69/mo shared, $325/mo private. No per-contact penalty — grow your customer base without growing your bill.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2296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640080"/>
          </a:xfrm>
          <a:prstGeom prst="rect">
            <a:avLst/>
          </a:prstGeom>
          <a:noFill/>
        </p:spPr>
        <p:txBody>
          <a:bodyPr wrap="square">
            <a:spAutoFit/>
          </a:bodyPr>
          <a:lstStyle/>
          <a:p>
            <a:pPr>
              <a:defRPr sz="2800" b="1">
                <a:solidFill>
                  <a:srgbClr val="FFFFFF"/>
                </a:solidFill>
                <a:latin typeface="Arial"/>
              </a:defRPr>
            </a:pPr>
            <a:r>
              <a:t>Head-to-Head Comparison</a:t>
            </a:r>
          </a:p>
        </p:txBody>
      </p:sp>
      <p:sp>
        <p:nvSpPr>
          <p:cNvPr id="4" name="Rectangle 3"/>
          <p:cNvSpPr/>
          <p:nvPr/>
        </p:nvSpPr>
        <p:spPr>
          <a:xfrm>
            <a:off x="548640" y="1097280"/>
            <a:ext cx="2194560" cy="41148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70432"/>
            <a:ext cx="2011679" cy="274320"/>
          </a:xfrm>
          <a:prstGeom prst="rect">
            <a:avLst/>
          </a:prstGeom>
          <a:noFill/>
        </p:spPr>
        <p:txBody>
          <a:bodyPr wrap="square">
            <a:spAutoFit/>
          </a:bodyPr>
          <a:lstStyle/>
          <a:p>
            <a:pPr>
              <a:defRPr sz="1000" b="1">
                <a:solidFill>
                  <a:srgbClr val="FFFFFF"/>
                </a:solidFill>
                <a:latin typeface="Arial"/>
              </a:defRPr>
            </a:pPr>
            <a:r>
              <a:t>Capability</a:t>
            </a:r>
          </a:p>
        </p:txBody>
      </p:sp>
      <p:sp>
        <p:nvSpPr>
          <p:cNvPr id="6" name="Rectangle 5"/>
          <p:cNvSpPr/>
          <p:nvPr/>
        </p:nvSpPr>
        <p:spPr>
          <a:xfrm>
            <a:off x="2743200" y="1097280"/>
            <a:ext cx="2194560" cy="41148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1170432"/>
            <a:ext cx="2011679" cy="274320"/>
          </a:xfrm>
          <a:prstGeom prst="rect">
            <a:avLst/>
          </a:prstGeom>
          <a:noFill/>
        </p:spPr>
        <p:txBody>
          <a:bodyPr wrap="square">
            <a:spAutoFit/>
          </a:bodyPr>
          <a:lstStyle/>
          <a:p>
            <a:pPr>
              <a:defRPr sz="1000" b="1">
                <a:solidFill>
                  <a:srgbClr val="FFFFFF"/>
                </a:solidFill>
                <a:latin typeface="Arial"/>
              </a:defRPr>
            </a:pPr>
            <a:r>
              <a:t>Salesforce</a:t>
            </a:r>
          </a:p>
        </p:txBody>
      </p:sp>
      <p:sp>
        <p:nvSpPr>
          <p:cNvPr id="8" name="Rectangle 7"/>
          <p:cNvSpPr/>
          <p:nvPr/>
        </p:nvSpPr>
        <p:spPr>
          <a:xfrm>
            <a:off x="4937760" y="1097280"/>
            <a:ext cx="2194560" cy="41148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0" y="1170432"/>
            <a:ext cx="2011679" cy="274320"/>
          </a:xfrm>
          <a:prstGeom prst="rect">
            <a:avLst/>
          </a:prstGeom>
          <a:noFill/>
        </p:spPr>
        <p:txBody>
          <a:bodyPr wrap="square">
            <a:spAutoFit/>
          </a:bodyPr>
          <a:lstStyle/>
          <a:p>
            <a:pPr>
              <a:defRPr sz="1000" b="1">
                <a:solidFill>
                  <a:srgbClr val="FFFFFF"/>
                </a:solidFill>
                <a:latin typeface="Arial"/>
              </a:defRPr>
            </a:pPr>
            <a:r>
              <a:t>HubSpot</a:t>
            </a:r>
          </a:p>
        </p:txBody>
      </p:sp>
      <p:sp>
        <p:nvSpPr>
          <p:cNvPr id="10" name="Rectangle 9"/>
          <p:cNvSpPr/>
          <p:nvPr/>
        </p:nvSpPr>
        <p:spPr>
          <a:xfrm>
            <a:off x="7132320" y="1097280"/>
            <a:ext cx="1828800" cy="41148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0" y="1170432"/>
            <a:ext cx="1645920" cy="274320"/>
          </a:xfrm>
          <a:prstGeom prst="rect">
            <a:avLst/>
          </a:prstGeom>
          <a:noFill/>
        </p:spPr>
        <p:txBody>
          <a:bodyPr wrap="square">
            <a:spAutoFit/>
          </a:bodyPr>
          <a:lstStyle/>
          <a:p>
            <a:pPr>
              <a:defRPr sz="1000" b="1">
                <a:solidFill>
                  <a:srgbClr val="FFFFFF"/>
                </a:solidFill>
                <a:latin typeface="Arial"/>
              </a:defRPr>
            </a:pPr>
            <a:r>
              <a:t>Klaviyo</a:t>
            </a:r>
          </a:p>
        </p:txBody>
      </p:sp>
      <p:sp>
        <p:nvSpPr>
          <p:cNvPr id="12" name="Rectangle 11"/>
          <p:cNvSpPr/>
          <p:nvPr/>
        </p:nvSpPr>
        <p:spPr>
          <a:xfrm>
            <a:off x="8961120" y="1097280"/>
            <a:ext cx="2743200" cy="411480"/>
          </a:xfrm>
          <a:prstGeom prst="rect">
            <a:avLst/>
          </a:prstGeom>
          <a:solidFill>
            <a:srgbClr val="418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1170432"/>
            <a:ext cx="2560320" cy="274320"/>
          </a:xfrm>
          <a:prstGeom prst="rect">
            <a:avLst/>
          </a:prstGeom>
          <a:noFill/>
        </p:spPr>
        <p:txBody>
          <a:bodyPr wrap="square">
            <a:spAutoFit/>
          </a:bodyPr>
          <a:lstStyle/>
          <a:p>
            <a:pPr>
              <a:defRPr sz="1000" b="1">
                <a:solidFill>
                  <a:srgbClr val="FFFFFF"/>
                </a:solidFill>
                <a:latin typeface="Arial"/>
              </a:defRPr>
            </a:pPr>
            <a:r>
              <a:t>CRM Sync</a:t>
            </a:r>
          </a:p>
        </p:txBody>
      </p:sp>
      <p:sp>
        <p:nvSpPr>
          <p:cNvPr id="14" name="Rectangle 13"/>
          <p:cNvSpPr/>
          <p:nvPr/>
        </p:nvSpPr>
        <p:spPr>
          <a:xfrm>
            <a:off x="548640" y="1508760"/>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554480"/>
            <a:ext cx="2011679" cy="384048"/>
          </a:xfrm>
          <a:prstGeom prst="rect">
            <a:avLst/>
          </a:prstGeom>
          <a:noFill/>
        </p:spPr>
        <p:txBody>
          <a:bodyPr wrap="square">
            <a:spAutoFit/>
          </a:bodyPr>
          <a:lstStyle/>
          <a:p>
            <a:pPr>
              <a:defRPr sz="1000">
                <a:solidFill>
                  <a:srgbClr val="333333"/>
                </a:solidFill>
                <a:latin typeface="Arial"/>
              </a:defRPr>
            </a:pPr>
            <a:r>
              <a:t>Consent enforcement</a:t>
            </a:r>
          </a:p>
        </p:txBody>
      </p:sp>
      <p:sp>
        <p:nvSpPr>
          <p:cNvPr id="16" name="Rectangle 15"/>
          <p:cNvSpPr/>
          <p:nvPr/>
        </p:nvSpPr>
        <p:spPr>
          <a:xfrm>
            <a:off x="2743200" y="1508760"/>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1554480"/>
            <a:ext cx="2011679" cy="384048"/>
          </a:xfrm>
          <a:prstGeom prst="rect">
            <a:avLst/>
          </a:prstGeom>
          <a:noFill/>
        </p:spPr>
        <p:txBody>
          <a:bodyPr wrap="square">
            <a:spAutoFit/>
          </a:bodyPr>
          <a:lstStyle/>
          <a:p>
            <a:pPr>
              <a:defRPr sz="1000">
                <a:solidFill>
                  <a:srgbClr val="333333"/>
                </a:solidFill>
                <a:latin typeface="Arial"/>
              </a:defRPr>
            </a:pPr>
            <a:r>
              <a:t>Checkbox field</a:t>
            </a:r>
          </a:p>
        </p:txBody>
      </p:sp>
      <p:sp>
        <p:nvSpPr>
          <p:cNvPr id="18" name="Rectangle 17"/>
          <p:cNvSpPr/>
          <p:nvPr/>
        </p:nvSpPr>
        <p:spPr>
          <a:xfrm>
            <a:off x="4937760" y="1508760"/>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1554480"/>
            <a:ext cx="2011679" cy="384048"/>
          </a:xfrm>
          <a:prstGeom prst="rect">
            <a:avLst/>
          </a:prstGeom>
          <a:noFill/>
        </p:spPr>
        <p:txBody>
          <a:bodyPr wrap="square">
            <a:spAutoFit/>
          </a:bodyPr>
          <a:lstStyle/>
          <a:p>
            <a:pPr>
              <a:defRPr sz="1000">
                <a:solidFill>
                  <a:srgbClr val="333333"/>
                </a:solidFill>
                <a:latin typeface="Arial"/>
              </a:defRPr>
            </a:pPr>
            <a:r>
              <a:t>Banner + field</a:t>
            </a:r>
          </a:p>
        </p:txBody>
      </p:sp>
      <p:sp>
        <p:nvSpPr>
          <p:cNvPr id="20" name="Rectangle 19"/>
          <p:cNvSpPr/>
          <p:nvPr/>
        </p:nvSpPr>
        <p:spPr>
          <a:xfrm>
            <a:off x="7132320" y="1508760"/>
            <a:ext cx="18288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1554480"/>
            <a:ext cx="1645920" cy="384048"/>
          </a:xfrm>
          <a:prstGeom prst="rect">
            <a:avLst/>
          </a:prstGeom>
          <a:noFill/>
        </p:spPr>
        <p:txBody>
          <a:bodyPr wrap="square">
            <a:spAutoFit/>
          </a:bodyPr>
          <a:lstStyle/>
          <a:p>
            <a:pPr>
              <a:defRPr sz="1000">
                <a:solidFill>
                  <a:srgbClr val="333333"/>
                </a:solidFill>
                <a:latin typeface="Arial"/>
              </a:defRPr>
            </a:pPr>
            <a:r>
              <a:t>Opt-in list</a:t>
            </a:r>
          </a:p>
        </p:txBody>
      </p:sp>
      <p:sp>
        <p:nvSpPr>
          <p:cNvPr id="22" name="Rectangle 21"/>
          <p:cNvSpPr/>
          <p:nvPr/>
        </p:nvSpPr>
        <p:spPr>
          <a:xfrm>
            <a:off x="8961120" y="1508760"/>
            <a:ext cx="27432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1554480"/>
            <a:ext cx="2560320" cy="384048"/>
          </a:xfrm>
          <a:prstGeom prst="rect">
            <a:avLst/>
          </a:prstGeom>
          <a:noFill/>
        </p:spPr>
        <p:txBody>
          <a:bodyPr wrap="square">
            <a:spAutoFit/>
          </a:bodyPr>
          <a:lstStyle/>
          <a:p>
            <a:pPr>
              <a:defRPr sz="1000">
                <a:solidFill>
                  <a:srgbClr val="333333"/>
                </a:solidFill>
                <a:latin typeface="Arial"/>
              </a:defRPr>
            </a:pPr>
            <a:r>
              <a:t>Infrastructure gate + audit trail</a:t>
            </a:r>
          </a:p>
        </p:txBody>
      </p:sp>
      <p:sp>
        <p:nvSpPr>
          <p:cNvPr id="24" name="Rectangle 23"/>
          <p:cNvSpPr/>
          <p:nvPr/>
        </p:nvSpPr>
        <p:spPr>
          <a:xfrm>
            <a:off x="548640" y="1984248"/>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2029967"/>
            <a:ext cx="2011679" cy="384048"/>
          </a:xfrm>
          <a:prstGeom prst="rect">
            <a:avLst/>
          </a:prstGeom>
          <a:noFill/>
        </p:spPr>
        <p:txBody>
          <a:bodyPr wrap="square">
            <a:spAutoFit/>
          </a:bodyPr>
          <a:lstStyle/>
          <a:p>
            <a:pPr>
              <a:defRPr sz="1000">
                <a:solidFill>
                  <a:srgbClr val="333333"/>
                </a:solidFill>
                <a:latin typeface="Arial"/>
              </a:defRPr>
            </a:pPr>
            <a:r>
              <a:t>Sync latency</a:t>
            </a:r>
          </a:p>
        </p:txBody>
      </p:sp>
      <p:sp>
        <p:nvSpPr>
          <p:cNvPr id="26" name="Rectangle 25"/>
          <p:cNvSpPr/>
          <p:nvPr/>
        </p:nvSpPr>
        <p:spPr>
          <a:xfrm>
            <a:off x="2743200" y="1984248"/>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34640" y="2029967"/>
            <a:ext cx="2011679" cy="384048"/>
          </a:xfrm>
          <a:prstGeom prst="rect">
            <a:avLst/>
          </a:prstGeom>
          <a:noFill/>
        </p:spPr>
        <p:txBody>
          <a:bodyPr wrap="square">
            <a:spAutoFit/>
          </a:bodyPr>
          <a:lstStyle/>
          <a:p>
            <a:pPr>
              <a:defRPr sz="1000">
                <a:solidFill>
                  <a:srgbClr val="333333"/>
                </a:solidFill>
                <a:latin typeface="Arial"/>
              </a:defRPr>
            </a:pPr>
            <a:r>
              <a:t>Batch / workflow</a:t>
            </a:r>
          </a:p>
        </p:txBody>
      </p:sp>
      <p:sp>
        <p:nvSpPr>
          <p:cNvPr id="28" name="Rectangle 27"/>
          <p:cNvSpPr/>
          <p:nvPr/>
        </p:nvSpPr>
        <p:spPr>
          <a:xfrm>
            <a:off x="4937760" y="1984248"/>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0" y="2029967"/>
            <a:ext cx="2011679" cy="384048"/>
          </a:xfrm>
          <a:prstGeom prst="rect">
            <a:avLst/>
          </a:prstGeom>
          <a:noFill/>
        </p:spPr>
        <p:txBody>
          <a:bodyPr wrap="square">
            <a:spAutoFit/>
          </a:bodyPr>
          <a:lstStyle/>
          <a:p>
            <a:pPr>
              <a:defRPr sz="1000">
                <a:solidFill>
                  <a:srgbClr val="333333"/>
                </a:solidFill>
                <a:latin typeface="Arial"/>
              </a:defRPr>
            </a:pPr>
            <a:r>
              <a:t>Sequential workflow</a:t>
            </a:r>
          </a:p>
        </p:txBody>
      </p:sp>
      <p:sp>
        <p:nvSpPr>
          <p:cNvPr id="30" name="Rectangle 29"/>
          <p:cNvSpPr/>
          <p:nvPr/>
        </p:nvSpPr>
        <p:spPr>
          <a:xfrm>
            <a:off x="7132320" y="1984248"/>
            <a:ext cx="18288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0" y="2029967"/>
            <a:ext cx="1645920" cy="384048"/>
          </a:xfrm>
          <a:prstGeom prst="rect">
            <a:avLst/>
          </a:prstGeom>
          <a:noFill/>
        </p:spPr>
        <p:txBody>
          <a:bodyPr wrap="square">
            <a:spAutoFit/>
          </a:bodyPr>
          <a:lstStyle/>
          <a:p>
            <a:pPr>
              <a:defRPr sz="1000">
                <a:solidFill>
                  <a:srgbClr val="333333"/>
                </a:solidFill>
                <a:latin typeface="Arial"/>
              </a:defRPr>
            </a:pPr>
            <a:r>
              <a:t>Hourly / daily</a:t>
            </a:r>
          </a:p>
        </p:txBody>
      </p:sp>
      <p:sp>
        <p:nvSpPr>
          <p:cNvPr id="32" name="Rectangle 31"/>
          <p:cNvSpPr/>
          <p:nvPr/>
        </p:nvSpPr>
        <p:spPr>
          <a:xfrm>
            <a:off x="8961120" y="1984248"/>
            <a:ext cx="27432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0" y="2029967"/>
            <a:ext cx="2560320" cy="384048"/>
          </a:xfrm>
          <a:prstGeom prst="rect">
            <a:avLst/>
          </a:prstGeom>
          <a:noFill/>
        </p:spPr>
        <p:txBody>
          <a:bodyPr wrap="square">
            <a:spAutoFit/>
          </a:bodyPr>
          <a:lstStyle/>
          <a:p>
            <a:pPr>
              <a:defRPr sz="1000">
                <a:solidFill>
                  <a:srgbClr val="333333"/>
                </a:solidFill>
                <a:latin typeface="Arial"/>
              </a:defRPr>
            </a:pPr>
            <a:r>
              <a:t>Real-time (same request)</a:t>
            </a:r>
          </a:p>
        </p:txBody>
      </p:sp>
      <p:sp>
        <p:nvSpPr>
          <p:cNvPr id="34" name="Rectangle 33"/>
          <p:cNvSpPr/>
          <p:nvPr/>
        </p:nvSpPr>
        <p:spPr>
          <a:xfrm>
            <a:off x="548640" y="2459736"/>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2505456"/>
            <a:ext cx="2011679" cy="384048"/>
          </a:xfrm>
          <a:prstGeom prst="rect">
            <a:avLst/>
          </a:prstGeom>
          <a:noFill/>
        </p:spPr>
        <p:txBody>
          <a:bodyPr wrap="square">
            <a:spAutoFit/>
          </a:bodyPr>
          <a:lstStyle/>
          <a:p>
            <a:pPr>
              <a:defRPr sz="1000">
                <a:solidFill>
                  <a:srgbClr val="333333"/>
                </a:solidFill>
                <a:latin typeface="Arial"/>
              </a:defRPr>
            </a:pPr>
            <a:r>
              <a:t>Identity ownership</a:t>
            </a:r>
          </a:p>
        </p:txBody>
      </p:sp>
      <p:sp>
        <p:nvSpPr>
          <p:cNvPr id="36" name="Rectangle 35"/>
          <p:cNvSpPr/>
          <p:nvPr/>
        </p:nvSpPr>
        <p:spPr>
          <a:xfrm>
            <a:off x="2743200" y="2459736"/>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0" y="2505456"/>
            <a:ext cx="2011679" cy="384048"/>
          </a:xfrm>
          <a:prstGeom prst="rect">
            <a:avLst/>
          </a:prstGeom>
          <a:noFill/>
        </p:spPr>
        <p:txBody>
          <a:bodyPr wrap="square">
            <a:spAutoFit/>
          </a:bodyPr>
          <a:lstStyle/>
          <a:p>
            <a:pPr>
              <a:defRPr sz="1000">
                <a:solidFill>
                  <a:srgbClr val="333333"/>
                </a:solidFill>
                <a:latin typeface="Arial"/>
              </a:defRPr>
            </a:pPr>
            <a:r>
              <a:t>Vendor-locked</a:t>
            </a:r>
          </a:p>
        </p:txBody>
      </p:sp>
      <p:sp>
        <p:nvSpPr>
          <p:cNvPr id="38" name="Rectangle 37"/>
          <p:cNvSpPr/>
          <p:nvPr/>
        </p:nvSpPr>
        <p:spPr>
          <a:xfrm>
            <a:off x="4937760" y="2459736"/>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0" y="2505456"/>
            <a:ext cx="2011679" cy="384048"/>
          </a:xfrm>
          <a:prstGeom prst="rect">
            <a:avLst/>
          </a:prstGeom>
          <a:noFill/>
        </p:spPr>
        <p:txBody>
          <a:bodyPr wrap="square">
            <a:spAutoFit/>
          </a:bodyPr>
          <a:lstStyle/>
          <a:p>
            <a:pPr>
              <a:defRPr sz="1000">
                <a:solidFill>
                  <a:srgbClr val="333333"/>
                </a:solidFill>
                <a:latin typeface="Arial"/>
              </a:defRPr>
            </a:pPr>
            <a:r>
              <a:t>Vendor-locked</a:t>
            </a:r>
          </a:p>
        </p:txBody>
      </p:sp>
      <p:sp>
        <p:nvSpPr>
          <p:cNvPr id="40" name="Rectangle 39"/>
          <p:cNvSpPr/>
          <p:nvPr/>
        </p:nvSpPr>
        <p:spPr>
          <a:xfrm>
            <a:off x="7132320" y="2459736"/>
            <a:ext cx="18288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23760" y="2505456"/>
            <a:ext cx="1645920" cy="384048"/>
          </a:xfrm>
          <a:prstGeom prst="rect">
            <a:avLst/>
          </a:prstGeom>
          <a:noFill/>
        </p:spPr>
        <p:txBody>
          <a:bodyPr wrap="square">
            <a:spAutoFit/>
          </a:bodyPr>
          <a:lstStyle/>
          <a:p>
            <a:pPr>
              <a:defRPr sz="1000">
                <a:solidFill>
                  <a:srgbClr val="333333"/>
                </a:solidFill>
                <a:latin typeface="Arial"/>
              </a:defRPr>
            </a:pPr>
            <a:r>
              <a:t>Vendor-locked</a:t>
            </a:r>
          </a:p>
        </p:txBody>
      </p:sp>
      <p:sp>
        <p:nvSpPr>
          <p:cNvPr id="42" name="Rectangle 41"/>
          <p:cNvSpPr/>
          <p:nvPr/>
        </p:nvSpPr>
        <p:spPr>
          <a:xfrm>
            <a:off x="8961120" y="2459736"/>
            <a:ext cx="27432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560" y="2505456"/>
            <a:ext cx="2560320" cy="384048"/>
          </a:xfrm>
          <a:prstGeom prst="rect">
            <a:avLst/>
          </a:prstGeom>
          <a:noFill/>
        </p:spPr>
        <p:txBody>
          <a:bodyPr wrap="square">
            <a:spAutoFit/>
          </a:bodyPr>
          <a:lstStyle/>
          <a:p>
            <a:pPr>
              <a:defRPr sz="1000">
                <a:solidFill>
                  <a:srgbClr val="333333"/>
                </a:solidFill>
                <a:latin typeface="Arial"/>
              </a:defRPr>
            </a:pPr>
            <a:r>
              <a:t>Your database (Xano)</a:t>
            </a:r>
          </a:p>
        </p:txBody>
      </p:sp>
      <p:sp>
        <p:nvSpPr>
          <p:cNvPr id="44" name="Rectangle 43"/>
          <p:cNvSpPr/>
          <p:nvPr/>
        </p:nvSpPr>
        <p:spPr>
          <a:xfrm>
            <a:off x="548640" y="2935224"/>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2980944"/>
            <a:ext cx="2011679" cy="384048"/>
          </a:xfrm>
          <a:prstGeom prst="rect">
            <a:avLst/>
          </a:prstGeom>
          <a:noFill/>
        </p:spPr>
        <p:txBody>
          <a:bodyPr wrap="square">
            <a:spAutoFit/>
          </a:bodyPr>
          <a:lstStyle/>
          <a:p>
            <a:pPr>
              <a:defRPr sz="1000">
                <a:solidFill>
                  <a:srgbClr val="333333"/>
                </a:solidFill>
                <a:latin typeface="Arial"/>
              </a:defRPr>
            </a:pPr>
            <a:r>
              <a:t>Infrastructure</a:t>
            </a:r>
          </a:p>
        </p:txBody>
      </p:sp>
      <p:sp>
        <p:nvSpPr>
          <p:cNvPr id="46" name="Rectangle 45"/>
          <p:cNvSpPr/>
          <p:nvPr/>
        </p:nvSpPr>
        <p:spPr>
          <a:xfrm>
            <a:off x="2743200" y="2935224"/>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34640" y="2980944"/>
            <a:ext cx="2011679" cy="384048"/>
          </a:xfrm>
          <a:prstGeom prst="rect">
            <a:avLst/>
          </a:prstGeom>
          <a:noFill/>
        </p:spPr>
        <p:txBody>
          <a:bodyPr wrap="square">
            <a:spAutoFit/>
          </a:bodyPr>
          <a:lstStyle/>
          <a:p>
            <a:pPr>
              <a:defRPr sz="1000">
                <a:solidFill>
                  <a:srgbClr val="333333"/>
                </a:solidFill>
                <a:latin typeface="Arial"/>
              </a:defRPr>
            </a:pPr>
            <a:r>
              <a:t>Centralized cloud</a:t>
            </a:r>
          </a:p>
        </p:txBody>
      </p:sp>
      <p:sp>
        <p:nvSpPr>
          <p:cNvPr id="48" name="Rectangle 47"/>
          <p:cNvSpPr/>
          <p:nvPr/>
        </p:nvSpPr>
        <p:spPr>
          <a:xfrm>
            <a:off x="4937760" y="2935224"/>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0" y="2980944"/>
            <a:ext cx="2011679" cy="384048"/>
          </a:xfrm>
          <a:prstGeom prst="rect">
            <a:avLst/>
          </a:prstGeom>
          <a:noFill/>
        </p:spPr>
        <p:txBody>
          <a:bodyPr wrap="square">
            <a:spAutoFit/>
          </a:bodyPr>
          <a:lstStyle/>
          <a:p>
            <a:pPr>
              <a:defRPr sz="1000">
                <a:solidFill>
                  <a:srgbClr val="333333"/>
                </a:solidFill>
                <a:latin typeface="Arial"/>
              </a:defRPr>
            </a:pPr>
            <a:r>
              <a:t>Centralized cloud</a:t>
            </a:r>
          </a:p>
        </p:txBody>
      </p:sp>
      <p:sp>
        <p:nvSpPr>
          <p:cNvPr id="50" name="Rectangle 49"/>
          <p:cNvSpPr/>
          <p:nvPr/>
        </p:nvSpPr>
        <p:spPr>
          <a:xfrm>
            <a:off x="7132320" y="2935224"/>
            <a:ext cx="18288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23760" y="2980944"/>
            <a:ext cx="1645920" cy="384048"/>
          </a:xfrm>
          <a:prstGeom prst="rect">
            <a:avLst/>
          </a:prstGeom>
          <a:noFill/>
        </p:spPr>
        <p:txBody>
          <a:bodyPr wrap="square">
            <a:spAutoFit/>
          </a:bodyPr>
          <a:lstStyle/>
          <a:p>
            <a:pPr>
              <a:defRPr sz="1000">
                <a:solidFill>
                  <a:srgbClr val="333333"/>
                </a:solidFill>
                <a:latin typeface="Arial"/>
              </a:defRPr>
            </a:pPr>
            <a:r>
              <a:t>Centralized cloud</a:t>
            </a:r>
          </a:p>
        </p:txBody>
      </p:sp>
      <p:sp>
        <p:nvSpPr>
          <p:cNvPr id="52" name="Rectangle 51"/>
          <p:cNvSpPr/>
          <p:nvPr/>
        </p:nvSpPr>
        <p:spPr>
          <a:xfrm>
            <a:off x="8961120" y="2935224"/>
            <a:ext cx="27432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52560" y="2980944"/>
            <a:ext cx="2560320" cy="384048"/>
          </a:xfrm>
          <a:prstGeom prst="rect">
            <a:avLst/>
          </a:prstGeom>
          <a:noFill/>
        </p:spPr>
        <p:txBody>
          <a:bodyPr wrap="square">
            <a:spAutoFit/>
          </a:bodyPr>
          <a:lstStyle/>
          <a:p>
            <a:pPr>
              <a:defRPr sz="1000">
                <a:solidFill>
                  <a:srgbClr val="333333"/>
                </a:solidFill>
                <a:latin typeface="Arial"/>
              </a:defRPr>
            </a:pPr>
            <a:r>
              <a:t>Edge network (300+ cities)</a:t>
            </a:r>
          </a:p>
        </p:txBody>
      </p:sp>
      <p:sp>
        <p:nvSpPr>
          <p:cNvPr id="54" name="Rectangle 53"/>
          <p:cNvSpPr/>
          <p:nvPr/>
        </p:nvSpPr>
        <p:spPr>
          <a:xfrm>
            <a:off x="548640" y="3410712"/>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 y="3456432"/>
            <a:ext cx="2011679" cy="384048"/>
          </a:xfrm>
          <a:prstGeom prst="rect">
            <a:avLst/>
          </a:prstGeom>
          <a:noFill/>
        </p:spPr>
        <p:txBody>
          <a:bodyPr wrap="square">
            <a:spAutoFit/>
          </a:bodyPr>
          <a:lstStyle/>
          <a:p>
            <a:pPr>
              <a:defRPr sz="1000">
                <a:solidFill>
                  <a:srgbClr val="333333"/>
                </a:solidFill>
                <a:latin typeface="Arial"/>
              </a:defRPr>
            </a:pPr>
            <a:r>
              <a:t>Multi-tenant isolation</a:t>
            </a:r>
          </a:p>
        </p:txBody>
      </p:sp>
      <p:sp>
        <p:nvSpPr>
          <p:cNvPr id="56" name="Rectangle 55"/>
          <p:cNvSpPr/>
          <p:nvPr/>
        </p:nvSpPr>
        <p:spPr>
          <a:xfrm>
            <a:off x="2743200" y="3410712"/>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34640" y="3456432"/>
            <a:ext cx="2011679" cy="384048"/>
          </a:xfrm>
          <a:prstGeom prst="rect">
            <a:avLst/>
          </a:prstGeom>
          <a:noFill/>
        </p:spPr>
        <p:txBody>
          <a:bodyPr wrap="square">
            <a:spAutoFit/>
          </a:bodyPr>
          <a:lstStyle/>
          <a:p>
            <a:pPr>
              <a:defRPr sz="1000">
                <a:solidFill>
                  <a:srgbClr val="333333"/>
                </a:solidFill>
                <a:latin typeface="Arial"/>
              </a:defRPr>
            </a:pPr>
            <a:r>
              <a:t>Enterprise add-on</a:t>
            </a:r>
          </a:p>
        </p:txBody>
      </p:sp>
      <p:sp>
        <p:nvSpPr>
          <p:cNvPr id="58" name="Rectangle 57"/>
          <p:cNvSpPr/>
          <p:nvPr/>
        </p:nvSpPr>
        <p:spPr>
          <a:xfrm>
            <a:off x="4937760" y="3410712"/>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29200" y="3456432"/>
            <a:ext cx="2011679" cy="384048"/>
          </a:xfrm>
          <a:prstGeom prst="rect">
            <a:avLst/>
          </a:prstGeom>
          <a:noFill/>
        </p:spPr>
        <p:txBody>
          <a:bodyPr wrap="square">
            <a:spAutoFit/>
          </a:bodyPr>
          <a:lstStyle/>
          <a:p>
            <a:pPr>
              <a:defRPr sz="1000">
                <a:solidFill>
                  <a:srgbClr val="333333"/>
                </a:solidFill>
                <a:latin typeface="Arial"/>
              </a:defRPr>
            </a:pPr>
            <a:r>
              <a:t>Premium add-on</a:t>
            </a:r>
          </a:p>
        </p:txBody>
      </p:sp>
      <p:sp>
        <p:nvSpPr>
          <p:cNvPr id="60" name="Rectangle 59"/>
          <p:cNvSpPr/>
          <p:nvPr/>
        </p:nvSpPr>
        <p:spPr>
          <a:xfrm>
            <a:off x="7132320" y="3410712"/>
            <a:ext cx="18288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23760" y="3456432"/>
            <a:ext cx="1645920" cy="384048"/>
          </a:xfrm>
          <a:prstGeom prst="rect">
            <a:avLst/>
          </a:prstGeom>
          <a:noFill/>
        </p:spPr>
        <p:txBody>
          <a:bodyPr wrap="square">
            <a:spAutoFit/>
          </a:bodyPr>
          <a:lstStyle/>
          <a:p>
            <a:pPr>
              <a:defRPr sz="1000">
                <a:solidFill>
                  <a:srgbClr val="333333"/>
                </a:solidFill>
                <a:latin typeface="Arial"/>
              </a:defRPr>
            </a:pPr>
            <a:r>
              <a:t>Not available</a:t>
            </a:r>
          </a:p>
        </p:txBody>
      </p:sp>
      <p:sp>
        <p:nvSpPr>
          <p:cNvPr id="62" name="Rectangle 61"/>
          <p:cNvSpPr/>
          <p:nvPr/>
        </p:nvSpPr>
        <p:spPr>
          <a:xfrm>
            <a:off x="8961120" y="3410712"/>
            <a:ext cx="27432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0" y="3456432"/>
            <a:ext cx="2560320" cy="384048"/>
          </a:xfrm>
          <a:prstGeom prst="rect">
            <a:avLst/>
          </a:prstGeom>
          <a:noFill/>
        </p:spPr>
        <p:txBody>
          <a:bodyPr wrap="square">
            <a:spAutoFit/>
          </a:bodyPr>
          <a:lstStyle/>
          <a:p>
            <a:pPr>
              <a:defRPr sz="1000">
                <a:solidFill>
                  <a:srgbClr val="333333"/>
                </a:solidFill>
                <a:latin typeface="Arial"/>
              </a:defRPr>
            </a:pPr>
            <a:r>
              <a:t>Included on base plan</a:t>
            </a:r>
          </a:p>
        </p:txBody>
      </p:sp>
      <p:sp>
        <p:nvSpPr>
          <p:cNvPr id="64" name="Rectangle 63"/>
          <p:cNvSpPr/>
          <p:nvPr/>
        </p:nvSpPr>
        <p:spPr>
          <a:xfrm>
            <a:off x="548640" y="3886200"/>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 y="3931920"/>
            <a:ext cx="2011679" cy="384048"/>
          </a:xfrm>
          <a:prstGeom prst="rect">
            <a:avLst/>
          </a:prstGeom>
          <a:noFill/>
        </p:spPr>
        <p:txBody>
          <a:bodyPr wrap="square">
            <a:spAutoFit/>
          </a:bodyPr>
          <a:lstStyle/>
          <a:p>
            <a:pPr>
              <a:defRPr sz="1000">
                <a:solidFill>
                  <a:srgbClr val="333333"/>
                </a:solidFill>
                <a:latin typeface="Arial"/>
              </a:defRPr>
            </a:pPr>
            <a:r>
              <a:t>AI agent security</a:t>
            </a:r>
          </a:p>
        </p:txBody>
      </p:sp>
      <p:sp>
        <p:nvSpPr>
          <p:cNvPr id="66" name="Rectangle 65"/>
          <p:cNvSpPr/>
          <p:nvPr/>
        </p:nvSpPr>
        <p:spPr>
          <a:xfrm>
            <a:off x="2743200" y="3886200"/>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34640" y="3931920"/>
            <a:ext cx="2011679" cy="384048"/>
          </a:xfrm>
          <a:prstGeom prst="rect">
            <a:avLst/>
          </a:prstGeom>
          <a:noFill/>
        </p:spPr>
        <p:txBody>
          <a:bodyPr wrap="square">
            <a:spAutoFit/>
          </a:bodyPr>
          <a:lstStyle/>
          <a:p>
            <a:pPr>
              <a:defRPr sz="1000">
                <a:solidFill>
                  <a:srgbClr val="333333"/>
                </a:solidFill>
                <a:latin typeface="Arial"/>
              </a:defRPr>
            </a:pPr>
            <a:r>
              <a:t>Broad API scope</a:t>
            </a:r>
          </a:p>
        </p:txBody>
      </p:sp>
      <p:sp>
        <p:nvSpPr>
          <p:cNvPr id="68" name="Rectangle 67"/>
          <p:cNvSpPr/>
          <p:nvPr/>
        </p:nvSpPr>
        <p:spPr>
          <a:xfrm>
            <a:off x="4937760" y="3886200"/>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029200" y="3931920"/>
            <a:ext cx="2011679" cy="384048"/>
          </a:xfrm>
          <a:prstGeom prst="rect">
            <a:avLst/>
          </a:prstGeom>
          <a:noFill/>
        </p:spPr>
        <p:txBody>
          <a:bodyPr wrap="square">
            <a:spAutoFit/>
          </a:bodyPr>
          <a:lstStyle/>
          <a:p>
            <a:pPr>
              <a:defRPr sz="1000">
                <a:solidFill>
                  <a:srgbClr val="333333"/>
                </a:solidFill>
                <a:latin typeface="Arial"/>
              </a:defRPr>
            </a:pPr>
            <a:r>
              <a:t>Broad API scope</a:t>
            </a:r>
          </a:p>
        </p:txBody>
      </p:sp>
      <p:sp>
        <p:nvSpPr>
          <p:cNvPr id="70" name="Rectangle 69"/>
          <p:cNvSpPr/>
          <p:nvPr/>
        </p:nvSpPr>
        <p:spPr>
          <a:xfrm>
            <a:off x="7132320" y="3886200"/>
            <a:ext cx="18288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23760" y="3931920"/>
            <a:ext cx="1645920" cy="384048"/>
          </a:xfrm>
          <a:prstGeom prst="rect">
            <a:avLst/>
          </a:prstGeom>
          <a:noFill/>
        </p:spPr>
        <p:txBody>
          <a:bodyPr wrap="square">
            <a:spAutoFit/>
          </a:bodyPr>
          <a:lstStyle/>
          <a:p>
            <a:pPr>
              <a:defRPr sz="1000">
                <a:solidFill>
                  <a:srgbClr val="333333"/>
                </a:solidFill>
                <a:latin typeface="Arial"/>
              </a:defRPr>
            </a:pPr>
            <a:r>
              <a:t>Broad API scope</a:t>
            </a:r>
          </a:p>
        </p:txBody>
      </p:sp>
      <p:sp>
        <p:nvSpPr>
          <p:cNvPr id="72" name="Rectangle 71"/>
          <p:cNvSpPr/>
          <p:nvPr/>
        </p:nvSpPr>
        <p:spPr>
          <a:xfrm>
            <a:off x="8961120" y="3886200"/>
            <a:ext cx="27432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052560" y="3931920"/>
            <a:ext cx="2560320" cy="384048"/>
          </a:xfrm>
          <a:prstGeom prst="rect">
            <a:avLst/>
          </a:prstGeom>
          <a:noFill/>
        </p:spPr>
        <p:txBody>
          <a:bodyPr wrap="square">
            <a:spAutoFit/>
          </a:bodyPr>
          <a:lstStyle/>
          <a:p>
            <a:pPr>
              <a:defRPr sz="1000">
                <a:solidFill>
                  <a:srgbClr val="333333"/>
                </a:solidFill>
                <a:latin typeface="Arial"/>
              </a:defRPr>
            </a:pPr>
            <a:r>
              <a:t>Scoped credentials + audit</a:t>
            </a:r>
          </a:p>
        </p:txBody>
      </p:sp>
      <p:sp>
        <p:nvSpPr>
          <p:cNvPr id="74" name="Rectangle 73"/>
          <p:cNvSpPr/>
          <p:nvPr/>
        </p:nvSpPr>
        <p:spPr>
          <a:xfrm>
            <a:off x="548640" y="4361688"/>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0080" y="4407407"/>
            <a:ext cx="2011679" cy="384048"/>
          </a:xfrm>
          <a:prstGeom prst="rect">
            <a:avLst/>
          </a:prstGeom>
          <a:noFill/>
        </p:spPr>
        <p:txBody>
          <a:bodyPr wrap="square">
            <a:spAutoFit/>
          </a:bodyPr>
          <a:lstStyle/>
          <a:p>
            <a:pPr>
              <a:defRPr sz="1000">
                <a:solidFill>
                  <a:srgbClr val="333333"/>
                </a:solidFill>
                <a:latin typeface="Arial"/>
              </a:defRPr>
            </a:pPr>
            <a:r>
              <a:t>Architecture</a:t>
            </a:r>
          </a:p>
        </p:txBody>
      </p:sp>
      <p:sp>
        <p:nvSpPr>
          <p:cNvPr id="76" name="Rectangle 75"/>
          <p:cNvSpPr/>
          <p:nvPr/>
        </p:nvSpPr>
        <p:spPr>
          <a:xfrm>
            <a:off x="2743200" y="4361688"/>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34640" y="4407407"/>
            <a:ext cx="2011679" cy="384048"/>
          </a:xfrm>
          <a:prstGeom prst="rect">
            <a:avLst/>
          </a:prstGeom>
          <a:noFill/>
        </p:spPr>
        <p:txBody>
          <a:bodyPr wrap="square">
            <a:spAutoFit/>
          </a:bodyPr>
          <a:lstStyle/>
          <a:p>
            <a:pPr>
              <a:defRPr sz="1000">
                <a:solidFill>
                  <a:srgbClr val="333333"/>
                </a:solidFill>
                <a:latin typeface="Arial"/>
              </a:defRPr>
            </a:pPr>
            <a:r>
              <a:t>Monolithic platform</a:t>
            </a:r>
          </a:p>
        </p:txBody>
      </p:sp>
      <p:sp>
        <p:nvSpPr>
          <p:cNvPr id="78" name="Rectangle 77"/>
          <p:cNvSpPr/>
          <p:nvPr/>
        </p:nvSpPr>
        <p:spPr>
          <a:xfrm>
            <a:off x="4937760" y="4361688"/>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29200" y="4407407"/>
            <a:ext cx="2011679" cy="384048"/>
          </a:xfrm>
          <a:prstGeom prst="rect">
            <a:avLst/>
          </a:prstGeom>
          <a:noFill/>
        </p:spPr>
        <p:txBody>
          <a:bodyPr wrap="square">
            <a:spAutoFit/>
          </a:bodyPr>
          <a:lstStyle/>
          <a:p>
            <a:pPr>
              <a:defRPr sz="1000">
                <a:solidFill>
                  <a:srgbClr val="333333"/>
                </a:solidFill>
                <a:latin typeface="Arial"/>
              </a:defRPr>
            </a:pPr>
            <a:r>
              <a:t>Monolithic platform</a:t>
            </a:r>
          </a:p>
        </p:txBody>
      </p:sp>
      <p:sp>
        <p:nvSpPr>
          <p:cNvPr id="80" name="Rectangle 79"/>
          <p:cNvSpPr/>
          <p:nvPr/>
        </p:nvSpPr>
        <p:spPr>
          <a:xfrm>
            <a:off x="7132320" y="4361688"/>
            <a:ext cx="18288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23760" y="4407407"/>
            <a:ext cx="1645920" cy="384048"/>
          </a:xfrm>
          <a:prstGeom prst="rect">
            <a:avLst/>
          </a:prstGeom>
          <a:noFill/>
        </p:spPr>
        <p:txBody>
          <a:bodyPr wrap="square">
            <a:spAutoFit/>
          </a:bodyPr>
          <a:lstStyle/>
          <a:p>
            <a:pPr>
              <a:defRPr sz="1000">
                <a:solidFill>
                  <a:srgbClr val="333333"/>
                </a:solidFill>
                <a:latin typeface="Arial"/>
              </a:defRPr>
            </a:pPr>
            <a:r>
              <a:t>Email-first platform</a:t>
            </a:r>
          </a:p>
        </p:txBody>
      </p:sp>
      <p:sp>
        <p:nvSpPr>
          <p:cNvPr id="82" name="Rectangle 81"/>
          <p:cNvSpPr/>
          <p:nvPr/>
        </p:nvSpPr>
        <p:spPr>
          <a:xfrm>
            <a:off x="8961120" y="4361688"/>
            <a:ext cx="27432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052560" y="4407407"/>
            <a:ext cx="2560320" cy="384048"/>
          </a:xfrm>
          <a:prstGeom prst="rect">
            <a:avLst/>
          </a:prstGeom>
          <a:noFill/>
        </p:spPr>
        <p:txBody>
          <a:bodyPr wrap="square">
            <a:spAutoFit/>
          </a:bodyPr>
          <a:lstStyle/>
          <a:p>
            <a:pPr>
              <a:defRPr sz="1000">
                <a:solidFill>
                  <a:srgbClr val="333333"/>
                </a:solidFill>
                <a:latin typeface="Arial"/>
              </a:defRPr>
            </a:pPr>
            <a:r>
              <a:t>Composable orchestration</a:t>
            </a:r>
          </a:p>
        </p:txBody>
      </p:sp>
      <p:sp>
        <p:nvSpPr>
          <p:cNvPr id="84" name="Rectangle 83"/>
          <p:cNvSpPr/>
          <p:nvPr/>
        </p:nvSpPr>
        <p:spPr>
          <a:xfrm>
            <a:off x="548640" y="4837176"/>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0080" y="4882896"/>
            <a:ext cx="2011679" cy="384048"/>
          </a:xfrm>
          <a:prstGeom prst="rect">
            <a:avLst/>
          </a:prstGeom>
          <a:noFill/>
        </p:spPr>
        <p:txBody>
          <a:bodyPr wrap="square">
            <a:spAutoFit/>
          </a:bodyPr>
          <a:lstStyle/>
          <a:p>
            <a:pPr>
              <a:defRPr sz="1000">
                <a:solidFill>
                  <a:srgbClr val="333333"/>
                </a:solidFill>
                <a:latin typeface="Arial"/>
              </a:defRPr>
            </a:pPr>
            <a:r>
              <a:t>GDPR compliance</a:t>
            </a:r>
          </a:p>
        </p:txBody>
      </p:sp>
      <p:sp>
        <p:nvSpPr>
          <p:cNvPr id="86" name="Rectangle 85"/>
          <p:cNvSpPr/>
          <p:nvPr/>
        </p:nvSpPr>
        <p:spPr>
          <a:xfrm>
            <a:off x="2743200" y="4837176"/>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834640" y="4882896"/>
            <a:ext cx="2011679" cy="384048"/>
          </a:xfrm>
          <a:prstGeom prst="rect">
            <a:avLst/>
          </a:prstGeom>
          <a:noFill/>
        </p:spPr>
        <p:txBody>
          <a:bodyPr wrap="square">
            <a:spAutoFit/>
          </a:bodyPr>
          <a:lstStyle/>
          <a:p>
            <a:pPr>
              <a:defRPr sz="1000">
                <a:solidFill>
                  <a:srgbClr val="333333"/>
                </a:solidFill>
                <a:latin typeface="Arial"/>
              </a:defRPr>
            </a:pPr>
            <a:r>
              <a:t>Privacy Center ($)</a:t>
            </a:r>
          </a:p>
        </p:txBody>
      </p:sp>
      <p:sp>
        <p:nvSpPr>
          <p:cNvPr id="88" name="Rectangle 87"/>
          <p:cNvSpPr/>
          <p:nvPr/>
        </p:nvSpPr>
        <p:spPr>
          <a:xfrm>
            <a:off x="4937760" y="4837176"/>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029200" y="4882896"/>
            <a:ext cx="2011679" cy="384048"/>
          </a:xfrm>
          <a:prstGeom prst="rect">
            <a:avLst/>
          </a:prstGeom>
          <a:noFill/>
        </p:spPr>
        <p:txBody>
          <a:bodyPr wrap="square">
            <a:spAutoFit/>
          </a:bodyPr>
          <a:lstStyle/>
          <a:p>
            <a:pPr>
              <a:defRPr sz="1000">
                <a:solidFill>
                  <a:srgbClr val="333333"/>
                </a:solidFill>
                <a:latin typeface="Arial"/>
              </a:defRPr>
            </a:pPr>
            <a:r>
              <a:t>Basic tools</a:t>
            </a:r>
          </a:p>
        </p:txBody>
      </p:sp>
      <p:sp>
        <p:nvSpPr>
          <p:cNvPr id="90" name="Rectangle 89"/>
          <p:cNvSpPr/>
          <p:nvPr/>
        </p:nvSpPr>
        <p:spPr>
          <a:xfrm>
            <a:off x="7132320" y="4837176"/>
            <a:ext cx="18288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223760" y="4882896"/>
            <a:ext cx="1645920" cy="384048"/>
          </a:xfrm>
          <a:prstGeom prst="rect">
            <a:avLst/>
          </a:prstGeom>
          <a:noFill/>
        </p:spPr>
        <p:txBody>
          <a:bodyPr wrap="square">
            <a:spAutoFit/>
          </a:bodyPr>
          <a:lstStyle/>
          <a:p>
            <a:pPr>
              <a:defRPr sz="1000">
                <a:solidFill>
                  <a:srgbClr val="333333"/>
                </a:solidFill>
                <a:latin typeface="Arial"/>
              </a:defRPr>
            </a:pPr>
            <a:r>
              <a:t>Limited</a:t>
            </a:r>
          </a:p>
        </p:txBody>
      </p:sp>
      <p:sp>
        <p:nvSpPr>
          <p:cNvPr id="92" name="Rectangle 91"/>
          <p:cNvSpPr/>
          <p:nvPr/>
        </p:nvSpPr>
        <p:spPr>
          <a:xfrm>
            <a:off x="8961120" y="4837176"/>
            <a:ext cx="27432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052560" y="4882896"/>
            <a:ext cx="2560320" cy="384048"/>
          </a:xfrm>
          <a:prstGeom prst="rect">
            <a:avLst/>
          </a:prstGeom>
          <a:noFill/>
        </p:spPr>
        <p:txBody>
          <a:bodyPr wrap="square">
            <a:spAutoFit/>
          </a:bodyPr>
          <a:lstStyle/>
          <a:p>
            <a:pPr>
              <a:defRPr sz="1000">
                <a:solidFill>
                  <a:srgbClr val="333333"/>
                </a:solidFill>
                <a:latin typeface="Arial"/>
              </a:defRPr>
            </a:pPr>
            <a:r>
              <a:t>Built into data model</a:t>
            </a:r>
          </a:p>
        </p:txBody>
      </p:sp>
      <p:sp>
        <p:nvSpPr>
          <p:cNvPr id="94" name="Rectangle 93"/>
          <p:cNvSpPr/>
          <p:nvPr/>
        </p:nvSpPr>
        <p:spPr>
          <a:xfrm>
            <a:off x="548640" y="5312664"/>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40080" y="5358384"/>
            <a:ext cx="2011679" cy="384048"/>
          </a:xfrm>
          <a:prstGeom prst="rect">
            <a:avLst/>
          </a:prstGeom>
          <a:noFill/>
        </p:spPr>
        <p:txBody>
          <a:bodyPr wrap="square">
            <a:spAutoFit/>
          </a:bodyPr>
          <a:lstStyle/>
          <a:p>
            <a:pPr>
              <a:defRPr sz="1000">
                <a:solidFill>
                  <a:srgbClr val="333333"/>
                </a:solidFill>
                <a:latin typeface="Arial"/>
              </a:defRPr>
            </a:pPr>
            <a:r>
              <a:t>Analytics tracking</a:t>
            </a:r>
          </a:p>
        </p:txBody>
      </p:sp>
      <p:sp>
        <p:nvSpPr>
          <p:cNvPr id="96" name="Rectangle 95"/>
          <p:cNvSpPr/>
          <p:nvPr/>
        </p:nvSpPr>
        <p:spPr>
          <a:xfrm>
            <a:off x="2743200" y="5312664"/>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34640" y="5358384"/>
            <a:ext cx="2011679" cy="384048"/>
          </a:xfrm>
          <a:prstGeom prst="rect">
            <a:avLst/>
          </a:prstGeom>
          <a:noFill/>
        </p:spPr>
        <p:txBody>
          <a:bodyPr wrap="square">
            <a:spAutoFit/>
          </a:bodyPr>
          <a:lstStyle/>
          <a:p>
            <a:pPr>
              <a:defRPr sz="1000">
                <a:solidFill>
                  <a:srgbClr val="333333"/>
                </a:solidFill>
                <a:latin typeface="Arial"/>
              </a:defRPr>
            </a:pPr>
            <a:r>
              <a:t>Client-side JS</a:t>
            </a:r>
          </a:p>
        </p:txBody>
      </p:sp>
      <p:sp>
        <p:nvSpPr>
          <p:cNvPr id="98" name="Rectangle 97"/>
          <p:cNvSpPr/>
          <p:nvPr/>
        </p:nvSpPr>
        <p:spPr>
          <a:xfrm>
            <a:off x="4937760" y="5312664"/>
            <a:ext cx="219456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029200" y="5358384"/>
            <a:ext cx="2011679" cy="384048"/>
          </a:xfrm>
          <a:prstGeom prst="rect">
            <a:avLst/>
          </a:prstGeom>
          <a:noFill/>
        </p:spPr>
        <p:txBody>
          <a:bodyPr wrap="square">
            <a:spAutoFit/>
          </a:bodyPr>
          <a:lstStyle/>
          <a:p>
            <a:pPr>
              <a:defRPr sz="1000">
                <a:solidFill>
                  <a:srgbClr val="333333"/>
                </a:solidFill>
                <a:latin typeface="Arial"/>
              </a:defRPr>
            </a:pPr>
            <a:r>
              <a:t>Client-side JS</a:t>
            </a:r>
          </a:p>
        </p:txBody>
      </p:sp>
      <p:sp>
        <p:nvSpPr>
          <p:cNvPr id="100" name="Rectangle 99"/>
          <p:cNvSpPr/>
          <p:nvPr/>
        </p:nvSpPr>
        <p:spPr>
          <a:xfrm>
            <a:off x="7132320" y="5312664"/>
            <a:ext cx="18288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223760" y="5358384"/>
            <a:ext cx="1645920" cy="384048"/>
          </a:xfrm>
          <a:prstGeom prst="rect">
            <a:avLst/>
          </a:prstGeom>
          <a:noFill/>
        </p:spPr>
        <p:txBody>
          <a:bodyPr wrap="square">
            <a:spAutoFit/>
          </a:bodyPr>
          <a:lstStyle/>
          <a:p>
            <a:pPr>
              <a:defRPr sz="1000">
                <a:solidFill>
                  <a:srgbClr val="333333"/>
                </a:solidFill>
                <a:latin typeface="Arial"/>
              </a:defRPr>
            </a:pPr>
            <a:r>
              <a:t>Client-side JS</a:t>
            </a:r>
          </a:p>
        </p:txBody>
      </p:sp>
      <p:sp>
        <p:nvSpPr>
          <p:cNvPr id="102" name="Rectangle 101"/>
          <p:cNvSpPr/>
          <p:nvPr/>
        </p:nvSpPr>
        <p:spPr>
          <a:xfrm>
            <a:off x="8961120" y="5312664"/>
            <a:ext cx="2743200" cy="47548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052560" y="5358384"/>
            <a:ext cx="2560320" cy="384048"/>
          </a:xfrm>
          <a:prstGeom prst="rect">
            <a:avLst/>
          </a:prstGeom>
          <a:noFill/>
        </p:spPr>
        <p:txBody>
          <a:bodyPr wrap="square">
            <a:spAutoFit/>
          </a:bodyPr>
          <a:lstStyle/>
          <a:p>
            <a:pPr>
              <a:defRPr sz="1000">
                <a:solidFill>
                  <a:srgbClr val="333333"/>
                </a:solidFill>
                <a:latin typeface="Arial"/>
              </a:defRPr>
            </a:pPr>
            <a:r>
              <a:t>Server-side (ad-block proof)</a:t>
            </a:r>
          </a:p>
        </p:txBody>
      </p:sp>
      <p:sp>
        <p:nvSpPr>
          <p:cNvPr id="104" name="Rectangle 103"/>
          <p:cNvSpPr/>
          <p:nvPr/>
        </p:nvSpPr>
        <p:spPr>
          <a:xfrm>
            <a:off x="548640" y="5788152"/>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40080" y="5833872"/>
            <a:ext cx="2011679" cy="384048"/>
          </a:xfrm>
          <a:prstGeom prst="rect">
            <a:avLst/>
          </a:prstGeom>
          <a:noFill/>
        </p:spPr>
        <p:txBody>
          <a:bodyPr wrap="square">
            <a:spAutoFit/>
          </a:bodyPr>
          <a:lstStyle/>
          <a:p>
            <a:pPr>
              <a:defRPr sz="1000">
                <a:solidFill>
                  <a:srgbClr val="333333"/>
                </a:solidFill>
                <a:latin typeface="Arial"/>
              </a:defRPr>
            </a:pPr>
            <a:r>
              <a:t>Pricing model</a:t>
            </a:r>
          </a:p>
        </p:txBody>
      </p:sp>
      <p:sp>
        <p:nvSpPr>
          <p:cNvPr id="106" name="Rectangle 105"/>
          <p:cNvSpPr/>
          <p:nvPr/>
        </p:nvSpPr>
        <p:spPr>
          <a:xfrm>
            <a:off x="2743200" y="5788152"/>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834640" y="5833872"/>
            <a:ext cx="2011679" cy="384048"/>
          </a:xfrm>
          <a:prstGeom prst="rect">
            <a:avLst/>
          </a:prstGeom>
          <a:noFill/>
        </p:spPr>
        <p:txBody>
          <a:bodyPr wrap="square">
            <a:spAutoFit/>
          </a:bodyPr>
          <a:lstStyle/>
          <a:p>
            <a:pPr>
              <a:defRPr sz="1000">
                <a:solidFill>
                  <a:srgbClr val="333333"/>
                </a:solidFill>
                <a:latin typeface="Arial"/>
              </a:defRPr>
            </a:pPr>
            <a:r>
              <a:t>Per seat + add-ons</a:t>
            </a:r>
          </a:p>
        </p:txBody>
      </p:sp>
      <p:sp>
        <p:nvSpPr>
          <p:cNvPr id="108" name="Rectangle 107"/>
          <p:cNvSpPr/>
          <p:nvPr/>
        </p:nvSpPr>
        <p:spPr>
          <a:xfrm>
            <a:off x="4937760" y="5788152"/>
            <a:ext cx="219456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029200" y="5833872"/>
            <a:ext cx="2011679" cy="384048"/>
          </a:xfrm>
          <a:prstGeom prst="rect">
            <a:avLst/>
          </a:prstGeom>
          <a:noFill/>
        </p:spPr>
        <p:txBody>
          <a:bodyPr wrap="square">
            <a:spAutoFit/>
          </a:bodyPr>
          <a:lstStyle/>
          <a:p>
            <a:pPr>
              <a:defRPr sz="1000">
                <a:solidFill>
                  <a:srgbClr val="333333"/>
                </a:solidFill>
                <a:latin typeface="Arial"/>
              </a:defRPr>
            </a:pPr>
            <a:r>
              <a:t>Per contact tier</a:t>
            </a:r>
          </a:p>
        </p:txBody>
      </p:sp>
      <p:sp>
        <p:nvSpPr>
          <p:cNvPr id="110" name="Rectangle 109"/>
          <p:cNvSpPr/>
          <p:nvPr/>
        </p:nvSpPr>
        <p:spPr>
          <a:xfrm>
            <a:off x="7132320" y="5788152"/>
            <a:ext cx="18288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223760" y="5833872"/>
            <a:ext cx="1645920" cy="384048"/>
          </a:xfrm>
          <a:prstGeom prst="rect">
            <a:avLst/>
          </a:prstGeom>
          <a:noFill/>
        </p:spPr>
        <p:txBody>
          <a:bodyPr wrap="square">
            <a:spAutoFit/>
          </a:bodyPr>
          <a:lstStyle/>
          <a:p>
            <a:pPr>
              <a:defRPr sz="1000">
                <a:solidFill>
                  <a:srgbClr val="333333"/>
                </a:solidFill>
                <a:latin typeface="Arial"/>
              </a:defRPr>
            </a:pPr>
            <a:r>
              <a:t>Per profile</a:t>
            </a:r>
          </a:p>
        </p:txBody>
      </p:sp>
      <p:sp>
        <p:nvSpPr>
          <p:cNvPr id="112" name="Rectangle 111"/>
          <p:cNvSpPr/>
          <p:nvPr/>
        </p:nvSpPr>
        <p:spPr>
          <a:xfrm>
            <a:off x="8961120" y="5788152"/>
            <a:ext cx="2743200" cy="475488"/>
          </a:xfrm>
          <a:prstGeom prst="rect">
            <a:avLst/>
          </a:prstGeom>
          <a:solidFill>
            <a:srgbClr val="E8F0F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052560" y="5833872"/>
            <a:ext cx="2560320" cy="384048"/>
          </a:xfrm>
          <a:prstGeom prst="rect">
            <a:avLst/>
          </a:prstGeom>
          <a:noFill/>
        </p:spPr>
        <p:txBody>
          <a:bodyPr wrap="square">
            <a:spAutoFit/>
          </a:bodyPr>
          <a:lstStyle/>
          <a:p>
            <a:pPr>
              <a:defRPr sz="1000">
                <a:solidFill>
                  <a:srgbClr val="333333"/>
                </a:solidFill>
                <a:latin typeface="Arial"/>
              </a:defRPr>
            </a:pPr>
            <a:r>
              <a:t>Per infrastructure tier</a:t>
            </a:r>
          </a:p>
        </p:txBody>
      </p:sp>
      <p:sp>
        <p:nvSpPr>
          <p:cNvPr id="114" name="TextBox 113"/>
          <p:cNvSpPr txBox="1"/>
          <p:nvPr/>
        </p:nvSpPr>
        <p:spPr>
          <a:xfrm>
            <a:off x="548640" y="6355080"/>
            <a:ext cx="10515600" cy="320040"/>
          </a:xfrm>
          <a:prstGeom prst="rect">
            <a:avLst/>
          </a:prstGeom>
          <a:noFill/>
        </p:spPr>
        <p:txBody>
          <a:bodyPr wrap="square">
            <a:spAutoFit/>
          </a:bodyPr>
          <a:lstStyle/>
          <a:p>
            <a:pPr>
              <a:defRPr sz="1100" b="1">
                <a:solidFill>
                  <a:srgbClr val="2E6EBF"/>
                </a:solidFill>
                <a:latin typeface="Arial"/>
              </a:defRPr>
            </a:pPr>
            <a:r>
              <a:t>CRM Sync is not a replacement for Salesforce or HubSpot — it is a modern orchestration layer purpose-built for e-commerce brands that need real-time sync, consent enforcement, and composable architecture without per-contact pricing.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2666</Words>
  <Application>Microsoft Macintosh PowerPoint</Application>
  <PresentationFormat>Widescreen</PresentationFormat>
  <Paragraphs>309</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Ysl Lee</cp:lastModifiedBy>
  <cp:revision>2</cp:revision>
  <dcterms:created xsi:type="dcterms:W3CDTF">2013-01-27T09:14:16Z</dcterms:created>
  <dcterms:modified xsi:type="dcterms:W3CDTF">2026-05-19T17:36:27Z</dcterms:modified>
  <cp:category/>
</cp:coreProperties>
</file>